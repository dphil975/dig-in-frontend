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Olive Phillips and I am the sole inventor of Dig In. Everything in this presentation was designed and built by me starting in June 2026. My main goals today: understand what IP protection is available, which systems have the strongest patent claims, and what steps I should take immediately — including whether to file a provisional patent application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 In has two sides that work together. The consumer app is free — users discover food, cook recipes, earn coins. While they play, the app passively collects anonymized behavioral data. That data powers market intelligence reports sold to grocery retailers. The fun app funds and generates the data product. That's the core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five distinct systems I want to discuss. I believe System 1 — the behavioral data monetization pipeline — is the strongest patent candidate because there is no prior art for using a gamified consumer food app to passively generate B2B retail intelligence. I'd like your guidance on which to prioritize and whether to pursue utility patents, trade secrets, 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most novel invention. A fun consumer food app that secretly generates B2B market data for grocery stores. The consumer thinks they're playing a food game and earning coins. The grocery store gets a custom report showing how they compare to competitors in that zip code. No one does this. Foursquare has check-ins but no food-specific B2B reports. Numerator collects retail data but through boring receipt scanning — no consumer engagement. I believe this is where the strongest patent claim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types something like 'I want something spicy and warm for dinner tonight.' My system doesn't just look up a recipe. It first decodes the craving into seven flavor layers. Then matches those layers to recipes. Then finds which nearby stores have the ingredients cheapest. All from one natural language sentence. That three-step pipeline — craving to flavor to store — is what I think is novel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like Foursquare check-ins but built specifically for food and grocery retail, where the coins you earn can only be spent in the app's pixel art creator. You go to a real grocery store, check in on your phone, earn coins, then come home and use those coins to buy a chef hat for your pixel food character. No one has applied this specific gamification loop in a food discovery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Ingredient substitution systems exist, so this is probably my weakest patent candidate. But the specific combination of ratio adjustments, preparation notes, AND use-case restrictions together in one structured rule base — that specific three-part structure — may have novelty. Also, the integration with pantry scanning and the craving pipeline is distinctive. I want to ask you whether trade secret protection might be more appropriate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food app has a pixel art creator. That's completely unique. And the specific mechanic — earning coins at real physical grocery stores and spending them on outfits for a pixel food character — has never been done. I also want to ask about a design patent for the visual look of the pixel food characters themselves. The Cooking Mama-inspired aesthetic is distinctive.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researched all of these. None of them do what I do. The closest are Foursquare for check-ins and Numerator for retail data. But Foursquare has no food-specific B2B intelligence. And Numerator has no consumer engagement. My invention is the specific combination of all five pieces as one integrated system. The novelty lives in the combination, not any single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a complete, timestamped development history. Every single change is logged with a date, time, and description in my private GitHub repository. I started the backend on June 3rd — the data pipeline idea came first. The frontend started June 11th. My most active day was June 12th with 29 commits — I built a global recipe database spanning 43 countries in one day. This history is all documented. I can provide the full git log for attorney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six most important questions for today. Question 2 is most urgent — I want to lock in my priority date as soon as possible. Question 4 is something I'm worried about: I used Claude to help write code, but ALL the ideas, architecture decisions, and product direction were mine. Please help me understand if the use of an AI coding tool affects my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201168" y="201168"/>
            <a:ext cx="118872" cy="118872"/>
          </a:xfrm>
          <a:prstGeom prst="rect">
            <a:avLst/>
          </a:prstGeom>
          <a:solidFill>
            <a:srgbClr val="7DAE5C">
              <a:alpha val="75000"/>
            </a:srgbClr>
          </a:solidFill>
          <a:ln/>
        </p:spPr>
      </p:sp>
      <p:sp>
        <p:nvSpPr>
          <p:cNvPr id="3" name="Shape 1"/>
          <p:cNvSpPr/>
          <p:nvPr/>
        </p:nvSpPr>
        <p:spPr>
          <a:xfrm>
            <a:off x="347472" y="201168"/>
            <a:ext cx="118872" cy="118872"/>
          </a:xfrm>
          <a:prstGeom prst="rect">
            <a:avLst/>
          </a:prstGeom>
          <a:solidFill>
            <a:srgbClr val="7DAE5C">
              <a:alpha val="75000"/>
            </a:srgbClr>
          </a:solidFill>
          <a:ln/>
        </p:spPr>
      </p:sp>
      <p:sp>
        <p:nvSpPr>
          <p:cNvPr id="4" name="Shape 2"/>
          <p:cNvSpPr/>
          <p:nvPr/>
        </p:nvSpPr>
        <p:spPr>
          <a:xfrm>
            <a:off x="493776" y="201168"/>
            <a:ext cx="118872" cy="118872"/>
          </a:xfrm>
          <a:prstGeom prst="rect">
            <a:avLst/>
          </a:prstGeom>
          <a:solidFill>
            <a:srgbClr val="7DAE5C">
              <a:alpha val="75000"/>
            </a:srgbClr>
          </a:solidFill>
          <a:ln/>
        </p:spPr>
      </p:sp>
      <p:sp>
        <p:nvSpPr>
          <p:cNvPr id="5" name="Shape 3"/>
          <p:cNvSpPr/>
          <p:nvPr/>
        </p:nvSpPr>
        <p:spPr>
          <a:xfrm>
            <a:off x="201168" y="347472"/>
            <a:ext cx="118872" cy="118872"/>
          </a:xfrm>
          <a:prstGeom prst="rect">
            <a:avLst/>
          </a:prstGeom>
          <a:solidFill>
            <a:srgbClr val="7DAE5C">
              <a:alpha val="75000"/>
            </a:srgbClr>
          </a:solidFill>
          <a:ln/>
        </p:spPr>
      </p:sp>
      <p:sp>
        <p:nvSpPr>
          <p:cNvPr id="6" name="Shape 4"/>
          <p:cNvSpPr/>
          <p:nvPr/>
        </p:nvSpPr>
        <p:spPr>
          <a:xfrm>
            <a:off x="493776" y="347472"/>
            <a:ext cx="118872" cy="118872"/>
          </a:xfrm>
          <a:prstGeom prst="rect">
            <a:avLst/>
          </a:prstGeom>
          <a:solidFill>
            <a:srgbClr val="7DAE5C">
              <a:alpha val="75000"/>
            </a:srgbClr>
          </a:solidFill>
          <a:ln/>
        </p:spPr>
      </p:sp>
      <p:sp>
        <p:nvSpPr>
          <p:cNvPr id="7" name="Shape 5"/>
          <p:cNvSpPr/>
          <p:nvPr/>
        </p:nvSpPr>
        <p:spPr>
          <a:xfrm>
            <a:off x="201168" y="493776"/>
            <a:ext cx="118872" cy="118872"/>
          </a:xfrm>
          <a:prstGeom prst="rect">
            <a:avLst/>
          </a:prstGeom>
          <a:solidFill>
            <a:srgbClr val="7DAE5C">
              <a:alpha val="75000"/>
            </a:srgbClr>
          </a:solidFill>
          <a:ln/>
        </p:spPr>
      </p:sp>
      <p:sp>
        <p:nvSpPr>
          <p:cNvPr id="8" name="Shape 6"/>
          <p:cNvSpPr/>
          <p:nvPr/>
        </p:nvSpPr>
        <p:spPr>
          <a:xfrm>
            <a:off x="347472" y="493776"/>
            <a:ext cx="118872" cy="118872"/>
          </a:xfrm>
          <a:prstGeom prst="rect">
            <a:avLst/>
          </a:prstGeom>
          <a:solidFill>
            <a:srgbClr val="7DAE5C">
              <a:alpha val="75000"/>
            </a:srgbClr>
          </a:solidFill>
          <a:ln/>
        </p:spPr>
      </p:sp>
      <p:sp>
        <p:nvSpPr>
          <p:cNvPr id="9" name="Shape 7"/>
          <p:cNvSpPr/>
          <p:nvPr/>
        </p:nvSpPr>
        <p:spPr>
          <a:xfrm>
            <a:off x="493776" y="493776"/>
            <a:ext cx="118872" cy="118872"/>
          </a:xfrm>
          <a:prstGeom prst="rect">
            <a:avLst/>
          </a:prstGeom>
          <a:solidFill>
            <a:srgbClr val="7DAE5C">
              <a:alpha val="75000"/>
            </a:srgbClr>
          </a:solidFill>
          <a:ln/>
        </p:spPr>
      </p:sp>
      <p:sp>
        <p:nvSpPr>
          <p:cNvPr id="10" name="Shape 8"/>
          <p:cNvSpPr/>
          <p:nvPr/>
        </p:nvSpPr>
        <p:spPr>
          <a:xfrm>
            <a:off x="8412480" y="4617720"/>
            <a:ext cx="118872" cy="118872"/>
          </a:xfrm>
          <a:prstGeom prst="rect">
            <a:avLst/>
          </a:prstGeom>
          <a:solidFill>
            <a:srgbClr val="7DAE5C">
              <a:alpha val="75000"/>
            </a:srgbClr>
          </a:solidFill>
          <a:ln/>
        </p:spPr>
      </p:sp>
      <p:sp>
        <p:nvSpPr>
          <p:cNvPr id="11" name="Shape 9"/>
          <p:cNvSpPr/>
          <p:nvPr/>
        </p:nvSpPr>
        <p:spPr>
          <a:xfrm>
            <a:off x="8558784" y="4617720"/>
            <a:ext cx="118872" cy="118872"/>
          </a:xfrm>
          <a:prstGeom prst="rect">
            <a:avLst/>
          </a:prstGeom>
          <a:solidFill>
            <a:srgbClr val="7DAE5C">
              <a:alpha val="75000"/>
            </a:srgbClr>
          </a:solidFill>
          <a:ln/>
        </p:spPr>
      </p:sp>
      <p:sp>
        <p:nvSpPr>
          <p:cNvPr id="12" name="Shape 10"/>
          <p:cNvSpPr/>
          <p:nvPr/>
        </p:nvSpPr>
        <p:spPr>
          <a:xfrm>
            <a:off x="8705088" y="4617720"/>
            <a:ext cx="118872" cy="118872"/>
          </a:xfrm>
          <a:prstGeom prst="rect">
            <a:avLst/>
          </a:prstGeom>
          <a:solidFill>
            <a:srgbClr val="7DAE5C">
              <a:alpha val="75000"/>
            </a:srgbClr>
          </a:solidFill>
          <a:ln/>
        </p:spPr>
      </p:sp>
      <p:sp>
        <p:nvSpPr>
          <p:cNvPr id="13" name="Shape 11"/>
          <p:cNvSpPr/>
          <p:nvPr/>
        </p:nvSpPr>
        <p:spPr>
          <a:xfrm>
            <a:off x="8412480" y="4764024"/>
            <a:ext cx="118872" cy="118872"/>
          </a:xfrm>
          <a:prstGeom prst="rect">
            <a:avLst/>
          </a:prstGeom>
          <a:solidFill>
            <a:srgbClr val="7DAE5C">
              <a:alpha val="75000"/>
            </a:srgbClr>
          </a:solidFill>
          <a:ln/>
        </p:spPr>
      </p:sp>
      <p:sp>
        <p:nvSpPr>
          <p:cNvPr id="14" name="Shape 12"/>
          <p:cNvSpPr/>
          <p:nvPr/>
        </p:nvSpPr>
        <p:spPr>
          <a:xfrm>
            <a:off x="8705088" y="4764024"/>
            <a:ext cx="118872" cy="118872"/>
          </a:xfrm>
          <a:prstGeom prst="rect">
            <a:avLst/>
          </a:prstGeom>
          <a:solidFill>
            <a:srgbClr val="7DAE5C">
              <a:alpha val="75000"/>
            </a:srgbClr>
          </a:solidFill>
          <a:ln/>
        </p:spPr>
      </p:sp>
      <p:sp>
        <p:nvSpPr>
          <p:cNvPr id="15" name="Shape 13"/>
          <p:cNvSpPr/>
          <p:nvPr/>
        </p:nvSpPr>
        <p:spPr>
          <a:xfrm>
            <a:off x="8412480" y="4910328"/>
            <a:ext cx="118872" cy="118872"/>
          </a:xfrm>
          <a:prstGeom prst="rect">
            <a:avLst/>
          </a:prstGeom>
          <a:solidFill>
            <a:srgbClr val="7DAE5C">
              <a:alpha val="75000"/>
            </a:srgbClr>
          </a:solidFill>
          <a:ln/>
        </p:spPr>
      </p:sp>
      <p:sp>
        <p:nvSpPr>
          <p:cNvPr id="16" name="Shape 14"/>
          <p:cNvSpPr/>
          <p:nvPr/>
        </p:nvSpPr>
        <p:spPr>
          <a:xfrm>
            <a:off x="8558784" y="4910328"/>
            <a:ext cx="118872" cy="118872"/>
          </a:xfrm>
          <a:prstGeom prst="rect">
            <a:avLst/>
          </a:prstGeom>
          <a:solidFill>
            <a:srgbClr val="7DAE5C">
              <a:alpha val="75000"/>
            </a:srgbClr>
          </a:solidFill>
          <a:ln/>
        </p:spPr>
      </p:sp>
      <p:sp>
        <p:nvSpPr>
          <p:cNvPr id="17" name="Shape 15"/>
          <p:cNvSpPr/>
          <p:nvPr/>
        </p:nvSpPr>
        <p:spPr>
          <a:xfrm>
            <a:off x="8705088" y="4910328"/>
            <a:ext cx="118872" cy="118872"/>
          </a:xfrm>
          <a:prstGeom prst="rect">
            <a:avLst/>
          </a:prstGeom>
          <a:solidFill>
            <a:srgbClr val="7DAE5C">
              <a:alpha val="75000"/>
            </a:srgbClr>
          </a:solidFill>
          <a:ln/>
        </p:spPr>
      </p:sp>
      <p:sp>
        <p:nvSpPr>
          <p:cNvPr id="18" name="Text 16"/>
          <p:cNvSpPr/>
          <p:nvPr/>
        </p:nvSpPr>
        <p:spPr>
          <a:xfrm>
            <a:off x="457200" y="960120"/>
            <a:ext cx="8229600" cy="137160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DIG IN</a:t>
            </a:r>
            <a:endParaRPr lang="en-US" sz="8000" dirty="0"/>
          </a:p>
        </p:txBody>
      </p:sp>
      <p:sp>
        <p:nvSpPr>
          <p:cNvPr id="19" name="Text 17"/>
          <p:cNvSpPr/>
          <p:nvPr/>
        </p:nvSpPr>
        <p:spPr>
          <a:xfrm>
            <a:off x="457200" y="2377440"/>
            <a:ext cx="8229600" cy="530352"/>
          </a:xfrm>
          <a:prstGeom prst="rect">
            <a:avLst/>
          </a:prstGeom>
          <a:noFill/>
          <a:ln/>
        </p:spPr>
        <p:txBody>
          <a:bodyPr wrap="square" lIns="0" tIns="0" rIns="0" bIns="0" rtlCol="0" anchor="ctr"/>
          <a:lstStyle/>
          <a:p>
            <a:pPr algn="ctr" indent="0" marL="0">
              <a:buNone/>
            </a:pPr>
            <a:r>
              <a:rPr lang="en-US" sz="2800" dirty="0">
                <a:solidFill>
                  <a:srgbClr val="7DAE5C"/>
                </a:solidFill>
                <a:latin typeface="Calibri" pitchFamily="34" charset="0"/>
                <a:ea typeface="Calibri" pitchFamily="34" charset="-122"/>
                <a:cs typeface="Calibri" pitchFamily="34" charset="-120"/>
              </a:rPr>
              <a:t>Patent Attorney Briefing</a:t>
            </a:r>
            <a:endParaRPr lang="en-US" sz="2800" dirty="0"/>
          </a:p>
        </p:txBody>
      </p:sp>
      <p:sp>
        <p:nvSpPr>
          <p:cNvPr id="20" name="Text 18"/>
          <p:cNvSpPr/>
          <p:nvPr/>
        </p:nvSpPr>
        <p:spPr>
          <a:xfrm>
            <a:off x="457200" y="2926080"/>
            <a:ext cx="8229600" cy="365760"/>
          </a:xfrm>
          <a:prstGeom prst="rect">
            <a:avLst/>
          </a:prstGeom>
          <a:noFill/>
          <a:ln/>
        </p:spPr>
        <p:txBody>
          <a:bodyPr wrap="square" lIns="0" tIns="0" rIns="0" bIns="0" rtlCol="0" anchor="ctr"/>
          <a:lstStyle/>
          <a:p>
            <a:pPr algn="ctr" indent="0" marL="0">
              <a:buNone/>
            </a:pPr>
            <a:r>
              <a:rPr lang="en-US" sz="1600" i="1" dirty="0">
                <a:solidFill>
                  <a:srgbClr val="8EB4E3"/>
                </a:solidFill>
                <a:latin typeface="Calibri" pitchFamily="34" charset="0"/>
                <a:ea typeface="Calibri" pitchFamily="34" charset="-122"/>
                <a:cs typeface="Calibri" pitchFamily="34" charset="-120"/>
              </a:rPr>
              <a:t>A Dual-Sided Food Technology Platform</a:t>
            </a:r>
            <a:endParaRPr lang="en-US" sz="1600" dirty="0"/>
          </a:p>
        </p:txBody>
      </p:sp>
      <p:sp>
        <p:nvSpPr>
          <p:cNvPr id="21" name="Text 19"/>
          <p:cNvSpPr/>
          <p:nvPr/>
        </p:nvSpPr>
        <p:spPr>
          <a:xfrm>
            <a:off x="457200" y="3703320"/>
            <a:ext cx="8229600" cy="320040"/>
          </a:xfrm>
          <a:prstGeom prst="rect">
            <a:avLst/>
          </a:prstGeom>
          <a:noFill/>
          <a:ln/>
        </p:spPr>
        <p:txBody>
          <a:bodyPr wrap="square" lIns="0" tIns="0" rIns="0" bIns="0" rtlCol="0" anchor="ctr"/>
          <a:lstStyle/>
          <a:p>
            <a:pPr algn="ctr" indent="0" marL="0">
              <a:buNone/>
            </a:pPr>
            <a:r>
              <a:rPr lang="en-US" sz="1300" dirty="0">
                <a:solidFill>
                  <a:srgbClr val="8EB4E3"/>
                </a:solidFill>
                <a:latin typeface="Calibri" pitchFamily="34" charset="0"/>
                <a:ea typeface="Calibri" pitchFamily="34" charset="-122"/>
                <a:cs typeface="Calibri" pitchFamily="34" charset="-120"/>
              </a:rPr>
              <a:t>Inventor: Olive Phillips  ·  daniellephllps5@gmail.com  ·  July 2, 2026</a:t>
            </a:r>
            <a:endParaRPr lang="en-US" sz="1300" dirty="0"/>
          </a:p>
        </p:txBody>
      </p:sp>
      <p:sp>
        <p:nvSpPr>
          <p:cNvPr id="22" name="Text 20"/>
          <p:cNvSpPr/>
          <p:nvPr/>
        </p:nvSpPr>
        <p:spPr>
          <a:xfrm>
            <a:off x="457200" y="4663440"/>
            <a:ext cx="8229600" cy="256032"/>
          </a:xfrm>
          <a:prstGeom prst="rect">
            <a:avLst/>
          </a:prstGeom>
          <a:noFill/>
          <a:ln/>
        </p:spPr>
        <p:txBody>
          <a:bodyPr wrap="square" lIns="0" tIns="0" rIns="0" bIns="0" rtlCol="0" anchor="ctr"/>
          <a:lstStyle/>
          <a:p>
            <a:pPr algn="ctr" indent="0" marL="0">
              <a:buNone/>
            </a:pPr>
            <a:r>
              <a:rPr lang="en-US" sz="1100" b="1" spc="200" kern="0" dirty="0">
                <a:solidFill>
                  <a:srgbClr val="D4AF37"/>
                </a:solidFill>
                <a:latin typeface="Calibri" pitchFamily="34" charset="0"/>
                <a:ea typeface="Calibri" pitchFamily="34" charset="-122"/>
                <a:cs typeface="Calibri" pitchFamily="34" charset="-120"/>
              </a:rPr>
              <a:t>CONFIDENTIAL  —  ATTORNEY-CLIENT PRIVILEGE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indent="0" marL="0">
              <a:buNone/>
            </a:pPr>
            <a:r>
              <a:rPr lang="en-US" sz="3600" b="1" dirty="0">
                <a:solidFill>
                  <a:srgbClr val="1B2A4A"/>
                </a:solidFill>
                <a:latin typeface="Cambria" pitchFamily="34" charset="0"/>
                <a:ea typeface="Cambria" pitchFamily="34" charset="-122"/>
                <a:cs typeface="Cambria" pitchFamily="34" charset="-120"/>
              </a:rPr>
              <a:t>What Is Dig In?</a:t>
            </a:r>
            <a:endParaRPr lang="en-US" sz="3600" dirty="0"/>
          </a:p>
        </p:txBody>
      </p:sp>
      <p:sp>
        <p:nvSpPr>
          <p:cNvPr id="3" name="Shape 1"/>
          <p:cNvSpPr/>
          <p:nvPr/>
        </p:nvSpPr>
        <p:spPr>
          <a:xfrm>
            <a:off x="320040" y="960120"/>
            <a:ext cx="3931920" cy="3246120"/>
          </a:xfrm>
          <a:prstGeom prst="roundRect">
            <a:avLst>
              <a:gd name="adj" fmla="val 2817"/>
            </a:avLst>
          </a:prstGeom>
          <a:solidFill>
            <a:srgbClr val="F0F4F8"/>
          </a:solidFill>
          <a:ln/>
          <a:effectLst>
            <a:outerShdw sx="100000" sy="100000" kx="0" ky="0" algn="bl" rotWithShape="0" blurRad="101600" dist="38100" dir="2700000">
              <a:srgbClr val="000000">
                <a:alpha val="12000"/>
              </a:srgbClr>
            </a:outerShdw>
          </a:effectLst>
        </p:spPr>
      </p:sp>
      <p:sp>
        <p:nvSpPr>
          <p:cNvPr id="4" name="Text 2"/>
          <p:cNvSpPr/>
          <p:nvPr/>
        </p:nvSpPr>
        <p:spPr>
          <a:xfrm>
            <a:off x="411480" y="1069848"/>
            <a:ext cx="3749040" cy="274320"/>
          </a:xfrm>
          <a:prstGeom prst="rect">
            <a:avLst/>
          </a:prstGeom>
          <a:noFill/>
          <a:ln/>
        </p:spPr>
        <p:txBody>
          <a:bodyPr wrap="square" lIns="0" tIns="0" rIns="0" bIns="0" rtlCol="0" anchor="ctr"/>
          <a:lstStyle/>
          <a:p>
            <a:pPr algn="ctr" indent="0" marL="0">
              <a:buNone/>
            </a:pPr>
            <a:r>
              <a:rPr lang="en-US" sz="1050" b="1" spc="200" kern="0" dirty="0">
                <a:solidFill>
                  <a:srgbClr val="7DAE5C"/>
                </a:solidFill>
                <a:latin typeface="Calibri" pitchFamily="34" charset="0"/>
                <a:ea typeface="Calibri" pitchFamily="34" charset="-122"/>
                <a:cs typeface="Calibri" pitchFamily="34" charset="-120"/>
              </a:rPr>
              <a:t>CONSUMER APP</a:t>
            </a:r>
            <a:endParaRPr lang="en-US" sz="1050" dirty="0"/>
          </a:p>
        </p:txBody>
      </p:sp>
      <p:sp>
        <p:nvSpPr>
          <p:cNvPr id="5" name="Text 3"/>
          <p:cNvSpPr/>
          <p:nvPr/>
        </p:nvSpPr>
        <p:spPr>
          <a:xfrm>
            <a:off x="411480" y="1353312"/>
            <a:ext cx="3749040" cy="384048"/>
          </a:xfrm>
          <a:prstGeom prst="rect">
            <a:avLst/>
          </a:prstGeom>
          <a:noFill/>
          <a:ln/>
        </p:spPr>
        <p:txBody>
          <a:bodyPr wrap="square" lIns="0" tIns="0" rIns="0" bIns="0" rtlCol="0" anchor="ctr"/>
          <a:lstStyle/>
          <a:p>
            <a:pPr algn="ctr" indent="0" marL="0">
              <a:buNone/>
            </a:pPr>
            <a:r>
              <a:rPr lang="en-US" sz="1900" b="1" dirty="0">
                <a:solidFill>
                  <a:srgbClr val="1B2A4A"/>
                </a:solidFill>
                <a:latin typeface="Cambria" pitchFamily="34" charset="0"/>
                <a:ea typeface="Cambria" pitchFamily="34" charset="-122"/>
                <a:cs typeface="Cambria" pitchFamily="34" charset="-120"/>
              </a:rPr>
              <a:t>Gamified Food Discovery</a:t>
            </a:r>
            <a:endParaRPr lang="en-US" sz="1900" dirty="0"/>
          </a:p>
        </p:txBody>
      </p:sp>
      <p:sp>
        <p:nvSpPr>
          <p:cNvPr id="6" name="Text 4"/>
          <p:cNvSpPr/>
          <p:nvPr/>
        </p:nvSpPr>
        <p:spPr>
          <a:xfrm>
            <a:off x="457200" y="1792224"/>
            <a:ext cx="3657600" cy="2194560"/>
          </a:xfrm>
          <a:prstGeom prst="rect">
            <a:avLst/>
          </a:prstGeom>
          <a:noFill/>
          <a:ln/>
        </p:spPr>
        <p:txBody>
          <a:bodyPr wrap="square" rtlCol="0" anchor="ctr"/>
          <a:lstStyle/>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Interactive pixel-art map of grocery stores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26,000+ recipes across 70+ countries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Coin rewards for real-world store visits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Pixel art food avatar creator</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Ingredient substitution engine (300+ rules)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Natural language craving → recipe match</a:t>
            </a:r>
            <a:endParaRPr lang="en-US" sz="1300" dirty="0"/>
          </a:p>
        </p:txBody>
      </p:sp>
      <p:sp>
        <p:nvSpPr>
          <p:cNvPr id="7" name="Shape 5"/>
          <p:cNvSpPr/>
          <p:nvPr/>
        </p:nvSpPr>
        <p:spPr>
          <a:xfrm>
            <a:off x="4892040" y="960120"/>
            <a:ext cx="3931920" cy="3246120"/>
          </a:xfrm>
          <a:prstGeom prst="roundRect">
            <a:avLst>
              <a:gd name="adj" fmla="val 2817"/>
            </a:avLst>
          </a:prstGeom>
          <a:solidFill>
            <a:srgbClr val="EEF6E7"/>
          </a:solidFill>
          <a:ln/>
          <a:effectLst>
            <a:outerShdw sx="100000" sy="100000" kx="0" ky="0" algn="bl" rotWithShape="0" blurRad="101600" dist="38100" dir="2700000">
              <a:srgbClr val="000000">
                <a:alpha val="12000"/>
              </a:srgbClr>
            </a:outerShdw>
          </a:effectLst>
        </p:spPr>
      </p:sp>
      <p:sp>
        <p:nvSpPr>
          <p:cNvPr id="8" name="Text 6"/>
          <p:cNvSpPr/>
          <p:nvPr/>
        </p:nvSpPr>
        <p:spPr>
          <a:xfrm>
            <a:off x="4983480" y="1069848"/>
            <a:ext cx="3749040" cy="274320"/>
          </a:xfrm>
          <a:prstGeom prst="rect">
            <a:avLst/>
          </a:prstGeom>
          <a:noFill/>
          <a:ln/>
        </p:spPr>
        <p:txBody>
          <a:bodyPr wrap="square" lIns="0" tIns="0" rIns="0" bIns="0" rtlCol="0" anchor="ctr"/>
          <a:lstStyle/>
          <a:p>
            <a:pPr algn="ctr" indent="0" marL="0">
              <a:buNone/>
            </a:pPr>
            <a:r>
              <a:rPr lang="en-US" sz="1050" b="1" spc="200" kern="0" dirty="0">
                <a:solidFill>
                  <a:srgbClr val="7DAE5C"/>
                </a:solidFill>
                <a:latin typeface="Calibri" pitchFamily="34" charset="0"/>
                <a:ea typeface="Calibri" pitchFamily="34" charset="-122"/>
                <a:cs typeface="Calibri" pitchFamily="34" charset="-120"/>
              </a:rPr>
              <a:t>B2B DATA INTELLIGENCE</a:t>
            </a:r>
            <a:endParaRPr lang="en-US" sz="1050" dirty="0"/>
          </a:p>
        </p:txBody>
      </p:sp>
      <p:sp>
        <p:nvSpPr>
          <p:cNvPr id="9" name="Text 7"/>
          <p:cNvSpPr/>
          <p:nvPr/>
        </p:nvSpPr>
        <p:spPr>
          <a:xfrm>
            <a:off x="4983480" y="1353312"/>
            <a:ext cx="3749040" cy="384048"/>
          </a:xfrm>
          <a:prstGeom prst="rect">
            <a:avLst/>
          </a:prstGeom>
          <a:noFill/>
          <a:ln/>
        </p:spPr>
        <p:txBody>
          <a:bodyPr wrap="square" lIns="0" tIns="0" rIns="0" bIns="0" rtlCol="0" anchor="ctr"/>
          <a:lstStyle/>
          <a:p>
            <a:pPr algn="ctr" indent="0" marL="0">
              <a:buNone/>
            </a:pPr>
            <a:r>
              <a:rPr lang="en-US" sz="1900" b="1" dirty="0">
                <a:solidFill>
                  <a:srgbClr val="1B2A4A"/>
                </a:solidFill>
                <a:latin typeface="Cambria" pitchFamily="34" charset="0"/>
                <a:ea typeface="Cambria" pitchFamily="34" charset="-122"/>
                <a:cs typeface="Cambria" pitchFamily="34" charset="-120"/>
              </a:rPr>
              <a:t>Retail Market Intelligence</a:t>
            </a:r>
            <a:endParaRPr lang="en-US" sz="1900" dirty="0"/>
          </a:p>
        </p:txBody>
      </p:sp>
      <p:sp>
        <p:nvSpPr>
          <p:cNvPr id="10" name="Text 8"/>
          <p:cNvSpPr/>
          <p:nvPr/>
        </p:nvSpPr>
        <p:spPr>
          <a:xfrm>
            <a:off x="5029200" y="1792224"/>
            <a:ext cx="3657600" cy="2194560"/>
          </a:xfrm>
          <a:prstGeom prst="rect">
            <a:avLst/>
          </a:prstGeom>
          <a:noFill/>
          <a:ln/>
        </p:spPr>
        <p:txBody>
          <a:bodyPr wrap="square" rtlCol="0" anchor="ctr"/>
          <a:lstStyle/>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Every app interaction → anonymized data point</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SHA-256 hashed user IDs — zero PII stored</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Zip-code-level behavioral trend reports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Store market share vs. competitors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Peak shopping hours by neighborhood</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Custom reports sold to grocery retailers</a:t>
            </a:r>
            <a:endParaRPr lang="en-US" sz="1300" dirty="0"/>
          </a:p>
        </p:txBody>
      </p:sp>
      <p:sp>
        <p:nvSpPr>
          <p:cNvPr id="11" name="Shape 9"/>
          <p:cNvSpPr/>
          <p:nvPr/>
        </p:nvSpPr>
        <p:spPr>
          <a:xfrm>
            <a:off x="4270248" y="2514600"/>
            <a:ext cx="603504" cy="0"/>
          </a:xfrm>
          <a:prstGeom prst="line">
            <a:avLst/>
          </a:prstGeom>
          <a:noFill/>
          <a:ln w="25400">
            <a:solidFill>
              <a:srgbClr val="7DAE5C"/>
            </a:solidFill>
            <a:prstDash val="solid"/>
          </a:ln>
        </p:spPr>
      </p:sp>
      <p:sp>
        <p:nvSpPr>
          <p:cNvPr id="12" name="Text 10"/>
          <p:cNvSpPr/>
          <p:nvPr/>
        </p:nvSpPr>
        <p:spPr>
          <a:xfrm>
            <a:off x="365760" y="4352544"/>
            <a:ext cx="8412480" cy="320040"/>
          </a:xfrm>
          <a:prstGeom prst="rect">
            <a:avLst/>
          </a:prstGeom>
          <a:noFill/>
          <a:ln/>
        </p:spPr>
        <p:txBody>
          <a:bodyPr wrap="square" lIns="0" tIns="0" rIns="0" bIns="0" rtlCol="0" anchor="ctr"/>
          <a:lstStyle/>
          <a:p>
            <a:pPr algn="ctr" indent="0" marL="0">
              <a:buNone/>
            </a:pPr>
            <a:r>
              <a:rPr lang="en-US" sz="1300" i="1" dirty="0">
                <a:solidFill>
                  <a:srgbClr val="2C4A7C"/>
                </a:solidFill>
                <a:latin typeface="Calibri" pitchFamily="34" charset="0"/>
                <a:ea typeface="Calibri" pitchFamily="34" charset="-122"/>
                <a:cs typeface="Calibri" pitchFamily="34" charset="-120"/>
              </a:rPr>
              <a:t>⟳  The consumer product funds and generates the B2B data product — a self-reinforcing flywheel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201168"/>
            <a:ext cx="8412480" cy="5486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Five Core Patentable Systems</a:t>
            </a:r>
            <a:endParaRPr lang="en-US" sz="3600" dirty="0"/>
          </a:p>
        </p:txBody>
      </p:sp>
      <p:sp>
        <p:nvSpPr>
          <p:cNvPr id="3" name="Text 1"/>
          <p:cNvSpPr/>
          <p:nvPr/>
        </p:nvSpPr>
        <p:spPr>
          <a:xfrm>
            <a:off x="365760" y="749808"/>
            <a:ext cx="8412480" cy="274320"/>
          </a:xfrm>
          <a:prstGeom prst="rect">
            <a:avLst/>
          </a:prstGeom>
          <a:noFill/>
          <a:ln/>
        </p:spPr>
        <p:txBody>
          <a:bodyPr wrap="square" lIns="0" tIns="0" rIns="0" bIns="0" rtlCol="0" anchor="ctr"/>
          <a:lstStyle/>
          <a:p>
            <a:pPr indent="0" marL="0">
              <a:buNone/>
            </a:pPr>
            <a:r>
              <a:rPr lang="en-US" sz="1350" i="1" dirty="0">
                <a:solidFill>
                  <a:srgbClr val="8EB4E3"/>
                </a:solidFill>
                <a:latin typeface="Calibri" pitchFamily="34" charset="0"/>
                <a:ea typeface="Calibri" pitchFamily="34" charset="-122"/>
                <a:cs typeface="Calibri" pitchFamily="34" charset="-120"/>
              </a:rPr>
              <a:t>Each system represents a distinct inventive concept and potential IP claim</a:t>
            </a:r>
            <a:endParaRPr lang="en-US" sz="1350" dirty="0"/>
          </a:p>
        </p:txBody>
      </p:sp>
      <p:sp>
        <p:nvSpPr>
          <p:cNvPr id="4" name="Shape 2"/>
          <p:cNvSpPr/>
          <p:nvPr/>
        </p:nvSpPr>
        <p:spPr>
          <a:xfrm>
            <a:off x="2743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931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3657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Behavioral Data Collection</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&amp; Monetization Pipeline</a:t>
            </a:r>
            <a:endParaRPr lang="en-US" sz="1250" dirty="0"/>
          </a:p>
        </p:txBody>
      </p:sp>
      <p:sp>
        <p:nvSpPr>
          <p:cNvPr id="7" name="Text 5"/>
          <p:cNvSpPr/>
          <p:nvPr/>
        </p:nvSpPr>
        <p:spPr>
          <a:xfrm>
            <a:off x="365760" y="235915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Consumer interactions → B2B retail intelligence reports</a:t>
            </a:r>
            <a:endParaRPr lang="en-US" sz="950" dirty="0"/>
          </a:p>
        </p:txBody>
      </p:sp>
      <p:sp>
        <p:nvSpPr>
          <p:cNvPr id="8" name="Shape 6"/>
          <p:cNvSpPr/>
          <p:nvPr/>
        </p:nvSpPr>
        <p:spPr>
          <a:xfrm>
            <a:off x="32461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3649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02</a:t>
            </a:r>
            <a:endParaRPr lang="en-US" sz="2200" dirty="0"/>
          </a:p>
        </p:txBody>
      </p:sp>
      <p:sp>
        <p:nvSpPr>
          <p:cNvPr id="10" name="Text 8"/>
          <p:cNvSpPr/>
          <p:nvPr/>
        </p:nvSpPr>
        <p:spPr>
          <a:xfrm>
            <a:off x="33375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Craving → Ingredients</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 Store Pipeline</a:t>
            </a:r>
            <a:endParaRPr lang="en-US" sz="1250" dirty="0"/>
          </a:p>
        </p:txBody>
      </p:sp>
      <p:sp>
        <p:nvSpPr>
          <p:cNvPr id="11" name="Text 9"/>
          <p:cNvSpPr/>
          <p:nvPr/>
        </p:nvSpPr>
        <p:spPr>
          <a:xfrm>
            <a:off x="3337560" y="235915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Natural language → flavor decode → ranked store list</a:t>
            </a:r>
            <a:endParaRPr lang="en-US" sz="950" dirty="0"/>
          </a:p>
        </p:txBody>
      </p:sp>
      <p:sp>
        <p:nvSpPr>
          <p:cNvPr id="12" name="Shape 10"/>
          <p:cNvSpPr/>
          <p:nvPr/>
        </p:nvSpPr>
        <p:spPr>
          <a:xfrm>
            <a:off x="62179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63367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03</a:t>
            </a:r>
            <a:endParaRPr lang="en-US" sz="2200" dirty="0"/>
          </a:p>
        </p:txBody>
      </p:sp>
      <p:sp>
        <p:nvSpPr>
          <p:cNvPr id="14" name="Text 12"/>
          <p:cNvSpPr/>
          <p:nvPr/>
        </p:nvSpPr>
        <p:spPr>
          <a:xfrm>
            <a:off x="63093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Gamification Loop Tied</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to Real-World Retail</a:t>
            </a:r>
            <a:endParaRPr lang="en-US" sz="1250" dirty="0"/>
          </a:p>
        </p:txBody>
      </p:sp>
      <p:sp>
        <p:nvSpPr>
          <p:cNvPr id="15" name="Text 13"/>
          <p:cNvSpPr/>
          <p:nvPr/>
        </p:nvSpPr>
        <p:spPr>
          <a:xfrm>
            <a:off x="6309360" y="235915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Coins earned at physical stores, spent on digital items</a:t>
            </a:r>
            <a:endParaRPr lang="en-US" sz="950" dirty="0"/>
          </a:p>
        </p:txBody>
      </p:sp>
      <p:sp>
        <p:nvSpPr>
          <p:cNvPr id="16" name="Shape 14"/>
          <p:cNvSpPr/>
          <p:nvPr/>
        </p:nvSpPr>
        <p:spPr>
          <a:xfrm>
            <a:off x="1764792" y="290779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1883664" y="299923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04</a:t>
            </a:r>
            <a:endParaRPr lang="en-US" sz="2200" dirty="0"/>
          </a:p>
        </p:txBody>
      </p:sp>
      <p:sp>
        <p:nvSpPr>
          <p:cNvPr id="18" name="Text 16"/>
          <p:cNvSpPr/>
          <p:nvPr/>
        </p:nvSpPr>
        <p:spPr>
          <a:xfrm>
            <a:off x="1856232" y="340156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Ingredient</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Substitution Engine</a:t>
            </a:r>
            <a:endParaRPr lang="en-US" sz="1250" dirty="0"/>
          </a:p>
        </p:txBody>
      </p:sp>
      <p:sp>
        <p:nvSpPr>
          <p:cNvPr id="19" name="Text 17"/>
          <p:cNvSpPr/>
          <p:nvPr/>
        </p:nvSpPr>
        <p:spPr>
          <a:xfrm>
            <a:off x="1856232" y="409651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300+ rules with ratio adjustments + prep notes</a:t>
            </a:r>
            <a:endParaRPr lang="en-US" sz="950" dirty="0"/>
          </a:p>
        </p:txBody>
      </p:sp>
      <p:sp>
        <p:nvSpPr>
          <p:cNvPr id="20" name="Shape 18"/>
          <p:cNvSpPr/>
          <p:nvPr/>
        </p:nvSpPr>
        <p:spPr>
          <a:xfrm>
            <a:off x="4736592" y="290779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855464" y="299923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05</a:t>
            </a:r>
            <a:endParaRPr lang="en-US" sz="2200" dirty="0"/>
          </a:p>
        </p:txBody>
      </p:sp>
      <p:sp>
        <p:nvSpPr>
          <p:cNvPr id="22" name="Text 20"/>
          <p:cNvSpPr/>
          <p:nvPr/>
        </p:nvSpPr>
        <p:spPr>
          <a:xfrm>
            <a:off x="4828032" y="340156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Pixel Art Food Avatar</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 Economy Integration</a:t>
            </a:r>
            <a:endParaRPr lang="en-US" sz="1250" dirty="0"/>
          </a:p>
        </p:txBody>
      </p:sp>
      <p:sp>
        <p:nvSpPr>
          <p:cNvPr id="23" name="Text 21"/>
          <p:cNvSpPr/>
          <p:nvPr/>
        </p:nvSpPr>
        <p:spPr>
          <a:xfrm>
            <a:off x="4828032" y="409651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Check-in coins fund the avatar cosmetic shop</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01  ·  Behavioral Data Collection &amp; Monetization Pipeline</a:t>
            </a:r>
            <a:endParaRPr lang="en-US" sz="1900" dirty="0"/>
          </a:p>
        </p:txBody>
      </p:sp>
      <p:sp>
        <p:nvSpPr>
          <p:cNvPr id="4" name="Text 2"/>
          <p:cNvSpPr/>
          <p:nvPr/>
        </p:nvSpPr>
        <p:spPr>
          <a:xfrm>
            <a:off x="365760" y="932688"/>
            <a:ext cx="493776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What It Does</a:t>
            </a:r>
            <a:endParaRPr lang="en-US" sz="1450" dirty="0"/>
          </a:p>
        </p:txBody>
      </p:sp>
      <p:sp>
        <p:nvSpPr>
          <p:cNvPr id="5" name="Text 3"/>
          <p:cNvSpPr/>
          <p:nvPr/>
        </p:nvSpPr>
        <p:spPr>
          <a:xfrm>
            <a:off x="365760" y="1261872"/>
            <a:ext cx="4800600" cy="2423160"/>
          </a:xfrm>
          <a:prstGeom prst="rect">
            <a:avLst/>
          </a:prstGeom>
          <a:noFill/>
          <a:ln/>
        </p:spPr>
        <p:txBody>
          <a:bodyPr wrap="square" rtlCol="0" anchor="ctr"/>
          <a:lstStyle/>
          <a:p>
            <a:pPr marL="342900" indent="-342900">
              <a:spcAft>
                <a:spcPts val="600"/>
              </a:spcAft>
              <a:buSzPct val="100000"/>
              <a:buChar char="•"/>
            </a:pPr>
            <a:r>
              <a:rPr lang="en-US" sz="1300" dirty="0">
                <a:solidFill>
                  <a:srgbClr val="2D3436"/>
                </a:solidFill>
                <a:latin typeface="Calibri" pitchFamily="34" charset="0"/>
                <a:ea typeface="Calibri" pitchFamily="34" charset="-122"/>
                <a:cs typeface="Calibri" pitchFamily="34" charset="-120"/>
              </a:rPr>
              <a:t>Consumer interactions (check-ins, recipe views, ingredient searches) are captured as behavioral events</a:t>
            </a:r>
            <a:endParaRPr lang="en-US" sz="1300" dirty="0"/>
          </a:p>
          <a:p>
            <a:pPr marL="342900" indent="-342900">
              <a:spcAft>
                <a:spcPts val="600"/>
              </a:spcAft>
              <a:buSzPct val="100000"/>
              <a:buChar char="•"/>
            </a:pPr>
            <a:r>
              <a:rPr lang="en-US" sz="1300" dirty="0">
                <a:solidFill>
                  <a:srgbClr val="2D3436"/>
                </a:solidFill>
                <a:latin typeface="Calibri" pitchFamily="34" charset="0"/>
                <a:ea typeface="Calibri" pitchFamily="34" charset="-122"/>
                <a:cs typeface="Calibri" pitchFamily="34" charset="-120"/>
              </a:rPr>
              <a:t>User IDs are SHA-256 hashed at collection — no PII is ever stored</a:t>
            </a:r>
            <a:endParaRPr lang="en-US" sz="1300" dirty="0"/>
          </a:p>
          <a:p>
            <a:pPr marL="342900" indent="-342900">
              <a:spcAft>
                <a:spcPts val="600"/>
              </a:spcAft>
              <a:buSzPct val="100000"/>
              <a:buChar char="•"/>
            </a:pPr>
            <a:r>
              <a:rPr lang="en-US" sz="1300" dirty="0">
                <a:solidFill>
                  <a:srgbClr val="2D3436"/>
                </a:solidFill>
                <a:latin typeface="Calibri" pitchFamily="34" charset="0"/>
                <a:ea typeface="Calibri" pitchFamily="34" charset="-122"/>
                <a:cs typeface="Calibri" pitchFamily="34" charset="-120"/>
              </a:rPr>
              <a:t>Data aggregates into zip-code-level insights: trending ingredients, peak shopping hours, store market share</a:t>
            </a:r>
            <a:endParaRPr lang="en-US" sz="1300" dirty="0"/>
          </a:p>
          <a:p>
            <a:pPr marL="342900" indent="-342900">
              <a:spcAft>
                <a:spcPts val="600"/>
              </a:spcAft>
              <a:buSzPct val="100000"/>
              <a:buChar char="•"/>
            </a:pPr>
            <a:r>
              <a:rPr lang="en-US" sz="1300" dirty="0">
                <a:solidFill>
                  <a:srgbClr val="2D3436"/>
                </a:solidFill>
                <a:latin typeface="Calibri" pitchFamily="34" charset="0"/>
                <a:ea typeface="Calibri" pitchFamily="34" charset="-122"/>
                <a:cs typeface="Calibri" pitchFamily="34" charset="-120"/>
              </a:rPr>
              <a:t>DataMonetization Python module generates custom market intelligence reports sold to individual grocery retailers and CPG brands</a:t>
            </a:r>
            <a:endParaRPr lang="en-US" sz="1300" dirty="0"/>
          </a:p>
        </p:txBody>
      </p:sp>
      <p:sp>
        <p:nvSpPr>
          <p:cNvPr id="6" name="Text 4"/>
          <p:cNvSpPr/>
          <p:nvPr/>
        </p:nvSpPr>
        <p:spPr>
          <a:xfrm>
            <a:off x="365760" y="3730752"/>
            <a:ext cx="4800600" cy="256032"/>
          </a:xfrm>
          <a:prstGeom prst="rect">
            <a:avLst/>
          </a:prstGeom>
          <a:noFill/>
          <a:ln/>
        </p:spPr>
        <p:txBody>
          <a:bodyPr wrap="square" lIns="0" tIns="0" rIns="0" bIns="0" rtlCol="0" anchor="ctr"/>
          <a:lstStyle/>
          <a:p>
            <a:pPr indent="0" marL="0">
              <a:buNone/>
            </a:pPr>
            <a:r>
              <a:rPr lang="en-US" sz="1150" b="1" dirty="0">
                <a:solidFill>
                  <a:srgbClr val="637074"/>
                </a:solidFill>
                <a:latin typeface="Cambria" pitchFamily="34" charset="0"/>
                <a:ea typeface="Cambria" pitchFamily="34" charset="-122"/>
                <a:cs typeface="Cambria" pitchFamily="34" charset="-120"/>
              </a:rPr>
              <a:t>Key Technical Files</a:t>
            </a:r>
            <a:endParaRPr lang="en-US" sz="1150" dirty="0"/>
          </a:p>
        </p:txBody>
      </p:sp>
      <p:sp>
        <p:nvSpPr>
          <p:cNvPr id="7" name="Text 5"/>
          <p:cNvSpPr/>
          <p:nvPr/>
        </p:nvSpPr>
        <p:spPr>
          <a:xfrm>
            <a:off x="365760" y="4005072"/>
            <a:ext cx="4800600" cy="502920"/>
          </a:xfrm>
          <a:prstGeom prst="rect">
            <a:avLst/>
          </a:prstGeom>
          <a:noFill/>
          <a:ln/>
        </p:spPr>
        <p:txBody>
          <a:bodyPr wrap="square" lIns="0" tIns="0" rIns="0" bIns="0" rtlCol="0" anchor="ctr"/>
          <a:lstStyle/>
          <a:p>
            <a:pPr indent="0" marL="0">
              <a:buNone/>
            </a:pPr>
            <a:r>
              <a:rPr lang="en-US" sz="1050" i="1" dirty="0">
                <a:solidFill>
                  <a:srgbClr val="637074"/>
                </a:solidFill>
                <a:latin typeface="Calibri" pitchFamily="34" charset="0"/>
                <a:ea typeface="Calibri" pitchFamily="34" charset="-122"/>
                <a:cs typeface="Calibri" pitchFamily="34" charset="-120"/>
              </a:rPr>
              <a:t>data_monetization.py  ·  collect_anonymous_data()  ·  get_trending_insights()  ·  generate_report_for_store()  ·  measure_price_sensitivity()</a:t>
            </a:r>
            <a:endParaRPr lang="en-US" sz="1050" dirty="0"/>
          </a:p>
        </p:txBody>
      </p:sp>
      <p:sp>
        <p:nvSpPr>
          <p:cNvPr id="8" name="Shape 6"/>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10" name="Text 8"/>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Method and system for generating retail behavioral intelligence from gamified consumer food application interactions, wherein user engagement events are anonymized at the point of collection and aggregated into zip-code-level market reports sold to retail clients.</a:t>
            </a:r>
            <a:endParaRPr lang="en-US" sz="1250" dirty="0"/>
          </a:p>
        </p:txBody>
      </p:sp>
      <p:sp>
        <p:nvSpPr>
          <p:cNvPr id="11" name="Shape 9"/>
          <p:cNvSpPr/>
          <p:nvPr/>
        </p:nvSpPr>
        <p:spPr>
          <a:xfrm>
            <a:off x="5440680" y="3246120"/>
            <a:ext cx="3246120" cy="1097280"/>
          </a:xfrm>
          <a:prstGeom prst="roundRect">
            <a:avLst>
              <a:gd name="adj" fmla="val 6667"/>
            </a:avLst>
          </a:prstGeom>
          <a:solidFill>
            <a:srgbClr val="D4EBC8"/>
          </a:solidFill>
          <a:ln/>
        </p:spPr>
      </p:sp>
      <p:sp>
        <p:nvSpPr>
          <p:cNvPr id="12" name="Text 10"/>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  Strongest claim</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candidate — no prior</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art for this exact</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dual-sided architecture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02  ·  Craving → Ingredients → Store Pipeline</a:t>
            </a:r>
            <a:endParaRPr lang="en-US" sz="1900" dirty="0"/>
          </a:p>
        </p:txBody>
      </p:sp>
      <p:sp>
        <p:nvSpPr>
          <p:cNvPr id="4" name="Shape 2"/>
          <p:cNvSpPr/>
          <p:nvPr/>
        </p:nvSpPr>
        <p:spPr>
          <a:xfrm>
            <a:off x="347472"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47472"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User types</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craving</a:t>
            </a:r>
            <a:endParaRPr lang="en-US" sz="1050" dirty="0"/>
          </a:p>
        </p:txBody>
      </p:sp>
      <p:sp>
        <p:nvSpPr>
          <p:cNvPr id="6" name="Text 4"/>
          <p:cNvSpPr/>
          <p:nvPr/>
        </p:nvSpPr>
        <p:spPr>
          <a:xfrm>
            <a:off x="347472"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"spicy &amp; warm"</a:t>
            </a:r>
            <a:endParaRPr lang="en-US" sz="900" dirty="0"/>
          </a:p>
        </p:txBody>
      </p:sp>
      <p:sp>
        <p:nvSpPr>
          <p:cNvPr id="7" name="Shape 5"/>
          <p:cNvSpPr/>
          <p:nvPr/>
        </p:nvSpPr>
        <p:spPr>
          <a:xfrm>
            <a:off x="1463040" y="1463040"/>
            <a:ext cx="91440" cy="0"/>
          </a:xfrm>
          <a:prstGeom prst="line">
            <a:avLst/>
          </a:prstGeom>
          <a:noFill/>
          <a:ln w="25400">
            <a:solidFill>
              <a:srgbClr val="7DAE5C"/>
            </a:solidFill>
            <a:prstDash val="solid"/>
          </a:ln>
        </p:spPr>
      </p:sp>
      <p:sp>
        <p:nvSpPr>
          <p:cNvPr id="8" name="Shape 6"/>
          <p:cNvSpPr/>
          <p:nvPr/>
        </p:nvSpPr>
        <p:spPr>
          <a:xfrm>
            <a:off x="1563624"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1563624"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Flavor</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decode</a:t>
            </a:r>
            <a:endParaRPr lang="en-US" sz="1050" dirty="0"/>
          </a:p>
        </p:txBody>
      </p:sp>
      <p:sp>
        <p:nvSpPr>
          <p:cNvPr id="10" name="Text 8"/>
          <p:cNvSpPr/>
          <p:nvPr/>
        </p:nvSpPr>
        <p:spPr>
          <a:xfrm>
            <a:off x="1563624"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7 layer model</a:t>
            </a:r>
            <a:endParaRPr lang="en-US" sz="900" dirty="0"/>
          </a:p>
        </p:txBody>
      </p:sp>
      <p:sp>
        <p:nvSpPr>
          <p:cNvPr id="11" name="Shape 9"/>
          <p:cNvSpPr/>
          <p:nvPr/>
        </p:nvSpPr>
        <p:spPr>
          <a:xfrm>
            <a:off x="2679192" y="1463040"/>
            <a:ext cx="91440" cy="0"/>
          </a:xfrm>
          <a:prstGeom prst="line">
            <a:avLst/>
          </a:prstGeom>
          <a:noFill/>
          <a:ln w="25400">
            <a:solidFill>
              <a:srgbClr val="7DAE5C"/>
            </a:solidFill>
            <a:prstDash val="solid"/>
          </a:ln>
        </p:spPr>
      </p:sp>
      <p:sp>
        <p:nvSpPr>
          <p:cNvPr id="12" name="Shape 10"/>
          <p:cNvSpPr/>
          <p:nvPr/>
        </p:nvSpPr>
        <p:spPr>
          <a:xfrm>
            <a:off x="2779776"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2779776"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Recipe</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match</a:t>
            </a:r>
            <a:endParaRPr lang="en-US" sz="1050" dirty="0"/>
          </a:p>
        </p:txBody>
      </p:sp>
      <p:sp>
        <p:nvSpPr>
          <p:cNvPr id="14" name="Text 12"/>
          <p:cNvSpPr/>
          <p:nvPr/>
        </p:nvSpPr>
        <p:spPr>
          <a:xfrm>
            <a:off x="2779776"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70+ countries</a:t>
            </a:r>
            <a:endParaRPr lang="en-US" sz="900" dirty="0"/>
          </a:p>
        </p:txBody>
      </p:sp>
      <p:sp>
        <p:nvSpPr>
          <p:cNvPr id="15" name="Shape 13"/>
          <p:cNvSpPr/>
          <p:nvPr/>
        </p:nvSpPr>
        <p:spPr>
          <a:xfrm>
            <a:off x="3895344" y="1463040"/>
            <a:ext cx="91440" cy="0"/>
          </a:xfrm>
          <a:prstGeom prst="line">
            <a:avLst/>
          </a:prstGeom>
          <a:noFill/>
          <a:ln w="25400">
            <a:solidFill>
              <a:srgbClr val="7DAE5C"/>
            </a:solidFill>
            <a:prstDash val="solid"/>
          </a:ln>
        </p:spPr>
      </p:sp>
      <p:sp>
        <p:nvSpPr>
          <p:cNvPr id="16" name="Shape 14"/>
          <p:cNvSpPr/>
          <p:nvPr/>
        </p:nvSpPr>
        <p:spPr>
          <a:xfrm>
            <a:off x="3995928"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3995928"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Store</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ranking</a:t>
            </a:r>
            <a:endParaRPr lang="en-US" sz="1050" dirty="0"/>
          </a:p>
        </p:txBody>
      </p:sp>
      <p:sp>
        <p:nvSpPr>
          <p:cNvPr id="18" name="Text 16"/>
          <p:cNvSpPr/>
          <p:nvPr/>
        </p:nvSpPr>
        <p:spPr>
          <a:xfrm>
            <a:off x="3995928"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price × distance</a:t>
            </a:r>
            <a:endParaRPr lang="en-US" sz="900" dirty="0"/>
          </a:p>
        </p:txBody>
      </p:sp>
      <p:sp>
        <p:nvSpPr>
          <p:cNvPr id="19" name="Text 17"/>
          <p:cNvSpPr/>
          <p:nvPr/>
        </p:nvSpPr>
        <p:spPr>
          <a:xfrm>
            <a:off x="365760" y="2057400"/>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How It Works</a:t>
            </a:r>
            <a:endParaRPr lang="en-US" sz="1450" dirty="0"/>
          </a:p>
        </p:txBody>
      </p:sp>
      <p:sp>
        <p:nvSpPr>
          <p:cNvPr id="20" name="Text 18"/>
          <p:cNvSpPr/>
          <p:nvPr/>
        </p:nvSpPr>
        <p:spPr>
          <a:xfrm>
            <a:off x="365760" y="2395728"/>
            <a:ext cx="4800600" cy="2377440"/>
          </a:xfrm>
          <a:prstGeom prst="rect">
            <a:avLst/>
          </a:prstGeom>
          <a:noFill/>
          <a:ln/>
        </p:spPr>
        <p:txBody>
          <a:bodyPr wrap="square" rtlCol="0" anchor="ctr"/>
          <a:lstStyle/>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SeasoningPairingEngine decodes natural language into 7 flavor layer categories: base, acid, fat, heat, umami, sweet, aromatic</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Decoded flavor profile matched to 26,000+ recipe database using ingredient and cuisine-type overlap scoring</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GroceryLocator (Python/Flask) finds stores within configurable radius using geolocation</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DynamicPricing algorithm ranks stores by per-ingredient price, distance, and historical user preference signals</a:t>
            </a:r>
            <a:endParaRPr lang="en-US" sz="1300" dirty="0"/>
          </a:p>
        </p:txBody>
      </p:sp>
      <p:sp>
        <p:nvSpPr>
          <p:cNvPr id="21" name="Shape 19"/>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23" name="Text 21"/>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Method for translating a natural language food craving input into a ranked list of nearby retail locations with ingredient-level pricing, using an intermediate seven-category flavor-layer decoding model as the translation step.</a:t>
            </a:r>
            <a:endParaRPr lang="en-US" sz="1250" dirty="0"/>
          </a:p>
        </p:txBody>
      </p:sp>
      <p:sp>
        <p:nvSpPr>
          <p:cNvPr id="24" name="Shape 22"/>
          <p:cNvSpPr/>
          <p:nvPr/>
        </p:nvSpPr>
        <p:spPr>
          <a:xfrm>
            <a:off x="5440680" y="3246120"/>
            <a:ext cx="3246120" cy="1097280"/>
          </a:xfrm>
          <a:prstGeom prst="roundRect">
            <a:avLst>
              <a:gd name="adj" fmla="val 6667"/>
            </a:avLst>
          </a:prstGeom>
          <a:solidFill>
            <a:srgbClr val="D4EBC8"/>
          </a:solidFill>
          <a:ln/>
        </p:spPr>
      </p:sp>
      <p:sp>
        <p:nvSpPr>
          <p:cNvPr id="25" name="Text 23"/>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Craving → flavor</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layer → store rank</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is a novel pipeline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03  ·  Gamification Loop Tied to Real-World Retail Behavior</a:t>
            </a:r>
            <a:endParaRPr lang="en-US" sz="1900" dirty="0"/>
          </a:p>
        </p:txBody>
      </p:sp>
      <p:sp>
        <p:nvSpPr>
          <p:cNvPr id="4" name="Shape 2"/>
          <p:cNvSpPr/>
          <p:nvPr/>
        </p:nvSpPr>
        <p:spPr>
          <a:xfrm>
            <a:off x="457200" y="1078992"/>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57200" y="1078992"/>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Visit Store</a:t>
            </a:r>
            <a:endParaRPr lang="en-US" sz="1200" dirty="0"/>
          </a:p>
        </p:txBody>
      </p:sp>
      <p:sp>
        <p:nvSpPr>
          <p:cNvPr id="6" name="Shape 4"/>
          <p:cNvSpPr/>
          <p:nvPr/>
        </p:nvSpPr>
        <p:spPr>
          <a:xfrm>
            <a:off x="2606040" y="1078992"/>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2606040" y="1078992"/>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Earn Coins</a:t>
            </a:r>
            <a:endParaRPr lang="en-US" sz="1200" dirty="0"/>
          </a:p>
        </p:txBody>
      </p:sp>
      <p:sp>
        <p:nvSpPr>
          <p:cNvPr id="8" name="Shape 6"/>
          <p:cNvSpPr/>
          <p:nvPr/>
        </p:nvSpPr>
        <p:spPr>
          <a:xfrm>
            <a:off x="2606040" y="2606040"/>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2606040" y="2606040"/>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Unlock Avatar</a:t>
            </a:r>
            <a:endParaRPr lang="en-US" sz="1200" dirty="0"/>
          </a:p>
        </p:txBody>
      </p:sp>
      <p:sp>
        <p:nvSpPr>
          <p:cNvPr id="10" name="Shape 8"/>
          <p:cNvSpPr/>
          <p:nvPr/>
        </p:nvSpPr>
        <p:spPr>
          <a:xfrm>
            <a:off x="457200" y="2606040"/>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57200" y="2606040"/>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Daily Quest</a:t>
            </a:r>
            <a:endParaRPr lang="en-US" sz="1200" dirty="0"/>
          </a:p>
        </p:txBody>
      </p:sp>
      <p:sp>
        <p:nvSpPr>
          <p:cNvPr id="12" name="Shape 10"/>
          <p:cNvSpPr/>
          <p:nvPr/>
        </p:nvSpPr>
        <p:spPr>
          <a:xfrm>
            <a:off x="2029968" y="1408176"/>
            <a:ext cx="557784" cy="0"/>
          </a:xfrm>
          <a:prstGeom prst="line">
            <a:avLst/>
          </a:prstGeom>
          <a:noFill/>
          <a:ln w="19050">
            <a:solidFill>
              <a:srgbClr val="7DAE5C"/>
            </a:solidFill>
            <a:prstDash val="solid"/>
          </a:ln>
        </p:spPr>
      </p:sp>
      <p:sp>
        <p:nvSpPr>
          <p:cNvPr id="13" name="Shape 11"/>
          <p:cNvSpPr/>
          <p:nvPr/>
        </p:nvSpPr>
        <p:spPr>
          <a:xfrm>
            <a:off x="3383280" y="1755648"/>
            <a:ext cx="0" cy="832104"/>
          </a:xfrm>
          <a:prstGeom prst="line">
            <a:avLst/>
          </a:prstGeom>
          <a:noFill/>
          <a:ln w="19050">
            <a:solidFill>
              <a:srgbClr val="7DAE5C"/>
            </a:solidFill>
            <a:prstDash val="solid"/>
          </a:ln>
        </p:spPr>
      </p:sp>
      <p:sp>
        <p:nvSpPr>
          <p:cNvPr id="14" name="Shape 12"/>
          <p:cNvSpPr/>
          <p:nvPr/>
        </p:nvSpPr>
        <p:spPr>
          <a:xfrm>
            <a:off x="2029968" y="2935224"/>
            <a:ext cx="557784" cy="0"/>
          </a:xfrm>
          <a:prstGeom prst="line">
            <a:avLst/>
          </a:prstGeom>
          <a:noFill/>
          <a:ln w="19050">
            <a:solidFill>
              <a:srgbClr val="7DAE5C"/>
            </a:solidFill>
            <a:prstDash val="solid"/>
          </a:ln>
        </p:spPr>
      </p:sp>
      <p:sp>
        <p:nvSpPr>
          <p:cNvPr id="15" name="Shape 13"/>
          <p:cNvSpPr/>
          <p:nvPr/>
        </p:nvSpPr>
        <p:spPr>
          <a:xfrm>
            <a:off x="1234440" y="1755648"/>
            <a:ext cx="0" cy="832104"/>
          </a:xfrm>
          <a:prstGeom prst="line">
            <a:avLst/>
          </a:prstGeom>
          <a:noFill/>
          <a:ln w="19050">
            <a:solidFill>
              <a:srgbClr val="7DAE5C"/>
            </a:solidFill>
            <a:prstDash val="solid"/>
          </a:ln>
        </p:spPr>
      </p:sp>
      <p:sp>
        <p:nvSpPr>
          <p:cNvPr id="16" name="Text 14"/>
          <p:cNvSpPr/>
          <p:nvPr/>
        </p:nvSpPr>
        <p:spPr>
          <a:xfrm>
            <a:off x="365760" y="3401568"/>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How It Works</a:t>
            </a:r>
            <a:endParaRPr lang="en-US" sz="1450" dirty="0"/>
          </a:p>
        </p:txBody>
      </p:sp>
      <p:sp>
        <p:nvSpPr>
          <p:cNvPr id="17" name="Text 15"/>
          <p:cNvSpPr/>
          <p:nvPr/>
        </p:nvSpPr>
        <p:spPr>
          <a:xfrm>
            <a:off x="365760" y="3749040"/>
            <a:ext cx="4800600" cy="1234440"/>
          </a:xfrm>
          <a:prstGeom prst="rect">
            <a:avLst/>
          </a:prstGeom>
          <a:noFill/>
          <a:ln/>
        </p:spPr>
        <p:txBody>
          <a:bodyPr wrap="square" rtlCol="0" anchor="ctr"/>
          <a:lstStyle/>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Check-in service validates store visits via GPS geolocation matching against a database of known store locations</a:t>
            </a:r>
            <a:endParaRPr lang="en-US" sz="1250" dirty="0"/>
          </a:p>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Coins awarded per check-in with multipliers: streak continuity, borough exploration bonuses, and first-visit bonuses</a:t>
            </a:r>
            <a:endParaRPr lang="en-US" sz="1250" dirty="0"/>
          </a:p>
        </p:txBody>
      </p:sp>
      <p:sp>
        <p:nvSpPr>
          <p:cNvPr id="18" name="Shape 16"/>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20" name="Text 18"/>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System for incentivizing physical retail location visits through a virtual currency reward mechanism integrated with a food discovery and recipe application, wherein earned currency is redeemable exclusively for digital avatar customization items.</a:t>
            </a:r>
            <a:endParaRPr lang="en-US" sz="1250" dirty="0"/>
          </a:p>
        </p:txBody>
      </p:sp>
      <p:sp>
        <p:nvSpPr>
          <p:cNvPr id="21" name="Shape 19"/>
          <p:cNvSpPr/>
          <p:nvPr/>
        </p:nvSpPr>
        <p:spPr>
          <a:xfrm>
            <a:off x="5440680" y="3246120"/>
            <a:ext cx="3246120" cy="1097280"/>
          </a:xfrm>
          <a:prstGeom prst="roundRect">
            <a:avLst>
              <a:gd name="adj" fmla="val 6667"/>
            </a:avLst>
          </a:prstGeom>
          <a:solidFill>
            <a:srgbClr val="D4EBC8"/>
          </a:solidFill>
          <a:ln/>
        </p:spPr>
      </p:sp>
      <p:sp>
        <p:nvSpPr>
          <p:cNvPr id="22" name="Text 20"/>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Real-world store visits</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fund digital avatar</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cosmetics — novel in</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a food context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04  ·  Ingredient Substitution Engine</a:t>
            </a:r>
            <a:endParaRPr lang="en-US" sz="1900" dirty="0"/>
          </a:p>
        </p:txBody>
      </p:sp>
      <p:sp>
        <p:nvSpPr>
          <p:cNvPr id="4" name="Text 2"/>
          <p:cNvSpPr/>
          <p:nvPr/>
        </p:nvSpPr>
        <p:spPr>
          <a:xfrm>
            <a:off x="365760" y="932688"/>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What It Does</a:t>
            </a:r>
            <a:endParaRPr lang="en-US" sz="1450" dirty="0"/>
          </a:p>
        </p:txBody>
      </p:sp>
      <p:sp>
        <p:nvSpPr>
          <p:cNvPr id="5" name="Text 3"/>
          <p:cNvSpPr/>
          <p:nvPr/>
        </p:nvSpPr>
        <p:spPr>
          <a:xfrm>
            <a:off x="365760" y="1280160"/>
            <a:ext cx="4800600" cy="2468880"/>
          </a:xfrm>
          <a:prstGeom prst="rect">
            <a:avLst/>
          </a:prstGeom>
          <a:noFill/>
          <a:ln/>
        </p:spPr>
        <p:txBody>
          <a:bodyPr wrap="square" rtlCol="0" anchor="ctr"/>
          <a:lstStyle/>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SubstitutionEngine (Python class) maintains 300+ ingredient substitution mappings organized by culinary category: dairy, eggs, flour, sweeteners, fats, leavening agents, and more</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Each entry includes: substitute options, ratio adjustments, preparation notes, flavor impact warnings, and use-case restrictions (e.g., works in baked goods only)</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Engine scores substitutes based on what the user currently has available and returns ranked alternatives</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Integrates with pantry scanning flow: PantryScanner uses computer vision + manual input for inventory</a:t>
            </a:r>
            <a:endParaRPr lang="en-US" sz="1300" dirty="0"/>
          </a:p>
        </p:txBody>
      </p:sp>
      <p:sp>
        <p:nvSpPr>
          <p:cNvPr id="6" name="Shape 4"/>
          <p:cNvSpPr/>
          <p:nvPr/>
        </p:nvSpPr>
        <p:spPr>
          <a:xfrm>
            <a:off x="365760" y="3794760"/>
            <a:ext cx="4800600" cy="1143000"/>
          </a:xfrm>
          <a:prstGeom prst="roundRect">
            <a:avLst>
              <a:gd name="adj" fmla="val 6400"/>
            </a:avLst>
          </a:prstGeom>
          <a:solidFill>
            <a:srgbClr val="F0F4F8"/>
          </a:solidFill>
          <a:ln/>
          <a:effectLst>
            <a:outerShdw sx="100000" sy="100000" kx="0" ky="0" algn="bl" rotWithShape="0" blurRad="101600" dist="38100" dir="2700000">
              <a:srgbClr val="000000">
                <a:alpha val="12000"/>
              </a:srgbClr>
            </a:outerShdw>
          </a:effectLst>
        </p:spPr>
      </p:sp>
      <p:sp>
        <p:nvSpPr>
          <p:cNvPr id="7" name="Text 5"/>
          <p:cNvSpPr/>
          <p:nvPr/>
        </p:nvSpPr>
        <p:spPr>
          <a:xfrm>
            <a:off x="502920" y="3886200"/>
            <a:ext cx="4572000" cy="256032"/>
          </a:xfrm>
          <a:prstGeom prst="rect">
            <a:avLst/>
          </a:prstGeom>
          <a:noFill/>
          <a:ln/>
        </p:spPr>
        <p:txBody>
          <a:bodyPr wrap="square" lIns="0" tIns="0" rIns="0" bIns="0" rtlCol="0" anchor="ctr"/>
          <a:lstStyle/>
          <a:p>
            <a:pPr indent="0" marL="0">
              <a:buNone/>
            </a:pPr>
            <a:r>
              <a:rPr lang="en-US" sz="1100" b="1" dirty="0">
                <a:solidFill>
                  <a:srgbClr val="1B2A4A"/>
                </a:solidFill>
                <a:latin typeface="Cambria" pitchFamily="34" charset="0"/>
                <a:ea typeface="Cambria" pitchFamily="34" charset="-122"/>
                <a:cs typeface="Cambria" pitchFamily="34" charset="-120"/>
              </a:rPr>
              <a:t>EXAMPLE — Missing buttermilk?</a:t>
            </a:r>
            <a:endParaRPr lang="en-US" sz="1100" dirty="0"/>
          </a:p>
        </p:txBody>
      </p:sp>
      <p:sp>
        <p:nvSpPr>
          <p:cNvPr id="8" name="Text 6"/>
          <p:cNvSpPr/>
          <p:nvPr/>
        </p:nvSpPr>
        <p:spPr>
          <a:xfrm>
            <a:off x="502920" y="4142232"/>
            <a:ext cx="4572000" cy="274320"/>
          </a:xfrm>
          <a:prstGeom prst="rect">
            <a:avLst/>
          </a:prstGeom>
          <a:noFill/>
          <a:ln/>
        </p:spPr>
        <p:txBody>
          <a:bodyPr wrap="square" lIns="0" tIns="0" rIns="0" bIns="0" rtlCol="0" anchor="ctr"/>
          <a:lstStyle/>
          <a:p>
            <a:pPr indent="0" marL="0">
              <a:buNone/>
            </a:pPr>
            <a:r>
              <a:rPr lang="en-US" sz="1100" i="1" dirty="0">
                <a:solidFill>
                  <a:srgbClr val="637074"/>
                </a:solidFill>
                <a:latin typeface="Calibri" pitchFamily="34" charset="0"/>
                <a:ea typeface="Calibri" pitchFamily="34" charset="-122"/>
                <a:cs typeface="Calibri" pitchFamily="34" charset="-120"/>
              </a:rPr>
              <a:t>→  1 cup milk + 1 tbsp white vinegar (sit 5 min) · baked goods only · slight tang flavor impact</a:t>
            </a:r>
            <a:endParaRPr lang="en-US" sz="1100" dirty="0"/>
          </a:p>
        </p:txBody>
      </p:sp>
      <p:sp>
        <p:nvSpPr>
          <p:cNvPr id="9" name="Text 7"/>
          <p:cNvSpPr/>
          <p:nvPr/>
        </p:nvSpPr>
        <p:spPr>
          <a:xfrm>
            <a:off x="502920" y="4416552"/>
            <a:ext cx="4572000" cy="274320"/>
          </a:xfrm>
          <a:prstGeom prst="rect">
            <a:avLst/>
          </a:prstGeom>
          <a:noFill/>
          <a:ln/>
        </p:spPr>
        <p:txBody>
          <a:bodyPr wrap="square" lIns="0" tIns="0" rIns="0" bIns="0" rtlCol="0" anchor="ctr"/>
          <a:lstStyle/>
          <a:p>
            <a:pPr indent="0" marL="0">
              <a:buNone/>
            </a:pPr>
            <a:r>
              <a:rPr lang="en-US" sz="1100" i="1" dirty="0">
                <a:solidFill>
                  <a:srgbClr val="637074"/>
                </a:solidFill>
                <a:latin typeface="Calibri" pitchFamily="34" charset="0"/>
                <a:ea typeface="Calibri" pitchFamily="34" charset="-122"/>
                <a:cs typeface="Calibri" pitchFamily="34" charset="-120"/>
              </a:rPr>
              <a:t>→  Also: plain yogurt (1:1 ratio) · or sour cream thinned with milk</a:t>
            </a:r>
            <a:endParaRPr lang="en-US" sz="1100" dirty="0"/>
          </a:p>
        </p:txBody>
      </p:sp>
      <p:sp>
        <p:nvSpPr>
          <p:cNvPr id="10" name="Shape 8"/>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12" name="Text 10"/>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Computerized ingredient substitution recommendation system that provides ratio-adjusted, preparation-modified alternatives based on the user's available inventory, organized by culinary use-case category with flavor impact analysis.</a:t>
            </a:r>
            <a:endParaRPr lang="en-US" sz="1250" dirty="0"/>
          </a:p>
        </p:txBody>
      </p:sp>
      <p:sp>
        <p:nvSpPr>
          <p:cNvPr id="13" name="Shape 11"/>
          <p:cNvSpPr/>
          <p:nvPr/>
        </p:nvSpPr>
        <p:spPr>
          <a:xfrm>
            <a:off x="5440680" y="3246120"/>
            <a:ext cx="3246120" cy="1097280"/>
          </a:xfrm>
          <a:prstGeom prst="roundRect">
            <a:avLst>
              <a:gd name="adj" fmla="val 6667"/>
            </a:avLst>
          </a:prstGeom>
          <a:solidFill>
            <a:srgbClr val="D4EBC8"/>
          </a:solidFill>
          <a:ln/>
        </p:spPr>
      </p:sp>
      <p:sp>
        <p:nvSpPr>
          <p:cNvPr id="14" name="Text 12"/>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Trade secret may be</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stronger than patent</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here — ask attorney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05  ·  Pixel Art Food Avatar Creator + Economy Integration</a:t>
            </a:r>
            <a:endParaRPr lang="en-US" sz="1900" dirty="0"/>
          </a:p>
        </p:txBody>
      </p:sp>
      <p:sp>
        <p:nvSpPr>
          <p:cNvPr id="4" name="Text 2"/>
          <p:cNvSpPr/>
          <p:nvPr/>
        </p:nvSpPr>
        <p:spPr>
          <a:xfrm>
            <a:off x="365760" y="932688"/>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What It Does</a:t>
            </a:r>
            <a:endParaRPr lang="en-US" sz="1450" dirty="0"/>
          </a:p>
        </p:txBody>
      </p:sp>
      <p:sp>
        <p:nvSpPr>
          <p:cNvPr id="5" name="Text 3"/>
          <p:cNvSpPr/>
          <p:nvPr/>
        </p:nvSpPr>
        <p:spPr>
          <a:xfrm>
            <a:off x="365760" y="1280160"/>
            <a:ext cx="4800600" cy="2560320"/>
          </a:xfrm>
          <a:prstGeom prst="rect">
            <a:avLst/>
          </a:prstGeom>
          <a:noFill/>
          <a:ln/>
        </p:spPr>
        <p:txBody>
          <a:bodyPr wrap="square" rtlCol="0" anchor="ctr"/>
          <a:lstStyle/>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Canvas-based pixel grid editor (8×8 sprite) with brush, fill, and erase tools — a food character aesthetic unique to this app</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7 color palettes including Cooking Mama-inspired, Retro Gaming, Neon, and Pastel themes</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Outfit/cosmetic system: 8 items priced 50–300 coins (chef hat, royal cape, apron, etc.)</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Coin balance is shared directly with the gamification system (System 03) — tightly integrated state</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Export to PNG + native share API (navigator.share) for social platforms</a:t>
            </a:r>
            <a:endParaRPr lang="en-US" sz="1300" dirty="0"/>
          </a:p>
        </p:txBody>
      </p:sp>
      <p:sp>
        <p:nvSpPr>
          <p:cNvPr id="6" name="Shape 4"/>
          <p:cNvSpPr/>
          <p:nvPr/>
        </p:nvSpPr>
        <p:spPr>
          <a:xfrm>
            <a:off x="384048" y="3913632"/>
            <a:ext cx="128016" cy="128016"/>
          </a:xfrm>
          <a:prstGeom prst="rect">
            <a:avLst/>
          </a:prstGeom>
          <a:solidFill>
            <a:srgbClr val="D5EBC8"/>
          </a:solidFill>
          <a:ln w="5080">
            <a:solidFill>
              <a:srgbClr val="BBDBA8"/>
            </a:solidFill>
            <a:prstDash val="solid"/>
          </a:ln>
        </p:spPr>
      </p:sp>
      <p:sp>
        <p:nvSpPr>
          <p:cNvPr id="7" name="Shape 5"/>
          <p:cNvSpPr/>
          <p:nvPr/>
        </p:nvSpPr>
        <p:spPr>
          <a:xfrm>
            <a:off x="521208" y="3913632"/>
            <a:ext cx="128016" cy="128016"/>
          </a:xfrm>
          <a:prstGeom prst="rect">
            <a:avLst/>
          </a:prstGeom>
          <a:solidFill>
            <a:srgbClr val="7DAE5C"/>
          </a:solidFill>
          <a:ln w="5080">
            <a:solidFill>
              <a:srgbClr val="BBDBA8"/>
            </a:solidFill>
            <a:prstDash val="solid"/>
          </a:ln>
        </p:spPr>
      </p:sp>
      <p:sp>
        <p:nvSpPr>
          <p:cNvPr id="8" name="Shape 6"/>
          <p:cNvSpPr/>
          <p:nvPr/>
        </p:nvSpPr>
        <p:spPr>
          <a:xfrm>
            <a:off x="658368" y="3913632"/>
            <a:ext cx="128016" cy="128016"/>
          </a:xfrm>
          <a:prstGeom prst="rect">
            <a:avLst/>
          </a:prstGeom>
          <a:solidFill>
            <a:srgbClr val="7DAE5C"/>
          </a:solidFill>
          <a:ln w="5080">
            <a:solidFill>
              <a:srgbClr val="BBDBA8"/>
            </a:solidFill>
            <a:prstDash val="solid"/>
          </a:ln>
        </p:spPr>
      </p:sp>
      <p:sp>
        <p:nvSpPr>
          <p:cNvPr id="9" name="Shape 7"/>
          <p:cNvSpPr/>
          <p:nvPr/>
        </p:nvSpPr>
        <p:spPr>
          <a:xfrm>
            <a:off x="795528" y="3913632"/>
            <a:ext cx="128016" cy="128016"/>
          </a:xfrm>
          <a:prstGeom prst="rect">
            <a:avLst/>
          </a:prstGeom>
          <a:solidFill>
            <a:srgbClr val="7DAE5C"/>
          </a:solidFill>
          <a:ln w="5080">
            <a:solidFill>
              <a:srgbClr val="BBDBA8"/>
            </a:solidFill>
            <a:prstDash val="solid"/>
          </a:ln>
        </p:spPr>
      </p:sp>
      <p:sp>
        <p:nvSpPr>
          <p:cNvPr id="10" name="Shape 8"/>
          <p:cNvSpPr/>
          <p:nvPr/>
        </p:nvSpPr>
        <p:spPr>
          <a:xfrm>
            <a:off x="932688" y="3913632"/>
            <a:ext cx="128016" cy="128016"/>
          </a:xfrm>
          <a:prstGeom prst="rect">
            <a:avLst/>
          </a:prstGeom>
          <a:solidFill>
            <a:srgbClr val="7DAE5C"/>
          </a:solidFill>
          <a:ln w="5080">
            <a:solidFill>
              <a:srgbClr val="BBDBA8"/>
            </a:solidFill>
            <a:prstDash val="solid"/>
          </a:ln>
        </p:spPr>
      </p:sp>
      <p:sp>
        <p:nvSpPr>
          <p:cNvPr id="11" name="Shape 9"/>
          <p:cNvSpPr/>
          <p:nvPr/>
        </p:nvSpPr>
        <p:spPr>
          <a:xfrm>
            <a:off x="1069848" y="3913632"/>
            <a:ext cx="128016" cy="128016"/>
          </a:xfrm>
          <a:prstGeom prst="rect">
            <a:avLst/>
          </a:prstGeom>
          <a:solidFill>
            <a:srgbClr val="7DAE5C"/>
          </a:solidFill>
          <a:ln w="5080">
            <a:solidFill>
              <a:srgbClr val="BBDBA8"/>
            </a:solidFill>
            <a:prstDash val="solid"/>
          </a:ln>
        </p:spPr>
      </p:sp>
      <p:sp>
        <p:nvSpPr>
          <p:cNvPr id="12" name="Shape 10"/>
          <p:cNvSpPr/>
          <p:nvPr/>
        </p:nvSpPr>
        <p:spPr>
          <a:xfrm>
            <a:off x="1207008" y="3913632"/>
            <a:ext cx="128016" cy="128016"/>
          </a:xfrm>
          <a:prstGeom prst="rect">
            <a:avLst/>
          </a:prstGeom>
          <a:solidFill>
            <a:srgbClr val="7DAE5C"/>
          </a:solidFill>
          <a:ln w="5080">
            <a:solidFill>
              <a:srgbClr val="BBDBA8"/>
            </a:solidFill>
            <a:prstDash val="solid"/>
          </a:ln>
        </p:spPr>
      </p:sp>
      <p:sp>
        <p:nvSpPr>
          <p:cNvPr id="13" name="Shape 11"/>
          <p:cNvSpPr/>
          <p:nvPr/>
        </p:nvSpPr>
        <p:spPr>
          <a:xfrm>
            <a:off x="1344168" y="3913632"/>
            <a:ext cx="128016" cy="128016"/>
          </a:xfrm>
          <a:prstGeom prst="rect">
            <a:avLst/>
          </a:prstGeom>
          <a:solidFill>
            <a:srgbClr val="D5EBC8"/>
          </a:solidFill>
          <a:ln w="5080">
            <a:solidFill>
              <a:srgbClr val="BBDBA8"/>
            </a:solidFill>
            <a:prstDash val="solid"/>
          </a:ln>
        </p:spPr>
      </p:sp>
      <p:sp>
        <p:nvSpPr>
          <p:cNvPr id="14" name="Shape 12"/>
          <p:cNvSpPr/>
          <p:nvPr/>
        </p:nvSpPr>
        <p:spPr>
          <a:xfrm>
            <a:off x="384048" y="4050792"/>
            <a:ext cx="128016" cy="128016"/>
          </a:xfrm>
          <a:prstGeom prst="rect">
            <a:avLst/>
          </a:prstGeom>
          <a:solidFill>
            <a:srgbClr val="7DAE5C"/>
          </a:solidFill>
          <a:ln w="5080">
            <a:solidFill>
              <a:srgbClr val="BBDBA8"/>
            </a:solidFill>
            <a:prstDash val="solid"/>
          </a:ln>
        </p:spPr>
      </p:sp>
      <p:sp>
        <p:nvSpPr>
          <p:cNvPr id="15" name="Shape 13"/>
          <p:cNvSpPr/>
          <p:nvPr/>
        </p:nvSpPr>
        <p:spPr>
          <a:xfrm>
            <a:off x="521208" y="4050792"/>
            <a:ext cx="128016" cy="128016"/>
          </a:xfrm>
          <a:prstGeom prst="rect">
            <a:avLst/>
          </a:prstGeom>
          <a:solidFill>
            <a:srgbClr val="D5EBC8"/>
          </a:solidFill>
          <a:ln w="5080">
            <a:solidFill>
              <a:srgbClr val="BBDBA8"/>
            </a:solidFill>
            <a:prstDash val="solid"/>
          </a:ln>
        </p:spPr>
      </p:sp>
      <p:sp>
        <p:nvSpPr>
          <p:cNvPr id="16" name="Shape 14"/>
          <p:cNvSpPr/>
          <p:nvPr/>
        </p:nvSpPr>
        <p:spPr>
          <a:xfrm>
            <a:off x="658368" y="4050792"/>
            <a:ext cx="128016" cy="128016"/>
          </a:xfrm>
          <a:prstGeom prst="rect">
            <a:avLst/>
          </a:prstGeom>
          <a:solidFill>
            <a:srgbClr val="D5EBC8"/>
          </a:solidFill>
          <a:ln w="5080">
            <a:solidFill>
              <a:srgbClr val="BBDBA8"/>
            </a:solidFill>
            <a:prstDash val="solid"/>
          </a:ln>
        </p:spPr>
      </p:sp>
      <p:sp>
        <p:nvSpPr>
          <p:cNvPr id="17" name="Shape 15"/>
          <p:cNvSpPr/>
          <p:nvPr/>
        </p:nvSpPr>
        <p:spPr>
          <a:xfrm>
            <a:off x="795528" y="4050792"/>
            <a:ext cx="128016" cy="128016"/>
          </a:xfrm>
          <a:prstGeom prst="rect">
            <a:avLst/>
          </a:prstGeom>
          <a:solidFill>
            <a:srgbClr val="7DAE5C"/>
          </a:solidFill>
          <a:ln w="5080">
            <a:solidFill>
              <a:srgbClr val="BBDBA8"/>
            </a:solidFill>
            <a:prstDash val="solid"/>
          </a:ln>
        </p:spPr>
      </p:sp>
      <p:sp>
        <p:nvSpPr>
          <p:cNvPr id="18" name="Shape 16"/>
          <p:cNvSpPr/>
          <p:nvPr/>
        </p:nvSpPr>
        <p:spPr>
          <a:xfrm>
            <a:off x="932688" y="4050792"/>
            <a:ext cx="128016" cy="128016"/>
          </a:xfrm>
          <a:prstGeom prst="rect">
            <a:avLst/>
          </a:prstGeom>
          <a:solidFill>
            <a:srgbClr val="7DAE5C"/>
          </a:solidFill>
          <a:ln w="5080">
            <a:solidFill>
              <a:srgbClr val="BBDBA8"/>
            </a:solidFill>
            <a:prstDash val="solid"/>
          </a:ln>
        </p:spPr>
      </p:sp>
      <p:sp>
        <p:nvSpPr>
          <p:cNvPr id="19" name="Shape 17"/>
          <p:cNvSpPr/>
          <p:nvPr/>
        </p:nvSpPr>
        <p:spPr>
          <a:xfrm>
            <a:off x="1069848" y="4050792"/>
            <a:ext cx="128016" cy="128016"/>
          </a:xfrm>
          <a:prstGeom prst="rect">
            <a:avLst/>
          </a:prstGeom>
          <a:solidFill>
            <a:srgbClr val="D5EBC8"/>
          </a:solidFill>
          <a:ln w="5080">
            <a:solidFill>
              <a:srgbClr val="BBDBA8"/>
            </a:solidFill>
            <a:prstDash val="solid"/>
          </a:ln>
        </p:spPr>
      </p:sp>
      <p:sp>
        <p:nvSpPr>
          <p:cNvPr id="20" name="Shape 18"/>
          <p:cNvSpPr/>
          <p:nvPr/>
        </p:nvSpPr>
        <p:spPr>
          <a:xfrm>
            <a:off x="1207008" y="4050792"/>
            <a:ext cx="128016" cy="128016"/>
          </a:xfrm>
          <a:prstGeom prst="rect">
            <a:avLst/>
          </a:prstGeom>
          <a:solidFill>
            <a:srgbClr val="D5EBC8"/>
          </a:solidFill>
          <a:ln w="5080">
            <a:solidFill>
              <a:srgbClr val="BBDBA8"/>
            </a:solidFill>
            <a:prstDash val="solid"/>
          </a:ln>
        </p:spPr>
      </p:sp>
      <p:sp>
        <p:nvSpPr>
          <p:cNvPr id="21" name="Shape 19"/>
          <p:cNvSpPr/>
          <p:nvPr/>
        </p:nvSpPr>
        <p:spPr>
          <a:xfrm>
            <a:off x="1344168" y="4050792"/>
            <a:ext cx="128016" cy="128016"/>
          </a:xfrm>
          <a:prstGeom prst="rect">
            <a:avLst/>
          </a:prstGeom>
          <a:solidFill>
            <a:srgbClr val="7DAE5C"/>
          </a:solidFill>
          <a:ln w="5080">
            <a:solidFill>
              <a:srgbClr val="BBDBA8"/>
            </a:solidFill>
            <a:prstDash val="solid"/>
          </a:ln>
        </p:spPr>
      </p:sp>
      <p:sp>
        <p:nvSpPr>
          <p:cNvPr id="22" name="Shape 20"/>
          <p:cNvSpPr/>
          <p:nvPr/>
        </p:nvSpPr>
        <p:spPr>
          <a:xfrm>
            <a:off x="384048" y="4187952"/>
            <a:ext cx="128016" cy="128016"/>
          </a:xfrm>
          <a:prstGeom prst="rect">
            <a:avLst/>
          </a:prstGeom>
          <a:solidFill>
            <a:srgbClr val="7DAE5C"/>
          </a:solidFill>
          <a:ln w="5080">
            <a:solidFill>
              <a:srgbClr val="BBDBA8"/>
            </a:solidFill>
            <a:prstDash val="solid"/>
          </a:ln>
        </p:spPr>
      </p:sp>
      <p:sp>
        <p:nvSpPr>
          <p:cNvPr id="23" name="Shape 21"/>
          <p:cNvSpPr/>
          <p:nvPr/>
        </p:nvSpPr>
        <p:spPr>
          <a:xfrm>
            <a:off x="521208" y="4187952"/>
            <a:ext cx="128016" cy="128016"/>
          </a:xfrm>
          <a:prstGeom prst="rect">
            <a:avLst/>
          </a:prstGeom>
          <a:solidFill>
            <a:srgbClr val="D5EBC8"/>
          </a:solidFill>
          <a:ln w="5080">
            <a:solidFill>
              <a:srgbClr val="BBDBA8"/>
            </a:solidFill>
            <a:prstDash val="solid"/>
          </a:ln>
        </p:spPr>
      </p:sp>
      <p:sp>
        <p:nvSpPr>
          <p:cNvPr id="24" name="Shape 22"/>
          <p:cNvSpPr/>
          <p:nvPr/>
        </p:nvSpPr>
        <p:spPr>
          <a:xfrm>
            <a:off x="658368" y="4187952"/>
            <a:ext cx="128016" cy="128016"/>
          </a:xfrm>
          <a:prstGeom prst="rect">
            <a:avLst/>
          </a:prstGeom>
          <a:solidFill>
            <a:srgbClr val="D5EBC8"/>
          </a:solidFill>
          <a:ln w="5080">
            <a:solidFill>
              <a:srgbClr val="BBDBA8"/>
            </a:solidFill>
            <a:prstDash val="solid"/>
          </a:ln>
        </p:spPr>
      </p:sp>
      <p:sp>
        <p:nvSpPr>
          <p:cNvPr id="25" name="Shape 23"/>
          <p:cNvSpPr/>
          <p:nvPr/>
        </p:nvSpPr>
        <p:spPr>
          <a:xfrm>
            <a:off x="795528" y="4187952"/>
            <a:ext cx="128016" cy="128016"/>
          </a:xfrm>
          <a:prstGeom prst="rect">
            <a:avLst/>
          </a:prstGeom>
          <a:solidFill>
            <a:srgbClr val="7DAE5C"/>
          </a:solidFill>
          <a:ln w="5080">
            <a:solidFill>
              <a:srgbClr val="BBDBA8"/>
            </a:solidFill>
            <a:prstDash val="solid"/>
          </a:ln>
        </p:spPr>
      </p:sp>
      <p:sp>
        <p:nvSpPr>
          <p:cNvPr id="26" name="Shape 24"/>
          <p:cNvSpPr/>
          <p:nvPr/>
        </p:nvSpPr>
        <p:spPr>
          <a:xfrm>
            <a:off x="932688" y="4187952"/>
            <a:ext cx="128016" cy="128016"/>
          </a:xfrm>
          <a:prstGeom prst="rect">
            <a:avLst/>
          </a:prstGeom>
          <a:solidFill>
            <a:srgbClr val="7DAE5C"/>
          </a:solidFill>
          <a:ln w="5080">
            <a:solidFill>
              <a:srgbClr val="BBDBA8"/>
            </a:solidFill>
            <a:prstDash val="solid"/>
          </a:ln>
        </p:spPr>
      </p:sp>
      <p:sp>
        <p:nvSpPr>
          <p:cNvPr id="27" name="Shape 25"/>
          <p:cNvSpPr/>
          <p:nvPr/>
        </p:nvSpPr>
        <p:spPr>
          <a:xfrm>
            <a:off x="1069848" y="4187952"/>
            <a:ext cx="128016" cy="128016"/>
          </a:xfrm>
          <a:prstGeom prst="rect">
            <a:avLst/>
          </a:prstGeom>
          <a:solidFill>
            <a:srgbClr val="D5EBC8"/>
          </a:solidFill>
          <a:ln w="5080">
            <a:solidFill>
              <a:srgbClr val="BBDBA8"/>
            </a:solidFill>
            <a:prstDash val="solid"/>
          </a:ln>
        </p:spPr>
      </p:sp>
      <p:sp>
        <p:nvSpPr>
          <p:cNvPr id="28" name="Shape 26"/>
          <p:cNvSpPr/>
          <p:nvPr/>
        </p:nvSpPr>
        <p:spPr>
          <a:xfrm>
            <a:off x="1207008" y="4187952"/>
            <a:ext cx="128016" cy="128016"/>
          </a:xfrm>
          <a:prstGeom prst="rect">
            <a:avLst/>
          </a:prstGeom>
          <a:solidFill>
            <a:srgbClr val="D5EBC8"/>
          </a:solidFill>
          <a:ln w="5080">
            <a:solidFill>
              <a:srgbClr val="BBDBA8"/>
            </a:solidFill>
            <a:prstDash val="solid"/>
          </a:ln>
        </p:spPr>
      </p:sp>
      <p:sp>
        <p:nvSpPr>
          <p:cNvPr id="29" name="Shape 27"/>
          <p:cNvSpPr/>
          <p:nvPr/>
        </p:nvSpPr>
        <p:spPr>
          <a:xfrm>
            <a:off x="1344168" y="4187952"/>
            <a:ext cx="128016" cy="128016"/>
          </a:xfrm>
          <a:prstGeom prst="rect">
            <a:avLst/>
          </a:prstGeom>
          <a:solidFill>
            <a:srgbClr val="7DAE5C"/>
          </a:solidFill>
          <a:ln w="5080">
            <a:solidFill>
              <a:srgbClr val="BBDBA8"/>
            </a:solidFill>
            <a:prstDash val="solid"/>
          </a:ln>
        </p:spPr>
      </p:sp>
      <p:sp>
        <p:nvSpPr>
          <p:cNvPr id="30" name="Shape 28"/>
          <p:cNvSpPr/>
          <p:nvPr/>
        </p:nvSpPr>
        <p:spPr>
          <a:xfrm>
            <a:off x="384048" y="4325112"/>
            <a:ext cx="128016" cy="128016"/>
          </a:xfrm>
          <a:prstGeom prst="rect">
            <a:avLst/>
          </a:prstGeom>
          <a:solidFill>
            <a:srgbClr val="7DAE5C"/>
          </a:solidFill>
          <a:ln w="5080">
            <a:solidFill>
              <a:srgbClr val="BBDBA8"/>
            </a:solidFill>
            <a:prstDash val="solid"/>
          </a:ln>
        </p:spPr>
      </p:sp>
      <p:sp>
        <p:nvSpPr>
          <p:cNvPr id="31" name="Shape 29"/>
          <p:cNvSpPr/>
          <p:nvPr/>
        </p:nvSpPr>
        <p:spPr>
          <a:xfrm>
            <a:off x="521208" y="4325112"/>
            <a:ext cx="128016" cy="128016"/>
          </a:xfrm>
          <a:prstGeom prst="rect">
            <a:avLst/>
          </a:prstGeom>
          <a:solidFill>
            <a:srgbClr val="7DAE5C"/>
          </a:solidFill>
          <a:ln w="5080">
            <a:solidFill>
              <a:srgbClr val="BBDBA8"/>
            </a:solidFill>
            <a:prstDash val="solid"/>
          </a:ln>
        </p:spPr>
      </p:sp>
      <p:sp>
        <p:nvSpPr>
          <p:cNvPr id="32" name="Shape 30"/>
          <p:cNvSpPr/>
          <p:nvPr/>
        </p:nvSpPr>
        <p:spPr>
          <a:xfrm>
            <a:off x="658368" y="4325112"/>
            <a:ext cx="128016" cy="128016"/>
          </a:xfrm>
          <a:prstGeom prst="rect">
            <a:avLst/>
          </a:prstGeom>
          <a:solidFill>
            <a:srgbClr val="7DAE5C"/>
          </a:solidFill>
          <a:ln w="5080">
            <a:solidFill>
              <a:srgbClr val="BBDBA8"/>
            </a:solidFill>
            <a:prstDash val="solid"/>
          </a:ln>
        </p:spPr>
      </p:sp>
      <p:sp>
        <p:nvSpPr>
          <p:cNvPr id="33" name="Shape 31"/>
          <p:cNvSpPr/>
          <p:nvPr/>
        </p:nvSpPr>
        <p:spPr>
          <a:xfrm>
            <a:off x="795528" y="4325112"/>
            <a:ext cx="128016" cy="128016"/>
          </a:xfrm>
          <a:prstGeom prst="rect">
            <a:avLst/>
          </a:prstGeom>
          <a:solidFill>
            <a:srgbClr val="7DAE5C"/>
          </a:solidFill>
          <a:ln w="5080">
            <a:solidFill>
              <a:srgbClr val="BBDBA8"/>
            </a:solidFill>
            <a:prstDash val="solid"/>
          </a:ln>
        </p:spPr>
      </p:sp>
      <p:sp>
        <p:nvSpPr>
          <p:cNvPr id="34" name="Shape 32"/>
          <p:cNvSpPr/>
          <p:nvPr/>
        </p:nvSpPr>
        <p:spPr>
          <a:xfrm>
            <a:off x="932688" y="4325112"/>
            <a:ext cx="128016" cy="128016"/>
          </a:xfrm>
          <a:prstGeom prst="rect">
            <a:avLst/>
          </a:prstGeom>
          <a:solidFill>
            <a:srgbClr val="7DAE5C"/>
          </a:solidFill>
          <a:ln w="5080">
            <a:solidFill>
              <a:srgbClr val="BBDBA8"/>
            </a:solidFill>
            <a:prstDash val="solid"/>
          </a:ln>
        </p:spPr>
      </p:sp>
      <p:sp>
        <p:nvSpPr>
          <p:cNvPr id="35" name="Shape 33"/>
          <p:cNvSpPr/>
          <p:nvPr/>
        </p:nvSpPr>
        <p:spPr>
          <a:xfrm>
            <a:off x="1069848" y="4325112"/>
            <a:ext cx="128016" cy="128016"/>
          </a:xfrm>
          <a:prstGeom prst="rect">
            <a:avLst/>
          </a:prstGeom>
          <a:solidFill>
            <a:srgbClr val="7DAE5C"/>
          </a:solidFill>
          <a:ln w="5080">
            <a:solidFill>
              <a:srgbClr val="BBDBA8"/>
            </a:solidFill>
            <a:prstDash val="solid"/>
          </a:ln>
        </p:spPr>
      </p:sp>
      <p:sp>
        <p:nvSpPr>
          <p:cNvPr id="36" name="Shape 34"/>
          <p:cNvSpPr/>
          <p:nvPr/>
        </p:nvSpPr>
        <p:spPr>
          <a:xfrm>
            <a:off x="1207008" y="4325112"/>
            <a:ext cx="128016" cy="128016"/>
          </a:xfrm>
          <a:prstGeom prst="rect">
            <a:avLst/>
          </a:prstGeom>
          <a:solidFill>
            <a:srgbClr val="7DAE5C"/>
          </a:solidFill>
          <a:ln w="5080">
            <a:solidFill>
              <a:srgbClr val="BBDBA8"/>
            </a:solidFill>
            <a:prstDash val="solid"/>
          </a:ln>
        </p:spPr>
      </p:sp>
      <p:sp>
        <p:nvSpPr>
          <p:cNvPr id="37" name="Shape 35"/>
          <p:cNvSpPr/>
          <p:nvPr/>
        </p:nvSpPr>
        <p:spPr>
          <a:xfrm>
            <a:off x="1344168" y="4325112"/>
            <a:ext cx="128016" cy="128016"/>
          </a:xfrm>
          <a:prstGeom prst="rect">
            <a:avLst/>
          </a:prstGeom>
          <a:solidFill>
            <a:srgbClr val="7DAE5C"/>
          </a:solidFill>
          <a:ln w="5080">
            <a:solidFill>
              <a:srgbClr val="BBDBA8"/>
            </a:solidFill>
            <a:prstDash val="solid"/>
          </a:ln>
        </p:spPr>
      </p:sp>
      <p:sp>
        <p:nvSpPr>
          <p:cNvPr id="38" name="Shape 36"/>
          <p:cNvSpPr/>
          <p:nvPr/>
        </p:nvSpPr>
        <p:spPr>
          <a:xfrm>
            <a:off x="384048" y="4462272"/>
            <a:ext cx="128016" cy="128016"/>
          </a:xfrm>
          <a:prstGeom prst="rect">
            <a:avLst/>
          </a:prstGeom>
          <a:solidFill>
            <a:srgbClr val="7DAE5C"/>
          </a:solidFill>
          <a:ln w="5080">
            <a:solidFill>
              <a:srgbClr val="BBDBA8"/>
            </a:solidFill>
            <a:prstDash val="solid"/>
          </a:ln>
        </p:spPr>
      </p:sp>
      <p:sp>
        <p:nvSpPr>
          <p:cNvPr id="39" name="Shape 37"/>
          <p:cNvSpPr/>
          <p:nvPr/>
        </p:nvSpPr>
        <p:spPr>
          <a:xfrm>
            <a:off x="521208" y="4462272"/>
            <a:ext cx="128016" cy="128016"/>
          </a:xfrm>
          <a:prstGeom prst="rect">
            <a:avLst/>
          </a:prstGeom>
          <a:solidFill>
            <a:srgbClr val="7DAE5C"/>
          </a:solidFill>
          <a:ln w="5080">
            <a:solidFill>
              <a:srgbClr val="BBDBA8"/>
            </a:solidFill>
            <a:prstDash val="solid"/>
          </a:ln>
        </p:spPr>
      </p:sp>
      <p:sp>
        <p:nvSpPr>
          <p:cNvPr id="40" name="Shape 38"/>
          <p:cNvSpPr/>
          <p:nvPr/>
        </p:nvSpPr>
        <p:spPr>
          <a:xfrm>
            <a:off x="658368" y="4462272"/>
            <a:ext cx="128016" cy="128016"/>
          </a:xfrm>
          <a:prstGeom prst="rect">
            <a:avLst/>
          </a:prstGeom>
          <a:solidFill>
            <a:srgbClr val="D5EBC8"/>
          </a:solidFill>
          <a:ln w="5080">
            <a:solidFill>
              <a:srgbClr val="BBDBA8"/>
            </a:solidFill>
            <a:prstDash val="solid"/>
          </a:ln>
        </p:spPr>
      </p:sp>
      <p:sp>
        <p:nvSpPr>
          <p:cNvPr id="41" name="Shape 39"/>
          <p:cNvSpPr/>
          <p:nvPr/>
        </p:nvSpPr>
        <p:spPr>
          <a:xfrm>
            <a:off x="795528" y="4462272"/>
            <a:ext cx="128016" cy="128016"/>
          </a:xfrm>
          <a:prstGeom prst="rect">
            <a:avLst/>
          </a:prstGeom>
          <a:solidFill>
            <a:srgbClr val="7DAE5C"/>
          </a:solidFill>
          <a:ln w="5080">
            <a:solidFill>
              <a:srgbClr val="BBDBA8"/>
            </a:solidFill>
            <a:prstDash val="solid"/>
          </a:ln>
        </p:spPr>
      </p:sp>
      <p:sp>
        <p:nvSpPr>
          <p:cNvPr id="42" name="Shape 40"/>
          <p:cNvSpPr/>
          <p:nvPr/>
        </p:nvSpPr>
        <p:spPr>
          <a:xfrm>
            <a:off x="932688" y="4462272"/>
            <a:ext cx="128016" cy="128016"/>
          </a:xfrm>
          <a:prstGeom prst="rect">
            <a:avLst/>
          </a:prstGeom>
          <a:solidFill>
            <a:srgbClr val="7DAE5C"/>
          </a:solidFill>
          <a:ln w="5080">
            <a:solidFill>
              <a:srgbClr val="BBDBA8"/>
            </a:solidFill>
            <a:prstDash val="solid"/>
          </a:ln>
        </p:spPr>
      </p:sp>
      <p:sp>
        <p:nvSpPr>
          <p:cNvPr id="43" name="Shape 41"/>
          <p:cNvSpPr/>
          <p:nvPr/>
        </p:nvSpPr>
        <p:spPr>
          <a:xfrm>
            <a:off x="1069848" y="4462272"/>
            <a:ext cx="128016" cy="128016"/>
          </a:xfrm>
          <a:prstGeom prst="rect">
            <a:avLst/>
          </a:prstGeom>
          <a:solidFill>
            <a:srgbClr val="D5EBC8"/>
          </a:solidFill>
          <a:ln w="5080">
            <a:solidFill>
              <a:srgbClr val="BBDBA8"/>
            </a:solidFill>
            <a:prstDash val="solid"/>
          </a:ln>
        </p:spPr>
      </p:sp>
      <p:sp>
        <p:nvSpPr>
          <p:cNvPr id="44" name="Shape 42"/>
          <p:cNvSpPr/>
          <p:nvPr/>
        </p:nvSpPr>
        <p:spPr>
          <a:xfrm>
            <a:off x="1207008" y="4462272"/>
            <a:ext cx="128016" cy="128016"/>
          </a:xfrm>
          <a:prstGeom prst="rect">
            <a:avLst/>
          </a:prstGeom>
          <a:solidFill>
            <a:srgbClr val="7DAE5C"/>
          </a:solidFill>
          <a:ln w="5080">
            <a:solidFill>
              <a:srgbClr val="BBDBA8"/>
            </a:solidFill>
            <a:prstDash val="solid"/>
          </a:ln>
        </p:spPr>
      </p:sp>
      <p:sp>
        <p:nvSpPr>
          <p:cNvPr id="45" name="Shape 43"/>
          <p:cNvSpPr/>
          <p:nvPr/>
        </p:nvSpPr>
        <p:spPr>
          <a:xfrm>
            <a:off x="1344168" y="4462272"/>
            <a:ext cx="128016" cy="128016"/>
          </a:xfrm>
          <a:prstGeom prst="rect">
            <a:avLst/>
          </a:prstGeom>
          <a:solidFill>
            <a:srgbClr val="7DAE5C"/>
          </a:solidFill>
          <a:ln w="5080">
            <a:solidFill>
              <a:srgbClr val="BBDBA8"/>
            </a:solidFill>
            <a:prstDash val="solid"/>
          </a:ln>
        </p:spPr>
      </p:sp>
      <p:sp>
        <p:nvSpPr>
          <p:cNvPr id="46" name="Shape 44"/>
          <p:cNvSpPr/>
          <p:nvPr/>
        </p:nvSpPr>
        <p:spPr>
          <a:xfrm>
            <a:off x="384048" y="4599432"/>
            <a:ext cx="128016" cy="128016"/>
          </a:xfrm>
          <a:prstGeom prst="rect">
            <a:avLst/>
          </a:prstGeom>
          <a:solidFill>
            <a:srgbClr val="7DAE5C"/>
          </a:solidFill>
          <a:ln w="5080">
            <a:solidFill>
              <a:srgbClr val="BBDBA8"/>
            </a:solidFill>
            <a:prstDash val="solid"/>
          </a:ln>
        </p:spPr>
      </p:sp>
      <p:sp>
        <p:nvSpPr>
          <p:cNvPr id="47" name="Shape 45"/>
          <p:cNvSpPr/>
          <p:nvPr/>
        </p:nvSpPr>
        <p:spPr>
          <a:xfrm>
            <a:off x="521208" y="4599432"/>
            <a:ext cx="128016" cy="128016"/>
          </a:xfrm>
          <a:prstGeom prst="rect">
            <a:avLst/>
          </a:prstGeom>
          <a:solidFill>
            <a:srgbClr val="7DAE5C"/>
          </a:solidFill>
          <a:ln w="5080">
            <a:solidFill>
              <a:srgbClr val="BBDBA8"/>
            </a:solidFill>
            <a:prstDash val="solid"/>
          </a:ln>
        </p:spPr>
      </p:sp>
      <p:sp>
        <p:nvSpPr>
          <p:cNvPr id="48" name="Shape 46"/>
          <p:cNvSpPr/>
          <p:nvPr/>
        </p:nvSpPr>
        <p:spPr>
          <a:xfrm>
            <a:off x="658368" y="4599432"/>
            <a:ext cx="128016" cy="128016"/>
          </a:xfrm>
          <a:prstGeom prst="rect">
            <a:avLst/>
          </a:prstGeom>
          <a:solidFill>
            <a:srgbClr val="7DAE5C"/>
          </a:solidFill>
          <a:ln w="5080">
            <a:solidFill>
              <a:srgbClr val="BBDBA8"/>
            </a:solidFill>
            <a:prstDash val="solid"/>
          </a:ln>
        </p:spPr>
      </p:sp>
      <p:sp>
        <p:nvSpPr>
          <p:cNvPr id="49" name="Shape 47"/>
          <p:cNvSpPr/>
          <p:nvPr/>
        </p:nvSpPr>
        <p:spPr>
          <a:xfrm>
            <a:off x="795528" y="4599432"/>
            <a:ext cx="128016" cy="128016"/>
          </a:xfrm>
          <a:prstGeom prst="rect">
            <a:avLst/>
          </a:prstGeom>
          <a:solidFill>
            <a:srgbClr val="D5EBC8"/>
          </a:solidFill>
          <a:ln w="5080">
            <a:solidFill>
              <a:srgbClr val="BBDBA8"/>
            </a:solidFill>
            <a:prstDash val="solid"/>
          </a:ln>
        </p:spPr>
      </p:sp>
      <p:sp>
        <p:nvSpPr>
          <p:cNvPr id="50" name="Shape 48"/>
          <p:cNvSpPr/>
          <p:nvPr/>
        </p:nvSpPr>
        <p:spPr>
          <a:xfrm>
            <a:off x="932688" y="4599432"/>
            <a:ext cx="128016" cy="128016"/>
          </a:xfrm>
          <a:prstGeom prst="rect">
            <a:avLst/>
          </a:prstGeom>
          <a:solidFill>
            <a:srgbClr val="D5EBC8"/>
          </a:solidFill>
          <a:ln w="5080">
            <a:solidFill>
              <a:srgbClr val="BBDBA8"/>
            </a:solidFill>
            <a:prstDash val="solid"/>
          </a:ln>
        </p:spPr>
      </p:sp>
      <p:sp>
        <p:nvSpPr>
          <p:cNvPr id="51" name="Shape 49"/>
          <p:cNvSpPr/>
          <p:nvPr/>
        </p:nvSpPr>
        <p:spPr>
          <a:xfrm>
            <a:off x="1069848" y="4599432"/>
            <a:ext cx="128016" cy="128016"/>
          </a:xfrm>
          <a:prstGeom prst="rect">
            <a:avLst/>
          </a:prstGeom>
          <a:solidFill>
            <a:srgbClr val="7DAE5C"/>
          </a:solidFill>
          <a:ln w="5080">
            <a:solidFill>
              <a:srgbClr val="BBDBA8"/>
            </a:solidFill>
            <a:prstDash val="solid"/>
          </a:ln>
        </p:spPr>
      </p:sp>
      <p:sp>
        <p:nvSpPr>
          <p:cNvPr id="52" name="Shape 50"/>
          <p:cNvSpPr/>
          <p:nvPr/>
        </p:nvSpPr>
        <p:spPr>
          <a:xfrm>
            <a:off x="1207008" y="4599432"/>
            <a:ext cx="128016" cy="128016"/>
          </a:xfrm>
          <a:prstGeom prst="rect">
            <a:avLst/>
          </a:prstGeom>
          <a:solidFill>
            <a:srgbClr val="7DAE5C"/>
          </a:solidFill>
          <a:ln w="5080">
            <a:solidFill>
              <a:srgbClr val="BBDBA8"/>
            </a:solidFill>
            <a:prstDash val="solid"/>
          </a:ln>
        </p:spPr>
      </p:sp>
      <p:sp>
        <p:nvSpPr>
          <p:cNvPr id="53" name="Shape 51"/>
          <p:cNvSpPr/>
          <p:nvPr/>
        </p:nvSpPr>
        <p:spPr>
          <a:xfrm>
            <a:off x="1344168" y="4599432"/>
            <a:ext cx="128016" cy="128016"/>
          </a:xfrm>
          <a:prstGeom prst="rect">
            <a:avLst/>
          </a:prstGeom>
          <a:solidFill>
            <a:srgbClr val="7DAE5C"/>
          </a:solidFill>
          <a:ln w="5080">
            <a:solidFill>
              <a:srgbClr val="BBDBA8"/>
            </a:solidFill>
            <a:prstDash val="solid"/>
          </a:ln>
        </p:spPr>
      </p:sp>
      <p:sp>
        <p:nvSpPr>
          <p:cNvPr id="54" name="Shape 52"/>
          <p:cNvSpPr/>
          <p:nvPr/>
        </p:nvSpPr>
        <p:spPr>
          <a:xfrm>
            <a:off x="384048" y="4736592"/>
            <a:ext cx="128016" cy="128016"/>
          </a:xfrm>
          <a:prstGeom prst="rect">
            <a:avLst/>
          </a:prstGeom>
          <a:solidFill>
            <a:srgbClr val="D5EBC8"/>
          </a:solidFill>
          <a:ln w="5080">
            <a:solidFill>
              <a:srgbClr val="BBDBA8"/>
            </a:solidFill>
            <a:prstDash val="solid"/>
          </a:ln>
        </p:spPr>
      </p:sp>
      <p:sp>
        <p:nvSpPr>
          <p:cNvPr id="55" name="Shape 53"/>
          <p:cNvSpPr/>
          <p:nvPr/>
        </p:nvSpPr>
        <p:spPr>
          <a:xfrm>
            <a:off x="521208" y="4736592"/>
            <a:ext cx="128016" cy="128016"/>
          </a:xfrm>
          <a:prstGeom prst="rect">
            <a:avLst/>
          </a:prstGeom>
          <a:solidFill>
            <a:srgbClr val="7DAE5C"/>
          </a:solidFill>
          <a:ln w="5080">
            <a:solidFill>
              <a:srgbClr val="BBDBA8"/>
            </a:solidFill>
            <a:prstDash val="solid"/>
          </a:ln>
        </p:spPr>
      </p:sp>
      <p:sp>
        <p:nvSpPr>
          <p:cNvPr id="56" name="Shape 54"/>
          <p:cNvSpPr/>
          <p:nvPr/>
        </p:nvSpPr>
        <p:spPr>
          <a:xfrm>
            <a:off x="658368" y="4736592"/>
            <a:ext cx="128016" cy="128016"/>
          </a:xfrm>
          <a:prstGeom prst="rect">
            <a:avLst/>
          </a:prstGeom>
          <a:solidFill>
            <a:srgbClr val="7DAE5C"/>
          </a:solidFill>
          <a:ln w="5080">
            <a:solidFill>
              <a:srgbClr val="BBDBA8"/>
            </a:solidFill>
            <a:prstDash val="solid"/>
          </a:ln>
        </p:spPr>
      </p:sp>
      <p:sp>
        <p:nvSpPr>
          <p:cNvPr id="57" name="Shape 55"/>
          <p:cNvSpPr/>
          <p:nvPr/>
        </p:nvSpPr>
        <p:spPr>
          <a:xfrm>
            <a:off x="795528" y="4736592"/>
            <a:ext cx="128016" cy="128016"/>
          </a:xfrm>
          <a:prstGeom prst="rect">
            <a:avLst/>
          </a:prstGeom>
          <a:solidFill>
            <a:srgbClr val="7DAE5C"/>
          </a:solidFill>
          <a:ln w="5080">
            <a:solidFill>
              <a:srgbClr val="BBDBA8"/>
            </a:solidFill>
            <a:prstDash val="solid"/>
          </a:ln>
        </p:spPr>
      </p:sp>
      <p:sp>
        <p:nvSpPr>
          <p:cNvPr id="58" name="Shape 56"/>
          <p:cNvSpPr/>
          <p:nvPr/>
        </p:nvSpPr>
        <p:spPr>
          <a:xfrm>
            <a:off x="932688" y="4736592"/>
            <a:ext cx="128016" cy="128016"/>
          </a:xfrm>
          <a:prstGeom prst="rect">
            <a:avLst/>
          </a:prstGeom>
          <a:solidFill>
            <a:srgbClr val="7DAE5C"/>
          </a:solidFill>
          <a:ln w="5080">
            <a:solidFill>
              <a:srgbClr val="BBDBA8"/>
            </a:solidFill>
            <a:prstDash val="solid"/>
          </a:ln>
        </p:spPr>
      </p:sp>
      <p:sp>
        <p:nvSpPr>
          <p:cNvPr id="59" name="Shape 57"/>
          <p:cNvSpPr/>
          <p:nvPr/>
        </p:nvSpPr>
        <p:spPr>
          <a:xfrm>
            <a:off x="1069848" y="4736592"/>
            <a:ext cx="128016" cy="128016"/>
          </a:xfrm>
          <a:prstGeom prst="rect">
            <a:avLst/>
          </a:prstGeom>
          <a:solidFill>
            <a:srgbClr val="7DAE5C"/>
          </a:solidFill>
          <a:ln w="5080">
            <a:solidFill>
              <a:srgbClr val="BBDBA8"/>
            </a:solidFill>
            <a:prstDash val="solid"/>
          </a:ln>
        </p:spPr>
      </p:sp>
      <p:sp>
        <p:nvSpPr>
          <p:cNvPr id="60" name="Shape 58"/>
          <p:cNvSpPr/>
          <p:nvPr/>
        </p:nvSpPr>
        <p:spPr>
          <a:xfrm>
            <a:off x="1207008" y="4736592"/>
            <a:ext cx="128016" cy="128016"/>
          </a:xfrm>
          <a:prstGeom prst="rect">
            <a:avLst/>
          </a:prstGeom>
          <a:solidFill>
            <a:srgbClr val="7DAE5C"/>
          </a:solidFill>
          <a:ln w="5080">
            <a:solidFill>
              <a:srgbClr val="BBDBA8"/>
            </a:solidFill>
            <a:prstDash val="solid"/>
          </a:ln>
        </p:spPr>
      </p:sp>
      <p:sp>
        <p:nvSpPr>
          <p:cNvPr id="61" name="Shape 59"/>
          <p:cNvSpPr/>
          <p:nvPr/>
        </p:nvSpPr>
        <p:spPr>
          <a:xfrm>
            <a:off x="1344168" y="4736592"/>
            <a:ext cx="128016" cy="128016"/>
          </a:xfrm>
          <a:prstGeom prst="rect">
            <a:avLst/>
          </a:prstGeom>
          <a:solidFill>
            <a:srgbClr val="D5EBC8"/>
          </a:solidFill>
          <a:ln w="5080">
            <a:solidFill>
              <a:srgbClr val="BBDBA8"/>
            </a:solidFill>
            <a:prstDash val="solid"/>
          </a:ln>
        </p:spPr>
      </p:sp>
      <p:sp>
        <p:nvSpPr>
          <p:cNvPr id="62" name="Shape 60"/>
          <p:cNvSpPr/>
          <p:nvPr/>
        </p:nvSpPr>
        <p:spPr>
          <a:xfrm>
            <a:off x="384048" y="4873752"/>
            <a:ext cx="128016" cy="128016"/>
          </a:xfrm>
          <a:prstGeom prst="rect">
            <a:avLst/>
          </a:prstGeom>
          <a:solidFill>
            <a:srgbClr val="D5EBC8"/>
          </a:solidFill>
          <a:ln w="5080">
            <a:solidFill>
              <a:srgbClr val="BBDBA8"/>
            </a:solidFill>
            <a:prstDash val="solid"/>
          </a:ln>
        </p:spPr>
      </p:sp>
      <p:sp>
        <p:nvSpPr>
          <p:cNvPr id="63" name="Shape 61"/>
          <p:cNvSpPr/>
          <p:nvPr/>
        </p:nvSpPr>
        <p:spPr>
          <a:xfrm>
            <a:off x="521208" y="4873752"/>
            <a:ext cx="128016" cy="128016"/>
          </a:xfrm>
          <a:prstGeom prst="rect">
            <a:avLst/>
          </a:prstGeom>
          <a:solidFill>
            <a:srgbClr val="D5EBC8"/>
          </a:solidFill>
          <a:ln w="5080">
            <a:solidFill>
              <a:srgbClr val="BBDBA8"/>
            </a:solidFill>
            <a:prstDash val="solid"/>
          </a:ln>
        </p:spPr>
      </p:sp>
      <p:sp>
        <p:nvSpPr>
          <p:cNvPr id="64" name="Shape 62"/>
          <p:cNvSpPr/>
          <p:nvPr/>
        </p:nvSpPr>
        <p:spPr>
          <a:xfrm>
            <a:off x="658368" y="4873752"/>
            <a:ext cx="128016" cy="128016"/>
          </a:xfrm>
          <a:prstGeom prst="rect">
            <a:avLst/>
          </a:prstGeom>
          <a:solidFill>
            <a:srgbClr val="7DAE5C"/>
          </a:solidFill>
          <a:ln w="5080">
            <a:solidFill>
              <a:srgbClr val="BBDBA8"/>
            </a:solidFill>
            <a:prstDash val="solid"/>
          </a:ln>
        </p:spPr>
      </p:sp>
      <p:sp>
        <p:nvSpPr>
          <p:cNvPr id="65" name="Shape 63"/>
          <p:cNvSpPr/>
          <p:nvPr/>
        </p:nvSpPr>
        <p:spPr>
          <a:xfrm>
            <a:off x="795528" y="4873752"/>
            <a:ext cx="128016" cy="128016"/>
          </a:xfrm>
          <a:prstGeom prst="rect">
            <a:avLst/>
          </a:prstGeom>
          <a:solidFill>
            <a:srgbClr val="7DAE5C"/>
          </a:solidFill>
          <a:ln w="5080">
            <a:solidFill>
              <a:srgbClr val="BBDBA8"/>
            </a:solidFill>
            <a:prstDash val="solid"/>
          </a:ln>
        </p:spPr>
      </p:sp>
      <p:sp>
        <p:nvSpPr>
          <p:cNvPr id="66" name="Shape 64"/>
          <p:cNvSpPr/>
          <p:nvPr/>
        </p:nvSpPr>
        <p:spPr>
          <a:xfrm>
            <a:off x="932688" y="4873752"/>
            <a:ext cx="128016" cy="128016"/>
          </a:xfrm>
          <a:prstGeom prst="rect">
            <a:avLst/>
          </a:prstGeom>
          <a:solidFill>
            <a:srgbClr val="7DAE5C"/>
          </a:solidFill>
          <a:ln w="5080">
            <a:solidFill>
              <a:srgbClr val="BBDBA8"/>
            </a:solidFill>
            <a:prstDash val="solid"/>
          </a:ln>
        </p:spPr>
      </p:sp>
      <p:sp>
        <p:nvSpPr>
          <p:cNvPr id="67" name="Shape 65"/>
          <p:cNvSpPr/>
          <p:nvPr/>
        </p:nvSpPr>
        <p:spPr>
          <a:xfrm>
            <a:off x="1069848" y="4873752"/>
            <a:ext cx="128016" cy="128016"/>
          </a:xfrm>
          <a:prstGeom prst="rect">
            <a:avLst/>
          </a:prstGeom>
          <a:solidFill>
            <a:srgbClr val="7DAE5C"/>
          </a:solidFill>
          <a:ln w="5080">
            <a:solidFill>
              <a:srgbClr val="BBDBA8"/>
            </a:solidFill>
            <a:prstDash val="solid"/>
          </a:ln>
        </p:spPr>
      </p:sp>
      <p:sp>
        <p:nvSpPr>
          <p:cNvPr id="68" name="Shape 66"/>
          <p:cNvSpPr/>
          <p:nvPr/>
        </p:nvSpPr>
        <p:spPr>
          <a:xfrm>
            <a:off x="1207008" y="4873752"/>
            <a:ext cx="128016" cy="128016"/>
          </a:xfrm>
          <a:prstGeom prst="rect">
            <a:avLst/>
          </a:prstGeom>
          <a:solidFill>
            <a:srgbClr val="D5EBC8"/>
          </a:solidFill>
          <a:ln w="5080">
            <a:solidFill>
              <a:srgbClr val="BBDBA8"/>
            </a:solidFill>
            <a:prstDash val="solid"/>
          </a:ln>
        </p:spPr>
      </p:sp>
      <p:sp>
        <p:nvSpPr>
          <p:cNvPr id="69" name="Shape 67"/>
          <p:cNvSpPr/>
          <p:nvPr/>
        </p:nvSpPr>
        <p:spPr>
          <a:xfrm>
            <a:off x="1344168" y="4873752"/>
            <a:ext cx="128016" cy="128016"/>
          </a:xfrm>
          <a:prstGeom prst="rect">
            <a:avLst/>
          </a:prstGeom>
          <a:solidFill>
            <a:srgbClr val="D5EBC8"/>
          </a:solidFill>
          <a:ln w="5080">
            <a:solidFill>
              <a:srgbClr val="BBDBA8"/>
            </a:solidFill>
            <a:prstDash val="solid"/>
          </a:ln>
        </p:spPr>
      </p:sp>
      <p:sp>
        <p:nvSpPr>
          <p:cNvPr id="70" name="Text 68"/>
          <p:cNvSpPr/>
          <p:nvPr/>
        </p:nvSpPr>
        <p:spPr>
          <a:xfrm>
            <a:off x="384048" y="3712464"/>
            <a:ext cx="1143000" cy="182880"/>
          </a:xfrm>
          <a:prstGeom prst="rect">
            <a:avLst/>
          </a:prstGeom>
          <a:noFill/>
          <a:ln/>
        </p:spPr>
        <p:txBody>
          <a:bodyPr wrap="square" lIns="0" tIns="0" rIns="0" bIns="0" rtlCol="0" anchor="ctr"/>
          <a:lstStyle/>
          <a:p>
            <a:pPr indent="0" marL="0">
              <a:buNone/>
            </a:pPr>
            <a:r>
              <a:rPr lang="en-US" sz="800" dirty="0">
                <a:solidFill>
                  <a:srgbClr val="637074"/>
                </a:solidFill>
                <a:latin typeface="Calibri" pitchFamily="34" charset="0"/>
                <a:ea typeface="Calibri" pitchFamily="34" charset="-122"/>
                <a:cs typeface="Calibri" pitchFamily="34" charset="-120"/>
              </a:rPr>
              <a:t>Sample pixel art food sprite</a:t>
            </a:r>
            <a:endParaRPr lang="en-US" sz="800" dirty="0"/>
          </a:p>
        </p:txBody>
      </p:sp>
      <p:sp>
        <p:nvSpPr>
          <p:cNvPr id="71" name="Shape 69"/>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72" name="Text 70"/>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73" name="Text 71"/>
          <p:cNvSpPr/>
          <p:nvPr/>
        </p:nvSpPr>
        <p:spPr>
          <a:xfrm>
            <a:off x="5440680" y="1325880"/>
            <a:ext cx="3246120" cy="214884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The integration between a pixel art food avatar creator and a real-world retail check-in reward economy within a food discovery application — where physical store visits earn virtual currency redeemable for digital avatar cosmetic items.</a:t>
            </a:r>
            <a:endParaRPr lang="en-US" sz="1250" dirty="0"/>
          </a:p>
          <a:p>
            <a:pPr indent="0" marL="0">
              <a:buNone/>
            </a:pPr>
            <a:endParaRPr lang="en-US" sz="1250" dirty="0"/>
          </a:p>
          <a:p>
            <a:pPr indent="0" marL="0">
              <a:buNone/>
            </a:pPr>
            <a:r>
              <a:rPr lang="en-US" sz="1250" i="1" dirty="0">
                <a:solidFill>
                  <a:srgbClr val="2C5F2D"/>
                </a:solidFill>
                <a:latin typeface="Calibri" pitchFamily="34" charset="0"/>
                <a:ea typeface="Calibri" pitchFamily="34" charset="-122"/>
                <a:cs typeface="Calibri" pitchFamily="34" charset="-120"/>
              </a:rPr>
              <a:t>Also: design patent for the specific pixel art food character visual aesthetic.</a:t>
            </a:r>
            <a:endParaRPr lang="en-US" sz="1250" dirty="0"/>
          </a:p>
        </p:txBody>
      </p:sp>
      <p:sp>
        <p:nvSpPr>
          <p:cNvPr id="74" name="Shape 72"/>
          <p:cNvSpPr/>
          <p:nvPr/>
        </p:nvSpPr>
        <p:spPr>
          <a:xfrm>
            <a:off x="5440680" y="3520440"/>
            <a:ext cx="3246120" cy="822960"/>
          </a:xfrm>
          <a:prstGeom prst="roundRect">
            <a:avLst>
              <a:gd name="adj" fmla="val 8889"/>
            </a:avLst>
          </a:prstGeom>
          <a:solidFill>
            <a:srgbClr val="D4EBC8"/>
          </a:solidFill>
          <a:ln/>
        </p:spPr>
      </p:sp>
      <p:sp>
        <p:nvSpPr>
          <p:cNvPr id="75" name="Text 73"/>
          <p:cNvSpPr/>
          <p:nvPr/>
        </p:nvSpPr>
        <p:spPr>
          <a:xfrm>
            <a:off x="5440680" y="3566160"/>
            <a:ext cx="3246120" cy="73152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Ask about design</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patent for visual</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aesthetic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12064"/>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Prior Art Awareness</a:t>
            </a:r>
            <a:endParaRPr lang="en-US" sz="3200" dirty="0"/>
          </a:p>
        </p:txBody>
      </p:sp>
      <p:sp>
        <p:nvSpPr>
          <p:cNvPr id="3" name="Text 1"/>
          <p:cNvSpPr/>
          <p:nvPr/>
        </p:nvSpPr>
        <p:spPr>
          <a:xfrm>
            <a:off x="365760" y="713232"/>
            <a:ext cx="8412480" cy="256032"/>
          </a:xfrm>
          <a:prstGeom prst="rect">
            <a:avLst/>
          </a:prstGeom>
          <a:noFill/>
          <a:ln/>
        </p:spPr>
        <p:txBody>
          <a:bodyPr wrap="square" lIns="0" tIns="0" rIns="0" bIns="0" rtlCol="0" anchor="ctr"/>
          <a:lstStyle/>
          <a:p>
            <a:pPr indent="0" marL="0">
              <a:buNone/>
            </a:pPr>
            <a:r>
              <a:rPr lang="en-US" sz="1350" i="1" dirty="0">
                <a:solidFill>
                  <a:srgbClr val="637074"/>
                </a:solidFill>
                <a:latin typeface="Calibri" pitchFamily="34" charset="0"/>
                <a:ea typeface="Calibri" pitchFamily="34" charset="-122"/>
                <a:cs typeface="Calibri" pitchFamily="34" charset="-120"/>
              </a:rPr>
              <a:t>Overlapping products exist — none combine all five elements</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8412480" cy="914400"/>
        </p:xfrm>
        <a:graphic>
          <a:graphicData uri="http://schemas.openxmlformats.org/drawingml/2006/table">
            <a:tbl>
              <a:tblPr/>
              <a:tblGrid>
                <a:gridCol w="1920240"/>
                <a:gridCol w="2468880"/>
                <a:gridCol w="4023360"/>
              </a:tblGrid>
              <a:tr h="438912">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Competitor</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Overlap</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Key Difference</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r>
              <a:tr h="438912">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Foursquare / Swarm</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Location check-ins, badges, gamification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No food data; no B2B retail intelligence reports sold to stores</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Yummly</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Recipe database, personalization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No check-ins; no B2B data layer; no avatar creator</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r h="438912">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Numerator</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Retail behavioral data collection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Passive receipt scanning only — no consumer engagement or gamification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Instacart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Grocery discovery, ingredient lists</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Online orders only; no gamification; no B2B data product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r h="438912">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Whatnot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Gamified commerce + coin economy</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Not food-related; no retail data; no recipe or map</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Kroger / Safeway Loyalty</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Store loyalty + behavioral data</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Single chain only — no cross-retailer intelligence; no recipes</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bl>
          </a:graphicData>
        </a:graphic>
      </p:graphicFrame>
      <p:sp>
        <p:nvSpPr>
          <p:cNvPr id="5" name="Shape 2"/>
          <p:cNvSpPr/>
          <p:nvPr/>
        </p:nvSpPr>
        <p:spPr>
          <a:xfrm>
            <a:off x="365760" y="4507992"/>
            <a:ext cx="8412480" cy="438912"/>
          </a:xfrm>
          <a:prstGeom prst="roundRect">
            <a:avLst>
              <a:gd name="adj" fmla="val 12500"/>
            </a:avLst>
          </a:prstGeom>
          <a:solidFill>
            <a:srgbClr val="E8F1E0"/>
          </a:solidFill>
          <a:ln w="12700">
            <a:solidFill>
              <a:srgbClr val="7DAE5C"/>
            </a:solidFill>
            <a:prstDash val="solid"/>
          </a:ln>
        </p:spPr>
      </p:sp>
      <p:sp>
        <p:nvSpPr>
          <p:cNvPr id="6" name="Text 3"/>
          <p:cNvSpPr/>
          <p:nvPr/>
        </p:nvSpPr>
        <p:spPr>
          <a:xfrm>
            <a:off x="502920" y="4553712"/>
            <a:ext cx="8229600" cy="347472"/>
          </a:xfrm>
          <a:prstGeom prst="rect">
            <a:avLst/>
          </a:prstGeom>
          <a:noFill/>
          <a:ln/>
        </p:spPr>
        <p:txBody>
          <a:bodyPr wrap="square" lIns="0" tIns="0" rIns="0" bIns="0" rtlCol="0" anchor="ctr"/>
          <a:lstStyle/>
          <a:p>
            <a:pPr algn="ctr" indent="0" marL="0">
              <a:buNone/>
            </a:pPr>
            <a:r>
              <a:rPr lang="en-US" sz="1250" b="1" dirty="0">
                <a:solidFill>
                  <a:srgbClr val="2C5F2D"/>
                </a:solidFill>
                <a:latin typeface="Cambria" pitchFamily="34" charset="0"/>
                <a:ea typeface="Cambria" pitchFamily="34" charset="-122"/>
                <a:cs typeface="Cambria" pitchFamily="34" charset="-120"/>
              </a:rPr>
              <a:t>No existing product combines: gamified check-ins + food recipes + B2B retail intelligence + pixel art avatar creator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Creation Timeline  &amp;  Priority Date Evidence</a:t>
            </a:r>
            <a:endParaRPr lang="en-US" sz="3200" dirty="0"/>
          </a:p>
        </p:txBody>
      </p:sp>
      <p:sp>
        <p:nvSpPr>
          <p:cNvPr id="3" name="Text 1"/>
          <p:cNvSpPr/>
          <p:nvPr/>
        </p:nvSpPr>
        <p:spPr>
          <a:xfrm>
            <a:off x="365760" y="731520"/>
            <a:ext cx="8412480" cy="256032"/>
          </a:xfrm>
          <a:prstGeom prst="rect">
            <a:avLst/>
          </a:prstGeom>
          <a:noFill/>
          <a:ln/>
        </p:spPr>
        <p:txBody>
          <a:bodyPr wrap="square" lIns="0" tIns="0" rIns="0" bIns="0" rtlCol="0" anchor="ctr"/>
          <a:lstStyle/>
          <a:p>
            <a:pPr indent="0" marL="0">
              <a:buNone/>
            </a:pPr>
            <a:r>
              <a:rPr lang="en-US" sz="1300" i="1" dirty="0">
                <a:solidFill>
                  <a:srgbClr val="8EB4E3"/>
                </a:solidFill>
                <a:latin typeface="Calibri" pitchFamily="34" charset="0"/>
                <a:ea typeface="Calibri" pitchFamily="34" charset="-122"/>
                <a:cs typeface="Calibri" pitchFamily="34" charset="-120"/>
              </a:rPr>
              <a:t>77+ timestamped commits in private GitHub repository — legal evidence of invention dates</a:t>
            </a:r>
            <a:endParaRPr lang="en-US" sz="1300" dirty="0"/>
          </a:p>
        </p:txBody>
      </p:sp>
      <p:sp>
        <p:nvSpPr>
          <p:cNvPr id="4" name="Shape 2"/>
          <p:cNvSpPr/>
          <p:nvPr/>
        </p:nvSpPr>
        <p:spPr>
          <a:xfrm>
            <a:off x="301752" y="1115568"/>
            <a:ext cx="320040" cy="320040"/>
          </a:xfrm>
          <a:prstGeom prst="ellipse">
            <a:avLst/>
          </a:prstGeom>
          <a:solidFill>
            <a:srgbClr val="7DAE5C"/>
          </a:solidFill>
          <a:ln/>
        </p:spPr>
      </p:sp>
      <p:sp>
        <p:nvSpPr>
          <p:cNvPr id="5" name="Shape 3"/>
          <p:cNvSpPr/>
          <p:nvPr/>
        </p:nvSpPr>
        <p:spPr>
          <a:xfrm>
            <a:off x="461772" y="1444752"/>
            <a:ext cx="0" cy="210312"/>
          </a:xfrm>
          <a:prstGeom prst="line">
            <a:avLst/>
          </a:prstGeom>
          <a:noFill/>
          <a:ln w="19050">
            <a:solidFill>
              <a:srgbClr val="7DAE5C"/>
            </a:solidFill>
            <a:prstDash val="dash"/>
          </a:ln>
        </p:spPr>
      </p:sp>
      <p:sp>
        <p:nvSpPr>
          <p:cNvPr id="6" name="Text 4"/>
          <p:cNvSpPr/>
          <p:nvPr/>
        </p:nvSpPr>
        <p:spPr>
          <a:xfrm>
            <a:off x="749808" y="1078992"/>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3</a:t>
            </a:r>
            <a:endParaRPr lang="en-US" sz="1200" dirty="0"/>
          </a:p>
        </p:txBody>
      </p:sp>
      <p:sp>
        <p:nvSpPr>
          <p:cNvPr id="7" name="Text 5"/>
          <p:cNvSpPr/>
          <p:nvPr/>
        </p:nvSpPr>
        <p:spPr>
          <a:xfrm>
            <a:off x="1938528" y="1078992"/>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Backend foundation</a:t>
            </a:r>
            <a:endParaRPr lang="en-US" sz="1200" dirty="0"/>
          </a:p>
        </p:txBody>
      </p:sp>
      <p:sp>
        <p:nvSpPr>
          <p:cNvPr id="8" name="Text 6"/>
          <p:cNvSpPr/>
          <p:nvPr/>
        </p:nvSpPr>
        <p:spPr>
          <a:xfrm>
            <a:off x="4133088" y="1078992"/>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Python/Flask setup · DataMonetization concept · dual-sided architecture defined</a:t>
            </a:r>
            <a:endParaRPr lang="en-US" sz="1050" dirty="0"/>
          </a:p>
        </p:txBody>
      </p:sp>
      <p:sp>
        <p:nvSpPr>
          <p:cNvPr id="9" name="Shape 7"/>
          <p:cNvSpPr/>
          <p:nvPr/>
        </p:nvSpPr>
        <p:spPr>
          <a:xfrm>
            <a:off x="301752" y="1691640"/>
            <a:ext cx="320040" cy="320040"/>
          </a:xfrm>
          <a:prstGeom prst="ellipse">
            <a:avLst/>
          </a:prstGeom>
          <a:solidFill>
            <a:srgbClr val="7DAE5C"/>
          </a:solidFill>
          <a:ln/>
        </p:spPr>
      </p:sp>
      <p:sp>
        <p:nvSpPr>
          <p:cNvPr id="10" name="Shape 8"/>
          <p:cNvSpPr/>
          <p:nvPr/>
        </p:nvSpPr>
        <p:spPr>
          <a:xfrm>
            <a:off x="461772" y="2020824"/>
            <a:ext cx="0" cy="210312"/>
          </a:xfrm>
          <a:prstGeom prst="line">
            <a:avLst/>
          </a:prstGeom>
          <a:noFill/>
          <a:ln w="19050">
            <a:solidFill>
              <a:srgbClr val="7DAE5C"/>
            </a:solidFill>
            <a:prstDash val="dash"/>
          </a:ln>
        </p:spPr>
      </p:sp>
      <p:sp>
        <p:nvSpPr>
          <p:cNvPr id="11" name="Text 9"/>
          <p:cNvSpPr/>
          <p:nvPr/>
        </p:nvSpPr>
        <p:spPr>
          <a:xfrm>
            <a:off x="749808" y="1655064"/>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11</a:t>
            </a:r>
            <a:endParaRPr lang="en-US" sz="1200" dirty="0"/>
          </a:p>
        </p:txBody>
      </p:sp>
      <p:sp>
        <p:nvSpPr>
          <p:cNvPr id="12" name="Text 10"/>
          <p:cNvSpPr/>
          <p:nvPr/>
        </p:nvSpPr>
        <p:spPr>
          <a:xfrm>
            <a:off x="1938528" y="1655064"/>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Frontend launch</a:t>
            </a:r>
            <a:endParaRPr lang="en-US" sz="1200" dirty="0"/>
          </a:p>
        </p:txBody>
      </p:sp>
      <p:sp>
        <p:nvSpPr>
          <p:cNvPr id="13" name="Text 11"/>
          <p:cNvSpPr/>
          <p:nvPr/>
        </p:nvSpPr>
        <p:spPr>
          <a:xfrm>
            <a:off x="4133088" y="1655064"/>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Pixel art system · Substitution engine · Barcode scanner · Asian recipe DB</a:t>
            </a:r>
            <a:endParaRPr lang="en-US" sz="1050" dirty="0"/>
          </a:p>
        </p:txBody>
      </p:sp>
      <p:sp>
        <p:nvSpPr>
          <p:cNvPr id="14" name="Shape 12"/>
          <p:cNvSpPr/>
          <p:nvPr/>
        </p:nvSpPr>
        <p:spPr>
          <a:xfrm>
            <a:off x="301752" y="2267712"/>
            <a:ext cx="320040" cy="320040"/>
          </a:xfrm>
          <a:prstGeom prst="ellipse">
            <a:avLst/>
          </a:prstGeom>
          <a:solidFill>
            <a:srgbClr val="7DAE5C"/>
          </a:solidFill>
          <a:ln/>
        </p:spPr>
      </p:sp>
      <p:sp>
        <p:nvSpPr>
          <p:cNvPr id="15" name="Shape 13"/>
          <p:cNvSpPr/>
          <p:nvPr/>
        </p:nvSpPr>
        <p:spPr>
          <a:xfrm>
            <a:off x="461772" y="2596896"/>
            <a:ext cx="0" cy="210312"/>
          </a:xfrm>
          <a:prstGeom prst="line">
            <a:avLst/>
          </a:prstGeom>
          <a:noFill/>
          <a:ln w="19050">
            <a:solidFill>
              <a:srgbClr val="7DAE5C"/>
            </a:solidFill>
            <a:prstDash val="dash"/>
          </a:ln>
        </p:spPr>
      </p:sp>
      <p:sp>
        <p:nvSpPr>
          <p:cNvPr id="16" name="Text 14"/>
          <p:cNvSpPr/>
          <p:nvPr/>
        </p:nvSpPr>
        <p:spPr>
          <a:xfrm>
            <a:off x="749808" y="2231136"/>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12</a:t>
            </a:r>
            <a:endParaRPr lang="en-US" sz="1200" dirty="0"/>
          </a:p>
        </p:txBody>
      </p:sp>
      <p:sp>
        <p:nvSpPr>
          <p:cNvPr id="17" name="Text 15"/>
          <p:cNvSpPr/>
          <p:nvPr/>
        </p:nvSpPr>
        <p:spPr>
          <a:xfrm>
            <a:off x="1938528" y="2231136"/>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29 commits (peak day)</a:t>
            </a:r>
            <a:endParaRPr lang="en-US" sz="1200" dirty="0"/>
          </a:p>
        </p:txBody>
      </p:sp>
      <p:sp>
        <p:nvSpPr>
          <p:cNvPr id="18" name="Text 16"/>
          <p:cNvSpPr/>
          <p:nvPr/>
        </p:nvSpPr>
        <p:spPr>
          <a:xfrm>
            <a:off x="4133088" y="2231136"/>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Global recipe DB: 43+ countries built in one day · Gamification history reel</a:t>
            </a:r>
            <a:endParaRPr lang="en-US" sz="1050" dirty="0"/>
          </a:p>
        </p:txBody>
      </p:sp>
      <p:sp>
        <p:nvSpPr>
          <p:cNvPr id="19" name="Shape 17"/>
          <p:cNvSpPr/>
          <p:nvPr/>
        </p:nvSpPr>
        <p:spPr>
          <a:xfrm>
            <a:off x="301752" y="2843784"/>
            <a:ext cx="320040" cy="320040"/>
          </a:xfrm>
          <a:prstGeom prst="ellipse">
            <a:avLst/>
          </a:prstGeom>
          <a:solidFill>
            <a:srgbClr val="7DAE5C"/>
          </a:solidFill>
          <a:ln/>
        </p:spPr>
      </p:sp>
      <p:sp>
        <p:nvSpPr>
          <p:cNvPr id="20" name="Shape 18"/>
          <p:cNvSpPr/>
          <p:nvPr/>
        </p:nvSpPr>
        <p:spPr>
          <a:xfrm>
            <a:off x="461772" y="3172968"/>
            <a:ext cx="0" cy="210312"/>
          </a:xfrm>
          <a:prstGeom prst="line">
            <a:avLst/>
          </a:prstGeom>
          <a:noFill/>
          <a:ln w="19050">
            <a:solidFill>
              <a:srgbClr val="7DAE5C"/>
            </a:solidFill>
            <a:prstDash val="dash"/>
          </a:ln>
        </p:spPr>
      </p:sp>
      <p:sp>
        <p:nvSpPr>
          <p:cNvPr id="21" name="Text 19"/>
          <p:cNvSpPr/>
          <p:nvPr/>
        </p:nvSpPr>
        <p:spPr>
          <a:xfrm>
            <a:off x="749808" y="2807208"/>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17</a:t>
            </a:r>
            <a:endParaRPr lang="en-US" sz="1200" dirty="0"/>
          </a:p>
        </p:txBody>
      </p:sp>
      <p:sp>
        <p:nvSpPr>
          <p:cNvPr id="22" name="Text 20"/>
          <p:cNvSpPr/>
          <p:nvPr/>
        </p:nvSpPr>
        <p:spPr>
          <a:xfrm>
            <a:off x="1938528" y="2807208"/>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23 commits</a:t>
            </a:r>
            <a:endParaRPr lang="en-US" sz="1200" dirty="0"/>
          </a:p>
        </p:txBody>
      </p:sp>
      <p:sp>
        <p:nvSpPr>
          <p:cNvPr id="23" name="Text 21"/>
          <p:cNvSpPr/>
          <p:nvPr/>
        </p:nvSpPr>
        <p:spPr>
          <a:xfrm>
            <a:off x="4133088" y="2807208"/>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Full analytics + B2B data layer · Market metrics system · Barcode AI pairing</a:t>
            </a:r>
            <a:endParaRPr lang="en-US" sz="1050" dirty="0"/>
          </a:p>
        </p:txBody>
      </p:sp>
      <p:sp>
        <p:nvSpPr>
          <p:cNvPr id="24" name="Shape 22"/>
          <p:cNvSpPr/>
          <p:nvPr/>
        </p:nvSpPr>
        <p:spPr>
          <a:xfrm>
            <a:off x="301752" y="3419856"/>
            <a:ext cx="320040" cy="320040"/>
          </a:xfrm>
          <a:prstGeom prst="ellipse">
            <a:avLst/>
          </a:prstGeom>
          <a:solidFill>
            <a:srgbClr val="7DAE5C"/>
          </a:solidFill>
          <a:ln/>
        </p:spPr>
      </p:sp>
      <p:sp>
        <p:nvSpPr>
          <p:cNvPr id="25" name="Shape 23"/>
          <p:cNvSpPr/>
          <p:nvPr/>
        </p:nvSpPr>
        <p:spPr>
          <a:xfrm>
            <a:off x="461772" y="3749040"/>
            <a:ext cx="0" cy="210312"/>
          </a:xfrm>
          <a:prstGeom prst="line">
            <a:avLst/>
          </a:prstGeom>
          <a:noFill/>
          <a:ln w="19050">
            <a:solidFill>
              <a:srgbClr val="7DAE5C"/>
            </a:solidFill>
            <a:prstDash val="dash"/>
          </a:ln>
        </p:spPr>
      </p:sp>
      <p:sp>
        <p:nvSpPr>
          <p:cNvPr id="26" name="Text 24"/>
          <p:cNvSpPr/>
          <p:nvPr/>
        </p:nvSpPr>
        <p:spPr>
          <a:xfrm>
            <a:off x="749808" y="3383280"/>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18</a:t>
            </a:r>
            <a:endParaRPr lang="en-US" sz="1200" dirty="0"/>
          </a:p>
        </p:txBody>
      </p:sp>
      <p:sp>
        <p:nvSpPr>
          <p:cNvPr id="27" name="Text 25"/>
          <p:cNvSpPr/>
          <p:nvPr/>
        </p:nvSpPr>
        <p:spPr>
          <a:xfrm>
            <a:off x="1938528" y="3383280"/>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B2B layer complete</a:t>
            </a:r>
            <a:endParaRPr lang="en-US" sz="1200" dirty="0"/>
          </a:p>
        </p:txBody>
      </p:sp>
      <p:sp>
        <p:nvSpPr>
          <p:cNvPr id="28" name="Text 26"/>
          <p:cNvSpPr/>
          <p:nvPr/>
        </p:nvSpPr>
        <p:spPr>
          <a:xfrm>
            <a:off x="4133088" y="3383280"/>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Market intelligence · Flavor intelligence · Recipe Remix Engine · Dietary Swap</a:t>
            </a:r>
            <a:endParaRPr lang="en-US" sz="1050" dirty="0"/>
          </a:p>
        </p:txBody>
      </p:sp>
      <p:sp>
        <p:nvSpPr>
          <p:cNvPr id="29" name="Shape 27"/>
          <p:cNvSpPr/>
          <p:nvPr/>
        </p:nvSpPr>
        <p:spPr>
          <a:xfrm>
            <a:off x="301752" y="3995928"/>
            <a:ext cx="320040" cy="320040"/>
          </a:xfrm>
          <a:prstGeom prst="ellipse">
            <a:avLst/>
          </a:prstGeom>
          <a:solidFill>
            <a:srgbClr val="7DAE5C"/>
          </a:solidFill>
          <a:ln/>
        </p:spPr>
      </p:sp>
      <p:sp>
        <p:nvSpPr>
          <p:cNvPr id="30" name="Text 28"/>
          <p:cNvSpPr/>
          <p:nvPr/>
        </p:nvSpPr>
        <p:spPr>
          <a:xfrm>
            <a:off x="749808" y="3959352"/>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25–30</a:t>
            </a:r>
            <a:endParaRPr lang="en-US" sz="1200" dirty="0"/>
          </a:p>
        </p:txBody>
      </p:sp>
      <p:sp>
        <p:nvSpPr>
          <p:cNvPr id="31" name="Text 29"/>
          <p:cNvSpPr/>
          <p:nvPr/>
        </p:nvSpPr>
        <p:spPr>
          <a:xfrm>
            <a:off x="1938528" y="3959352"/>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Advanced features</a:t>
            </a:r>
            <a:endParaRPr lang="en-US" sz="1200" dirty="0"/>
          </a:p>
        </p:txBody>
      </p:sp>
      <p:sp>
        <p:nvSpPr>
          <p:cNvPr id="32" name="Text 30"/>
          <p:cNvSpPr/>
          <p:nvPr/>
        </p:nvSpPr>
        <p:spPr>
          <a:xfrm>
            <a:off x="4133088" y="3959352"/>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Culinary science engine · Flavor pairing API · RecipeAlchemist · Map redesign</a:t>
            </a:r>
            <a:endParaRPr lang="en-US" sz="1050" dirty="0"/>
          </a:p>
        </p:txBody>
      </p:sp>
      <p:sp>
        <p:nvSpPr>
          <p:cNvPr id="33" name="Text 31"/>
          <p:cNvSpPr/>
          <p:nvPr/>
        </p:nvSpPr>
        <p:spPr>
          <a:xfrm>
            <a:off x="365760" y="4754880"/>
            <a:ext cx="8412480" cy="256032"/>
          </a:xfrm>
          <a:prstGeom prst="rect">
            <a:avLst/>
          </a:prstGeom>
          <a:noFill/>
          <a:ln/>
        </p:spPr>
        <p:txBody>
          <a:bodyPr wrap="square" lIns="0" tIns="0" rIns="0" bIns="0" rtlCol="0" anchor="ctr"/>
          <a:lstStyle/>
          <a:p>
            <a:pPr algn="ctr" indent="0" marL="0">
              <a:buNone/>
            </a:pPr>
            <a:r>
              <a:rPr lang="en-US" sz="1050" dirty="0">
                <a:solidFill>
                  <a:srgbClr val="7DAE5C"/>
                </a:solidFill>
                <a:latin typeface="Calibri" pitchFamily="34" charset="0"/>
                <a:ea typeface="Calibri" pitchFamily="34" charset="-122"/>
                <a:cs typeface="Calibri" pitchFamily="34" charset="-120"/>
              </a:rPr>
              <a:t>77+ commits  ·  70+ countries  ·  26,000+ recipes  ·  27 pages  ·  7 Python modules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Questions for Today's Meeting</a:t>
            </a:r>
            <a:endParaRPr lang="en-US" sz="3600" dirty="0"/>
          </a:p>
        </p:txBody>
      </p:sp>
      <p:sp>
        <p:nvSpPr>
          <p:cNvPr id="3" name="Shape 1"/>
          <p:cNvSpPr/>
          <p:nvPr/>
        </p:nvSpPr>
        <p:spPr>
          <a:xfrm>
            <a:off x="320040" y="950976"/>
            <a:ext cx="365760" cy="365760"/>
          </a:xfrm>
          <a:prstGeom prst="ellipse">
            <a:avLst/>
          </a:prstGeom>
          <a:solidFill>
            <a:srgbClr val="7DAE5C"/>
          </a:solidFill>
          <a:ln/>
        </p:spPr>
      </p:sp>
      <p:sp>
        <p:nvSpPr>
          <p:cNvPr id="4" name="Text 2"/>
          <p:cNvSpPr/>
          <p:nvPr/>
        </p:nvSpPr>
        <p:spPr>
          <a:xfrm>
            <a:off x="320040" y="950976"/>
            <a:ext cx="365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1</a:t>
            </a:r>
            <a:endParaRPr lang="en-US" sz="1400" dirty="0"/>
          </a:p>
        </p:txBody>
      </p:sp>
      <p:sp>
        <p:nvSpPr>
          <p:cNvPr id="5" name="Text 3"/>
          <p:cNvSpPr/>
          <p:nvPr/>
        </p:nvSpPr>
        <p:spPr>
          <a:xfrm>
            <a:off x="822960" y="896112"/>
            <a:ext cx="795528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Which of the five systems has the strongest basis for a utility patent claim?</a:t>
            </a:r>
            <a:endParaRPr lang="en-US" sz="1400" dirty="0"/>
          </a:p>
        </p:txBody>
      </p:sp>
      <p:sp>
        <p:nvSpPr>
          <p:cNvPr id="6" name="Shape 4"/>
          <p:cNvSpPr/>
          <p:nvPr/>
        </p:nvSpPr>
        <p:spPr>
          <a:xfrm>
            <a:off x="320040" y="1645920"/>
            <a:ext cx="365760" cy="365760"/>
          </a:xfrm>
          <a:prstGeom prst="ellipse">
            <a:avLst/>
          </a:prstGeom>
          <a:solidFill>
            <a:srgbClr val="7DAE5C"/>
          </a:solidFill>
          <a:ln/>
        </p:spPr>
      </p:sp>
      <p:sp>
        <p:nvSpPr>
          <p:cNvPr id="7" name="Text 5"/>
          <p:cNvSpPr/>
          <p:nvPr/>
        </p:nvSpPr>
        <p:spPr>
          <a:xfrm>
            <a:off x="320040" y="1645920"/>
            <a:ext cx="365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2</a:t>
            </a:r>
            <a:endParaRPr lang="en-US" sz="1400" dirty="0"/>
          </a:p>
        </p:txBody>
      </p:sp>
      <p:sp>
        <p:nvSpPr>
          <p:cNvPr id="8" name="Text 6"/>
          <p:cNvSpPr/>
          <p:nvPr/>
        </p:nvSpPr>
        <p:spPr>
          <a:xfrm>
            <a:off x="822960" y="1591056"/>
            <a:ext cx="795528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Should we file a provisional patent application today to lock in my priority date?</a:t>
            </a:r>
            <a:endParaRPr lang="en-US" sz="1400" dirty="0"/>
          </a:p>
        </p:txBody>
      </p:sp>
      <p:sp>
        <p:nvSpPr>
          <p:cNvPr id="9" name="Shape 7"/>
          <p:cNvSpPr/>
          <p:nvPr/>
        </p:nvSpPr>
        <p:spPr>
          <a:xfrm>
            <a:off x="320040" y="2340864"/>
            <a:ext cx="365760" cy="365760"/>
          </a:xfrm>
          <a:prstGeom prst="ellipse">
            <a:avLst/>
          </a:prstGeom>
          <a:solidFill>
            <a:srgbClr val="7DAE5C"/>
          </a:solidFill>
          <a:ln/>
        </p:spPr>
      </p:sp>
      <p:sp>
        <p:nvSpPr>
          <p:cNvPr id="10" name="Text 8"/>
          <p:cNvSpPr/>
          <p:nvPr/>
        </p:nvSpPr>
        <p:spPr>
          <a:xfrm>
            <a:off x="320040" y="2340864"/>
            <a:ext cx="365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3</a:t>
            </a:r>
            <a:endParaRPr lang="en-US" sz="1400" dirty="0"/>
          </a:p>
        </p:txBody>
      </p:sp>
      <p:sp>
        <p:nvSpPr>
          <p:cNvPr id="11" name="Text 9"/>
          <p:cNvSpPr/>
          <p:nvPr/>
        </p:nvSpPr>
        <p:spPr>
          <a:xfrm>
            <a:off x="822960" y="2286000"/>
            <a:ext cx="795528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For systems where patent protection is weak — is trade secret protection better?</a:t>
            </a:r>
            <a:endParaRPr lang="en-US" sz="1400" dirty="0"/>
          </a:p>
        </p:txBody>
      </p:sp>
      <p:sp>
        <p:nvSpPr>
          <p:cNvPr id="12" name="Shape 10"/>
          <p:cNvSpPr/>
          <p:nvPr/>
        </p:nvSpPr>
        <p:spPr>
          <a:xfrm>
            <a:off x="320040" y="3035808"/>
            <a:ext cx="365760" cy="365760"/>
          </a:xfrm>
          <a:prstGeom prst="ellipse">
            <a:avLst/>
          </a:prstGeom>
          <a:solidFill>
            <a:srgbClr val="7DAE5C"/>
          </a:solidFill>
          <a:ln/>
        </p:spPr>
      </p:sp>
      <p:sp>
        <p:nvSpPr>
          <p:cNvPr id="13" name="Text 11"/>
          <p:cNvSpPr/>
          <p:nvPr/>
        </p:nvSpPr>
        <p:spPr>
          <a:xfrm>
            <a:off x="320040" y="3035808"/>
            <a:ext cx="365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4</a:t>
            </a:r>
            <a:endParaRPr lang="en-US" sz="1400" dirty="0"/>
          </a:p>
        </p:txBody>
      </p:sp>
      <p:sp>
        <p:nvSpPr>
          <p:cNvPr id="14" name="Text 12"/>
          <p:cNvSpPr/>
          <p:nvPr/>
        </p:nvSpPr>
        <p:spPr>
          <a:xfrm>
            <a:off x="822960" y="2980944"/>
            <a:ext cx="795528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Does using AI coding tools (Claude by Anthropic) affect my inventorship or copyright ownership?</a:t>
            </a:r>
            <a:endParaRPr lang="en-US" sz="1400" dirty="0"/>
          </a:p>
        </p:txBody>
      </p:sp>
      <p:sp>
        <p:nvSpPr>
          <p:cNvPr id="15" name="Shape 13"/>
          <p:cNvSpPr/>
          <p:nvPr/>
        </p:nvSpPr>
        <p:spPr>
          <a:xfrm>
            <a:off x="320040" y="3730752"/>
            <a:ext cx="365760" cy="365760"/>
          </a:xfrm>
          <a:prstGeom prst="ellipse">
            <a:avLst/>
          </a:prstGeom>
          <a:solidFill>
            <a:srgbClr val="7DAE5C"/>
          </a:solidFill>
          <a:ln/>
        </p:spPr>
      </p:sp>
      <p:sp>
        <p:nvSpPr>
          <p:cNvPr id="16" name="Text 14"/>
          <p:cNvSpPr/>
          <p:nvPr/>
        </p:nvSpPr>
        <p:spPr>
          <a:xfrm>
            <a:off x="320040" y="3730752"/>
            <a:ext cx="365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5</a:t>
            </a:r>
            <a:endParaRPr lang="en-US" sz="1400" dirty="0"/>
          </a:p>
        </p:txBody>
      </p:sp>
      <p:sp>
        <p:nvSpPr>
          <p:cNvPr id="17" name="Text 15"/>
          <p:cNvSpPr/>
          <p:nvPr/>
        </p:nvSpPr>
        <p:spPr>
          <a:xfrm>
            <a:off x="822960" y="3675888"/>
            <a:ext cx="795528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What IP assignment documents do I need before bringing on co-founders or investors?</a:t>
            </a:r>
            <a:endParaRPr lang="en-US" sz="1400" dirty="0"/>
          </a:p>
        </p:txBody>
      </p:sp>
      <p:sp>
        <p:nvSpPr>
          <p:cNvPr id="18" name="Shape 16"/>
          <p:cNvSpPr/>
          <p:nvPr/>
        </p:nvSpPr>
        <p:spPr>
          <a:xfrm>
            <a:off x="320040" y="4425696"/>
            <a:ext cx="365760" cy="365760"/>
          </a:xfrm>
          <a:prstGeom prst="ellipse">
            <a:avLst/>
          </a:prstGeom>
          <a:solidFill>
            <a:srgbClr val="7DAE5C"/>
          </a:solidFill>
          <a:ln/>
        </p:spPr>
      </p:sp>
      <p:sp>
        <p:nvSpPr>
          <p:cNvPr id="19" name="Text 17"/>
          <p:cNvSpPr/>
          <p:nvPr/>
        </p:nvSpPr>
        <p:spPr>
          <a:xfrm>
            <a:off x="320040" y="4425696"/>
            <a:ext cx="365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6</a:t>
            </a:r>
            <a:endParaRPr lang="en-US" sz="1400" dirty="0"/>
          </a:p>
        </p:txBody>
      </p:sp>
      <p:sp>
        <p:nvSpPr>
          <p:cNvPr id="20" name="Text 18"/>
          <p:cNvSpPr/>
          <p:nvPr/>
        </p:nvSpPr>
        <p:spPr>
          <a:xfrm>
            <a:off x="822960" y="4370832"/>
            <a:ext cx="795528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Is 'Dig In' available as a trademark in Class 42 (software) and Class 43 (food services)?</a:t>
            </a:r>
            <a:endParaRPr lang="en-US" sz="1400" dirty="0"/>
          </a:p>
        </p:txBody>
      </p:sp>
      <p:sp>
        <p:nvSpPr>
          <p:cNvPr id="21" name="Text 19"/>
          <p:cNvSpPr/>
          <p:nvPr/>
        </p:nvSpPr>
        <p:spPr>
          <a:xfrm>
            <a:off x="365760" y="4800600"/>
            <a:ext cx="8412480" cy="228600"/>
          </a:xfrm>
          <a:prstGeom prst="rect">
            <a:avLst/>
          </a:prstGeom>
          <a:noFill/>
          <a:ln/>
        </p:spPr>
        <p:txBody>
          <a:bodyPr wrap="square" lIns="0" tIns="0" rIns="0" bIns="0" rtlCol="0" anchor="ctr"/>
          <a:lstStyle/>
          <a:p>
            <a:pPr algn="ctr" indent="0" marL="0">
              <a:buNone/>
            </a:pPr>
            <a:r>
              <a:rPr lang="en-US" sz="1000" dirty="0">
                <a:solidFill>
                  <a:srgbClr val="8EB4E3"/>
                </a:solidFill>
                <a:latin typeface="Calibri" pitchFamily="34" charset="0"/>
                <a:ea typeface="Calibri" pitchFamily="34" charset="-122"/>
                <a:cs typeface="Calibri" pitchFamily="34" charset="-120"/>
              </a:rPr>
              <a:t>Inventor: Olive Phillips  ·  July 2, 2026  ·  Confidential — Attorney-Client Privilege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 In — Patent Attorney Briefing</dc:title>
  <dc:subject>PptxGenJS Presentation</dc:subject>
  <dc:creator>Olive Phillips</dc:creator>
  <cp:lastModifiedBy>Olive Phillips</cp:lastModifiedBy>
  <cp:revision>1</cp:revision>
  <dcterms:created xsi:type="dcterms:W3CDTF">2026-07-02T19:28:00Z</dcterms:created>
  <dcterms:modified xsi:type="dcterms:W3CDTF">2026-07-02T19:28:00Z</dcterms:modified>
</cp:coreProperties>
</file>