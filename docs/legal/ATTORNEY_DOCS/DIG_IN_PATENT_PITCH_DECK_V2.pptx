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name is Olive Phillips and I am the sole inventor of Dig In. This is an updated briefing that builds on our prior conversation. Two major updates since we last spoke: first, I am planning national expansion to all 50 states (not just NYC and LA), which changes the scope of IP protection I need. Second, I have developed a detailed competitive moat analysis that I want to share so you understand why these patents are strategically critical to protecting my market 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our last meeting I have updated the scope of Dig In to target all 50 states, not just NYC and LA. The B2B market is ~63,000 US grocery stores. Even 5% adoption at $500/month average = $18.9M ARR potential. National expansion changes the patent strategy — I need to understand whether one filing covers all states and what the timeline looks like before I have significant market presence in multiple states.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systems are each independently patentable, but their real value is as an integrated whole. No competitor can buy System 01 (data pipeline) without the users that Systems 03 and 05 generate. No competitor can replicate System 03 (gamification) without the recipe content that System 02 feeds. This interdependence is the architecture that makes the IP portfolio defensible at national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my most novel invention — a fun consumer food app that passively generates B2B market intelligence for grocery stores. National expansion makes this more valuable: the more states with dense user coverage, the richer the cross-market data comparisons. I want to discuss whether the national scope should be written into the claims, or whether claims should be geography-agnostic.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user types something like 'I want something spicy and warm for dinner tonight.' My system decodes the craving into seven flavor layers, matches to 26,000 recipes, then finds which nearby stores have the ingredients cheapest. All from one natural language sentence. That three-step pipeline — craving to flavor to store — is the novel element.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system that generates the data for System 01. Every check-in creates a behavioral data point. At national scale, the check-in dataset becomes a real-time pulse of American grocery shopping behavior. No competitor has this because you can't build it without first building the consumer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Ingredient substitution systems exist, so this is probably my weakest standalone patent candidate. But the specific three-part structure — ratio adjustments, preparation notes, AND use-case restrictions together — may have novelty. Also, the integration with pantry scanning and the craving pipeline is distinctive. I want to ask whether trade secret protection is stronger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pixel art creator is the viral engine. Users share their pixel food characters on TikTok and Instagram — that organic sharing is what drives downloads without paid advertising. The visual aesthetic is distinctive enough that a design patent may protect the look even if the functionality isn't patentable. I want your guidance on whether the visual character style qualifies.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I've added Google Maps and Yelp to this updated prior art slide because they are the most likely companies to try to copy Dig In once it has traction. Neither has the combination. The novelty lives in the integration of all five systems — the combination is what no one has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new and addresses a concern investors raise — what stops a big company from copying this? The answer is that the moat is not any single feature. It is the combination of data density, switching costs, B2B relationships, and cultural brand. Patent protection on Systems 01 and 03 would make pillar 1 and 3 legally defensible, not just competitively defensible. That is why the IP strategy is critical to the business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new slide addressing the national expansion I'm planning. My original plan was NYC and LA only. I am now planning to cover all 50 states. This changes what IP protection I need and how urgently I need it. Specifically, I need to understand: does a single US patent cover all states automatically? Do I need to file the trademark now to protect 'Dig In' before I operate in 50 states? And if I eventually want to expand internationally, what is the PCT filing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have a complete, timestamped development history. Every change is logged with a date, time, and description in my private GitHub repository. I started the backend on June 3rd — the data pipeline idea came first. The frontend started June 11th. My most active day was June 12th with 29 commits — I built a global recipe database spanning 43 countries in one day. The full git log is available for attorney review to establish priority 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questions this time — three are new since the first meeting. Question 2 is new: national expansion changes whether PCT international filings matter and when. Question 3 is new and urgent: I am selling behavioral data across state lines and I need to know whether my architecture is legally compliant before I scale. Question 4 is new: trademark filing timing — I need 'Dig In' protected nationally before a competitor registers it. Question 1 remains the most time-sensitive: lock in my priority date today if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201168" y="201168"/>
            <a:ext cx="118872" cy="118872"/>
          </a:xfrm>
          <a:prstGeom prst="rect">
            <a:avLst/>
          </a:prstGeom>
          <a:solidFill>
            <a:srgbClr val="7DAE5C">
              <a:alpha val="75000"/>
            </a:srgbClr>
          </a:solidFill>
          <a:ln/>
        </p:spPr>
      </p:sp>
      <p:sp>
        <p:nvSpPr>
          <p:cNvPr id="3" name="Shape 1"/>
          <p:cNvSpPr/>
          <p:nvPr/>
        </p:nvSpPr>
        <p:spPr>
          <a:xfrm>
            <a:off x="347472" y="201168"/>
            <a:ext cx="118872" cy="118872"/>
          </a:xfrm>
          <a:prstGeom prst="rect">
            <a:avLst/>
          </a:prstGeom>
          <a:solidFill>
            <a:srgbClr val="7DAE5C">
              <a:alpha val="75000"/>
            </a:srgbClr>
          </a:solidFill>
          <a:ln/>
        </p:spPr>
      </p:sp>
      <p:sp>
        <p:nvSpPr>
          <p:cNvPr id="4" name="Shape 2"/>
          <p:cNvSpPr/>
          <p:nvPr/>
        </p:nvSpPr>
        <p:spPr>
          <a:xfrm>
            <a:off x="493776" y="201168"/>
            <a:ext cx="118872" cy="118872"/>
          </a:xfrm>
          <a:prstGeom prst="rect">
            <a:avLst/>
          </a:prstGeom>
          <a:solidFill>
            <a:srgbClr val="7DAE5C">
              <a:alpha val="75000"/>
            </a:srgbClr>
          </a:solidFill>
          <a:ln/>
        </p:spPr>
      </p:sp>
      <p:sp>
        <p:nvSpPr>
          <p:cNvPr id="5" name="Shape 3"/>
          <p:cNvSpPr/>
          <p:nvPr/>
        </p:nvSpPr>
        <p:spPr>
          <a:xfrm>
            <a:off x="201168" y="347472"/>
            <a:ext cx="118872" cy="118872"/>
          </a:xfrm>
          <a:prstGeom prst="rect">
            <a:avLst/>
          </a:prstGeom>
          <a:solidFill>
            <a:srgbClr val="7DAE5C">
              <a:alpha val="75000"/>
            </a:srgbClr>
          </a:solidFill>
          <a:ln/>
        </p:spPr>
      </p:sp>
      <p:sp>
        <p:nvSpPr>
          <p:cNvPr id="6" name="Shape 4"/>
          <p:cNvSpPr/>
          <p:nvPr/>
        </p:nvSpPr>
        <p:spPr>
          <a:xfrm>
            <a:off x="493776" y="347472"/>
            <a:ext cx="118872" cy="118872"/>
          </a:xfrm>
          <a:prstGeom prst="rect">
            <a:avLst/>
          </a:prstGeom>
          <a:solidFill>
            <a:srgbClr val="7DAE5C">
              <a:alpha val="75000"/>
            </a:srgbClr>
          </a:solidFill>
          <a:ln/>
        </p:spPr>
      </p:sp>
      <p:sp>
        <p:nvSpPr>
          <p:cNvPr id="7" name="Shape 5"/>
          <p:cNvSpPr/>
          <p:nvPr/>
        </p:nvSpPr>
        <p:spPr>
          <a:xfrm>
            <a:off x="201168" y="493776"/>
            <a:ext cx="118872" cy="118872"/>
          </a:xfrm>
          <a:prstGeom prst="rect">
            <a:avLst/>
          </a:prstGeom>
          <a:solidFill>
            <a:srgbClr val="7DAE5C">
              <a:alpha val="75000"/>
            </a:srgbClr>
          </a:solidFill>
          <a:ln/>
        </p:spPr>
      </p:sp>
      <p:sp>
        <p:nvSpPr>
          <p:cNvPr id="8" name="Shape 6"/>
          <p:cNvSpPr/>
          <p:nvPr/>
        </p:nvSpPr>
        <p:spPr>
          <a:xfrm>
            <a:off x="347472" y="493776"/>
            <a:ext cx="118872" cy="118872"/>
          </a:xfrm>
          <a:prstGeom prst="rect">
            <a:avLst/>
          </a:prstGeom>
          <a:solidFill>
            <a:srgbClr val="7DAE5C">
              <a:alpha val="75000"/>
            </a:srgbClr>
          </a:solidFill>
          <a:ln/>
        </p:spPr>
      </p:sp>
      <p:sp>
        <p:nvSpPr>
          <p:cNvPr id="9" name="Shape 7"/>
          <p:cNvSpPr/>
          <p:nvPr/>
        </p:nvSpPr>
        <p:spPr>
          <a:xfrm>
            <a:off x="493776" y="493776"/>
            <a:ext cx="118872" cy="118872"/>
          </a:xfrm>
          <a:prstGeom prst="rect">
            <a:avLst/>
          </a:prstGeom>
          <a:solidFill>
            <a:srgbClr val="7DAE5C">
              <a:alpha val="75000"/>
            </a:srgbClr>
          </a:solidFill>
          <a:ln/>
        </p:spPr>
      </p:sp>
      <p:sp>
        <p:nvSpPr>
          <p:cNvPr id="10" name="Shape 8"/>
          <p:cNvSpPr/>
          <p:nvPr/>
        </p:nvSpPr>
        <p:spPr>
          <a:xfrm>
            <a:off x="8412480" y="4617720"/>
            <a:ext cx="118872" cy="118872"/>
          </a:xfrm>
          <a:prstGeom prst="rect">
            <a:avLst/>
          </a:prstGeom>
          <a:solidFill>
            <a:srgbClr val="7DAE5C">
              <a:alpha val="75000"/>
            </a:srgbClr>
          </a:solidFill>
          <a:ln/>
        </p:spPr>
      </p:sp>
      <p:sp>
        <p:nvSpPr>
          <p:cNvPr id="11" name="Shape 9"/>
          <p:cNvSpPr/>
          <p:nvPr/>
        </p:nvSpPr>
        <p:spPr>
          <a:xfrm>
            <a:off x="8558784" y="4617720"/>
            <a:ext cx="118872" cy="118872"/>
          </a:xfrm>
          <a:prstGeom prst="rect">
            <a:avLst/>
          </a:prstGeom>
          <a:solidFill>
            <a:srgbClr val="7DAE5C">
              <a:alpha val="75000"/>
            </a:srgbClr>
          </a:solidFill>
          <a:ln/>
        </p:spPr>
      </p:sp>
      <p:sp>
        <p:nvSpPr>
          <p:cNvPr id="12" name="Shape 10"/>
          <p:cNvSpPr/>
          <p:nvPr/>
        </p:nvSpPr>
        <p:spPr>
          <a:xfrm>
            <a:off x="8705088" y="4617720"/>
            <a:ext cx="118872" cy="118872"/>
          </a:xfrm>
          <a:prstGeom prst="rect">
            <a:avLst/>
          </a:prstGeom>
          <a:solidFill>
            <a:srgbClr val="7DAE5C">
              <a:alpha val="75000"/>
            </a:srgbClr>
          </a:solidFill>
          <a:ln/>
        </p:spPr>
      </p:sp>
      <p:sp>
        <p:nvSpPr>
          <p:cNvPr id="13" name="Shape 11"/>
          <p:cNvSpPr/>
          <p:nvPr/>
        </p:nvSpPr>
        <p:spPr>
          <a:xfrm>
            <a:off x="8412480" y="4764024"/>
            <a:ext cx="118872" cy="118872"/>
          </a:xfrm>
          <a:prstGeom prst="rect">
            <a:avLst/>
          </a:prstGeom>
          <a:solidFill>
            <a:srgbClr val="7DAE5C">
              <a:alpha val="75000"/>
            </a:srgbClr>
          </a:solidFill>
          <a:ln/>
        </p:spPr>
      </p:sp>
      <p:sp>
        <p:nvSpPr>
          <p:cNvPr id="14" name="Shape 12"/>
          <p:cNvSpPr/>
          <p:nvPr/>
        </p:nvSpPr>
        <p:spPr>
          <a:xfrm>
            <a:off x="8705088" y="4764024"/>
            <a:ext cx="118872" cy="118872"/>
          </a:xfrm>
          <a:prstGeom prst="rect">
            <a:avLst/>
          </a:prstGeom>
          <a:solidFill>
            <a:srgbClr val="7DAE5C">
              <a:alpha val="75000"/>
            </a:srgbClr>
          </a:solidFill>
          <a:ln/>
        </p:spPr>
      </p:sp>
      <p:sp>
        <p:nvSpPr>
          <p:cNvPr id="15" name="Shape 13"/>
          <p:cNvSpPr/>
          <p:nvPr/>
        </p:nvSpPr>
        <p:spPr>
          <a:xfrm>
            <a:off x="8412480" y="4910328"/>
            <a:ext cx="118872" cy="118872"/>
          </a:xfrm>
          <a:prstGeom prst="rect">
            <a:avLst/>
          </a:prstGeom>
          <a:solidFill>
            <a:srgbClr val="7DAE5C">
              <a:alpha val="75000"/>
            </a:srgbClr>
          </a:solidFill>
          <a:ln/>
        </p:spPr>
      </p:sp>
      <p:sp>
        <p:nvSpPr>
          <p:cNvPr id="16" name="Shape 14"/>
          <p:cNvSpPr/>
          <p:nvPr/>
        </p:nvSpPr>
        <p:spPr>
          <a:xfrm>
            <a:off x="8558784" y="4910328"/>
            <a:ext cx="118872" cy="118872"/>
          </a:xfrm>
          <a:prstGeom prst="rect">
            <a:avLst/>
          </a:prstGeom>
          <a:solidFill>
            <a:srgbClr val="7DAE5C">
              <a:alpha val="75000"/>
            </a:srgbClr>
          </a:solidFill>
          <a:ln/>
        </p:spPr>
      </p:sp>
      <p:sp>
        <p:nvSpPr>
          <p:cNvPr id="17" name="Shape 15"/>
          <p:cNvSpPr/>
          <p:nvPr/>
        </p:nvSpPr>
        <p:spPr>
          <a:xfrm>
            <a:off x="8705088" y="4910328"/>
            <a:ext cx="118872" cy="118872"/>
          </a:xfrm>
          <a:prstGeom prst="rect">
            <a:avLst/>
          </a:prstGeom>
          <a:solidFill>
            <a:srgbClr val="7DAE5C">
              <a:alpha val="75000"/>
            </a:srgbClr>
          </a:solidFill>
          <a:ln/>
        </p:spPr>
      </p:sp>
      <p:sp>
        <p:nvSpPr>
          <p:cNvPr id="18" name="Text 16"/>
          <p:cNvSpPr/>
          <p:nvPr/>
        </p:nvSpPr>
        <p:spPr>
          <a:xfrm>
            <a:off x="457200" y="960120"/>
            <a:ext cx="8229600" cy="137160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DIG IN</a:t>
            </a:r>
            <a:endParaRPr lang="en-US" sz="8000" dirty="0"/>
          </a:p>
        </p:txBody>
      </p:sp>
      <p:sp>
        <p:nvSpPr>
          <p:cNvPr id="19" name="Text 17"/>
          <p:cNvSpPr/>
          <p:nvPr/>
        </p:nvSpPr>
        <p:spPr>
          <a:xfrm>
            <a:off x="457200" y="2377440"/>
            <a:ext cx="8229600" cy="530352"/>
          </a:xfrm>
          <a:prstGeom prst="rect">
            <a:avLst/>
          </a:prstGeom>
          <a:noFill/>
          <a:ln/>
        </p:spPr>
        <p:txBody>
          <a:bodyPr wrap="square" lIns="0" tIns="0" rIns="0" bIns="0" rtlCol="0" anchor="ctr"/>
          <a:lstStyle/>
          <a:p>
            <a:pPr algn="ctr" indent="0" marL="0">
              <a:buNone/>
            </a:pPr>
            <a:r>
              <a:rPr lang="en-US" sz="2800" dirty="0">
                <a:solidFill>
                  <a:srgbClr val="7DAE5C"/>
                </a:solidFill>
                <a:latin typeface="Calibri" pitchFamily="34" charset="0"/>
                <a:ea typeface="Calibri" pitchFamily="34" charset="-122"/>
                <a:cs typeface="Calibri" pitchFamily="34" charset="-120"/>
              </a:rPr>
              <a:t>Patent Attorney Briefing  ·  Updated</a:t>
            </a:r>
            <a:endParaRPr lang="en-US" sz="2800" dirty="0"/>
          </a:p>
        </p:txBody>
      </p:sp>
      <p:sp>
        <p:nvSpPr>
          <p:cNvPr id="20" name="Text 18"/>
          <p:cNvSpPr/>
          <p:nvPr/>
        </p:nvSpPr>
        <p:spPr>
          <a:xfrm>
            <a:off x="457200" y="2926080"/>
            <a:ext cx="8229600" cy="365760"/>
          </a:xfrm>
          <a:prstGeom prst="rect">
            <a:avLst/>
          </a:prstGeom>
          <a:noFill/>
          <a:ln/>
        </p:spPr>
        <p:txBody>
          <a:bodyPr wrap="square" lIns="0" tIns="0" rIns="0" bIns="0" rtlCol="0" anchor="ctr"/>
          <a:lstStyle/>
          <a:p>
            <a:pPr algn="ctr" indent="0" marL="0">
              <a:buNone/>
            </a:pPr>
            <a:r>
              <a:rPr lang="en-US" sz="1600" i="1" dirty="0">
                <a:solidFill>
                  <a:srgbClr val="8EB4E3"/>
                </a:solidFill>
                <a:latin typeface="Calibri" pitchFamily="34" charset="0"/>
                <a:ea typeface="Calibri" pitchFamily="34" charset="-122"/>
                <a:cs typeface="Calibri" pitchFamily="34" charset="-120"/>
              </a:rPr>
              <a:t>A Dual-Sided Food Technology Platform  ·  National Expansion Scope</a:t>
            </a:r>
            <a:endParaRPr lang="en-US" sz="1600" dirty="0"/>
          </a:p>
        </p:txBody>
      </p:sp>
      <p:sp>
        <p:nvSpPr>
          <p:cNvPr id="21" name="Text 19"/>
          <p:cNvSpPr/>
          <p:nvPr/>
        </p:nvSpPr>
        <p:spPr>
          <a:xfrm>
            <a:off x="457200" y="3703320"/>
            <a:ext cx="8229600" cy="320040"/>
          </a:xfrm>
          <a:prstGeom prst="rect">
            <a:avLst/>
          </a:prstGeom>
          <a:noFill/>
          <a:ln/>
        </p:spPr>
        <p:txBody>
          <a:bodyPr wrap="square" lIns="0" tIns="0" rIns="0" bIns="0" rtlCol="0" anchor="ctr"/>
          <a:lstStyle/>
          <a:p>
            <a:pPr algn="ctr" indent="0" marL="0">
              <a:buNone/>
            </a:pPr>
            <a:r>
              <a:rPr lang="en-US" sz="1300" dirty="0">
                <a:solidFill>
                  <a:srgbClr val="8EB4E3"/>
                </a:solidFill>
                <a:latin typeface="Calibri" pitchFamily="34" charset="0"/>
                <a:ea typeface="Calibri" pitchFamily="34" charset="-122"/>
                <a:cs typeface="Calibri" pitchFamily="34" charset="-120"/>
              </a:rPr>
              <a:t>Inventor: Olive Phillips  ·  daniellephllps5@gmail.com  ·  July 24, 2026</a:t>
            </a:r>
            <a:endParaRPr lang="en-US" sz="1300" dirty="0"/>
          </a:p>
        </p:txBody>
      </p:sp>
      <p:sp>
        <p:nvSpPr>
          <p:cNvPr id="22" name="Text 20"/>
          <p:cNvSpPr/>
          <p:nvPr/>
        </p:nvSpPr>
        <p:spPr>
          <a:xfrm>
            <a:off x="457200" y="4663440"/>
            <a:ext cx="8229600" cy="256032"/>
          </a:xfrm>
          <a:prstGeom prst="rect">
            <a:avLst/>
          </a:prstGeom>
          <a:noFill/>
          <a:ln/>
        </p:spPr>
        <p:txBody>
          <a:bodyPr wrap="square" lIns="0" tIns="0" rIns="0" bIns="0" rtlCol="0" anchor="ctr"/>
          <a:lstStyle/>
          <a:p>
            <a:pPr algn="ctr" indent="0" marL="0">
              <a:buNone/>
            </a:pPr>
            <a:r>
              <a:rPr lang="en-US" sz="1100" b="1" spc="200" kern="0" dirty="0">
                <a:solidFill>
                  <a:srgbClr val="D4AF37"/>
                </a:solidFill>
                <a:latin typeface="Calibri" pitchFamily="34" charset="0"/>
                <a:ea typeface="Calibri" pitchFamily="34" charset="-122"/>
                <a:cs typeface="Calibri" pitchFamily="34" charset="-120"/>
              </a:rPr>
              <a:t>CONFIDENTIAL  —  ATTORNEY-CLIENT PRIVILEGE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56032"/>
            <a:ext cx="8412480" cy="548640"/>
          </a:xfrm>
          <a:prstGeom prst="rect">
            <a:avLst/>
          </a:prstGeom>
          <a:noFill/>
          <a:ln/>
        </p:spPr>
        <p:txBody>
          <a:bodyPr wrap="square" lIns="0" tIns="0" rIns="0" bIns="0" rtlCol="0" anchor="ctr"/>
          <a:lstStyle/>
          <a:p>
            <a:pPr indent="0" marL="0">
              <a:buNone/>
            </a:pPr>
            <a:r>
              <a:rPr lang="en-US" sz="3600" b="1" dirty="0">
                <a:solidFill>
                  <a:srgbClr val="1B2A4A"/>
                </a:solidFill>
                <a:latin typeface="Cambria" pitchFamily="34" charset="0"/>
                <a:ea typeface="Cambria" pitchFamily="34" charset="-122"/>
                <a:cs typeface="Cambria" pitchFamily="34" charset="-120"/>
              </a:rPr>
              <a:t>What Is Dig In?</a:t>
            </a:r>
            <a:endParaRPr lang="en-US" sz="3600" dirty="0"/>
          </a:p>
        </p:txBody>
      </p:sp>
      <p:sp>
        <p:nvSpPr>
          <p:cNvPr id="3" name="Shape 1"/>
          <p:cNvSpPr/>
          <p:nvPr/>
        </p:nvSpPr>
        <p:spPr>
          <a:xfrm>
            <a:off x="320040" y="960120"/>
            <a:ext cx="3931920" cy="3246120"/>
          </a:xfrm>
          <a:prstGeom prst="roundRect">
            <a:avLst>
              <a:gd name="adj" fmla="val 2817"/>
            </a:avLst>
          </a:prstGeom>
          <a:solidFill>
            <a:srgbClr val="F0F4F8"/>
          </a:solidFill>
          <a:ln/>
          <a:effectLst>
            <a:outerShdw sx="100000" sy="100000" kx="0" ky="0" algn="bl" rotWithShape="0" blurRad="101600" dist="38100" dir="2700000">
              <a:srgbClr val="000000">
                <a:alpha val="12000"/>
              </a:srgbClr>
            </a:outerShdw>
          </a:effectLst>
        </p:spPr>
      </p:sp>
      <p:sp>
        <p:nvSpPr>
          <p:cNvPr id="4" name="Text 2"/>
          <p:cNvSpPr/>
          <p:nvPr/>
        </p:nvSpPr>
        <p:spPr>
          <a:xfrm>
            <a:off x="411480" y="1069848"/>
            <a:ext cx="3749040" cy="274320"/>
          </a:xfrm>
          <a:prstGeom prst="rect">
            <a:avLst/>
          </a:prstGeom>
          <a:noFill/>
          <a:ln/>
        </p:spPr>
        <p:txBody>
          <a:bodyPr wrap="square" lIns="0" tIns="0" rIns="0" bIns="0" rtlCol="0" anchor="ctr"/>
          <a:lstStyle/>
          <a:p>
            <a:pPr algn="ctr" indent="0" marL="0">
              <a:buNone/>
            </a:pPr>
            <a:r>
              <a:rPr lang="en-US" sz="1050" b="1" spc="200" kern="0" dirty="0">
                <a:solidFill>
                  <a:srgbClr val="7DAE5C"/>
                </a:solidFill>
                <a:latin typeface="Calibri" pitchFamily="34" charset="0"/>
                <a:ea typeface="Calibri" pitchFamily="34" charset="-122"/>
                <a:cs typeface="Calibri" pitchFamily="34" charset="-120"/>
              </a:rPr>
              <a:t>CONSUMER APP</a:t>
            </a:r>
            <a:endParaRPr lang="en-US" sz="1050" dirty="0"/>
          </a:p>
        </p:txBody>
      </p:sp>
      <p:sp>
        <p:nvSpPr>
          <p:cNvPr id="5" name="Text 3"/>
          <p:cNvSpPr/>
          <p:nvPr/>
        </p:nvSpPr>
        <p:spPr>
          <a:xfrm>
            <a:off x="411480" y="1353312"/>
            <a:ext cx="3749040" cy="384048"/>
          </a:xfrm>
          <a:prstGeom prst="rect">
            <a:avLst/>
          </a:prstGeom>
          <a:noFill/>
          <a:ln/>
        </p:spPr>
        <p:txBody>
          <a:bodyPr wrap="square" lIns="0" tIns="0" rIns="0" bIns="0" rtlCol="0" anchor="ctr"/>
          <a:lstStyle/>
          <a:p>
            <a:pPr algn="ctr" indent="0" marL="0">
              <a:buNone/>
            </a:pPr>
            <a:r>
              <a:rPr lang="en-US" sz="1900" b="1" dirty="0">
                <a:solidFill>
                  <a:srgbClr val="1B2A4A"/>
                </a:solidFill>
                <a:latin typeface="Cambria" pitchFamily="34" charset="0"/>
                <a:ea typeface="Cambria" pitchFamily="34" charset="-122"/>
                <a:cs typeface="Cambria" pitchFamily="34" charset="-120"/>
              </a:rPr>
              <a:t>Gamified Food Discovery</a:t>
            </a:r>
            <a:endParaRPr lang="en-US" sz="1900" dirty="0"/>
          </a:p>
        </p:txBody>
      </p:sp>
      <p:sp>
        <p:nvSpPr>
          <p:cNvPr id="6" name="Text 4"/>
          <p:cNvSpPr/>
          <p:nvPr/>
        </p:nvSpPr>
        <p:spPr>
          <a:xfrm>
            <a:off x="457200" y="1792224"/>
            <a:ext cx="3657600" cy="2194560"/>
          </a:xfrm>
          <a:prstGeom prst="rect">
            <a:avLst/>
          </a:prstGeom>
          <a:noFill/>
          <a:ln/>
        </p:spPr>
        <p:txBody>
          <a:bodyPr wrap="square" rtlCol="0" anchor="ctr"/>
          <a:lstStyle/>
          <a:p>
            <a:pPr marL="342900" indent="-342900">
              <a:spcAft>
                <a:spcPts val="400"/>
              </a:spcAft>
              <a:buSzPct val="100000"/>
              <a:buChar char="•"/>
            </a:pPr>
            <a:r>
              <a:rPr lang="en-US" sz="1300" dirty="0">
                <a:solidFill>
                  <a:srgbClr val="2D3436"/>
                </a:solidFill>
                <a:latin typeface="Calibri" pitchFamily="34" charset="0"/>
                <a:ea typeface="Calibri" pitchFamily="34" charset="-122"/>
                <a:cs typeface="Calibri" pitchFamily="34" charset="-120"/>
              </a:rPr>
              <a:t>Interactive pixel-art map of grocery stores</a:t>
            </a:r>
            <a:endParaRPr lang="en-US" sz="1300" dirty="0"/>
          </a:p>
          <a:p>
            <a:pPr marL="342900" indent="-342900">
              <a:spcAft>
                <a:spcPts val="400"/>
              </a:spcAft>
              <a:buSzPct val="100000"/>
              <a:buChar char="•"/>
            </a:pPr>
            <a:r>
              <a:rPr lang="en-US" sz="1300" dirty="0">
                <a:solidFill>
                  <a:srgbClr val="2D3436"/>
                </a:solidFill>
                <a:latin typeface="Calibri" pitchFamily="34" charset="0"/>
                <a:ea typeface="Calibri" pitchFamily="34" charset="-122"/>
                <a:cs typeface="Calibri" pitchFamily="34" charset="-120"/>
              </a:rPr>
              <a:t>26,000+ recipes across 70+ countries</a:t>
            </a:r>
            <a:endParaRPr lang="en-US" sz="1300" dirty="0"/>
          </a:p>
          <a:p>
            <a:pPr marL="342900" indent="-342900">
              <a:spcAft>
                <a:spcPts val="400"/>
              </a:spcAft>
              <a:buSzPct val="100000"/>
              <a:buChar char="•"/>
            </a:pPr>
            <a:r>
              <a:rPr lang="en-US" sz="1300" dirty="0">
                <a:solidFill>
                  <a:srgbClr val="2D3436"/>
                </a:solidFill>
                <a:latin typeface="Calibri" pitchFamily="34" charset="0"/>
                <a:ea typeface="Calibri" pitchFamily="34" charset="-122"/>
                <a:cs typeface="Calibri" pitchFamily="34" charset="-120"/>
              </a:rPr>
              <a:t>Coin rewards for real-world store visits</a:t>
            </a:r>
            <a:endParaRPr lang="en-US" sz="1300" dirty="0"/>
          </a:p>
          <a:p>
            <a:pPr marL="342900" indent="-342900">
              <a:spcAft>
                <a:spcPts val="400"/>
              </a:spcAft>
              <a:buSzPct val="100000"/>
              <a:buChar char="•"/>
            </a:pPr>
            <a:r>
              <a:rPr lang="en-US" sz="1300" dirty="0">
                <a:solidFill>
                  <a:srgbClr val="2D3436"/>
                </a:solidFill>
                <a:latin typeface="Calibri" pitchFamily="34" charset="0"/>
                <a:ea typeface="Calibri" pitchFamily="34" charset="-122"/>
                <a:cs typeface="Calibri" pitchFamily="34" charset="-120"/>
              </a:rPr>
              <a:t>Pixel art food avatar creator</a:t>
            </a:r>
            <a:endParaRPr lang="en-US" sz="1300" dirty="0"/>
          </a:p>
          <a:p>
            <a:pPr marL="342900" indent="-342900">
              <a:spcAft>
                <a:spcPts val="400"/>
              </a:spcAft>
              <a:buSzPct val="100000"/>
              <a:buChar char="•"/>
            </a:pPr>
            <a:r>
              <a:rPr lang="en-US" sz="1300" dirty="0">
                <a:solidFill>
                  <a:srgbClr val="2D3436"/>
                </a:solidFill>
                <a:latin typeface="Calibri" pitchFamily="34" charset="0"/>
                <a:ea typeface="Calibri" pitchFamily="34" charset="-122"/>
                <a:cs typeface="Calibri" pitchFamily="34" charset="-120"/>
              </a:rPr>
              <a:t>Ingredient substitution engine (300+ rules)</a:t>
            </a:r>
            <a:endParaRPr lang="en-US" sz="1300" dirty="0"/>
          </a:p>
          <a:p>
            <a:pPr marL="342900" indent="-342900">
              <a:spcAft>
                <a:spcPts val="400"/>
              </a:spcAft>
              <a:buSzPct val="100000"/>
              <a:buChar char="•"/>
            </a:pPr>
            <a:r>
              <a:rPr lang="en-US" sz="1300" dirty="0">
                <a:solidFill>
                  <a:srgbClr val="2D3436"/>
                </a:solidFill>
                <a:latin typeface="Calibri" pitchFamily="34" charset="0"/>
                <a:ea typeface="Calibri" pitchFamily="34" charset="-122"/>
                <a:cs typeface="Calibri" pitchFamily="34" charset="-120"/>
              </a:rPr>
              <a:t>Natural language craving → recipe match</a:t>
            </a:r>
            <a:endParaRPr lang="en-US" sz="1300" dirty="0"/>
          </a:p>
        </p:txBody>
      </p:sp>
      <p:sp>
        <p:nvSpPr>
          <p:cNvPr id="7" name="Shape 5"/>
          <p:cNvSpPr/>
          <p:nvPr/>
        </p:nvSpPr>
        <p:spPr>
          <a:xfrm>
            <a:off x="4892040" y="960120"/>
            <a:ext cx="3931920" cy="3246120"/>
          </a:xfrm>
          <a:prstGeom prst="roundRect">
            <a:avLst>
              <a:gd name="adj" fmla="val 2817"/>
            </a:avLst>
          </a:prstGeom>
          <a:solidFill>
            <a:srgbClr val="EEF6E7"/>
          </a:solidFill>
          <a:ln/>
          <a:effectLst>
            <a:outerShdw sx="100000" sy="100000" kx="0" ky="0" algn="bl" rotWithShape="0" blurRad="101600" dist="38100" dir="2700000">
              <a:srgbClr val="000000">
                <a:alpha val="12000"/>
              </a:srgbClr>
            </a:outerShdw>
          </a:effectLst>
        </p:spPr>
      </p:sp>
      <p:sp>
        <p:nvSpPr>
          <p:cNvPr id="8" name="Text 6"/>
          <p:cNvSpPr/>
          <p:nvPr/>
        </p:nvSpPr>
        <p:spPr>
          <a:xfrm>
            <a:off x="4983480" y="1069848"/>
            <a:ext cx="3749040" cy="274320"/>
          </a:xfrm>
          <a:prstGeom prst="rect">
            <a:avLst/>
          </a:prstGeom>
          <a:noFill/>
          <a:ln/>
        </p:spPr>
        <p:txBody>
          <a:bodyPr wrap="square" lIns="0" tIns="0" rIns="0" bIns="0" rtlCol="0" anchor="ctr"/>
          <a:lstStyle/>
          <a:p>
            <a:pPr algn="ctr" indent="0" marL="0">
              <a:buNone/>
            </a:pPr>
            <a:r>
              <a:rPr lang="en-US" sz="1050" b="1" spc="200" kern="0" dirty="0">
                <a:solidFill>
                  <a:srgbClr val="7DAE5C"/>
                </a:solidFill>
                <a:latin typeface="Calibri" pitchFamily="34" charset="0"/>
                <a:ea typeface="Calibri" pitchFamily="34" charset="-122"/>
                <a:cs typeface="Calibri" pitchFamily="34" charset="-120"/>
              </a:rPr>
              <a:t>B2B DATA INTELLIGENCE</a:t>
            </a:r>
            <a:endParaRPr lang="en-US" sz="1050" dirty="0"/>
          </a:p>
        </p:txBody>
      </p:sp>
      <p:sp>
        <p:nvSpPr>
          <p:cNvPr id="9" name="Text 7"/>
          <p:cNvSpPr/>
          <p:nvPr/>
        </p:nvSpPr>
        <p:spPr>
          <a:xfrm>
            <a:off x="4983480" y="1353312"/>
            <a:ext cx="3749040" cy="384048"/>
          </a:xfrm>
          <a:prstGeom prst="rect">
            <a:avLst/>
          </a:prstGeom>
          <a:noFill/>
          <a:ln/>
        </p:spPr>
        <p:txBody>
          <a:bodyPr wrap="square" lIns="0" tIns="0" rIns="0" bIns="0" rtlCol="0" anchor="ctr"/>
          <a:lstStyle/>
          <a:p>
            <a:pPr algn="ctr" indent="0" marL="0">
              <a:buNone/>
            </a:pPr>
            <a:r>
              <a:rPr lang="en-US" sz="1900" b="1" dirty="0">
                <a:solidFill>
                  <a:srgbClr val="1B2A4A"/>
                </a:solidFill>
                <a:latin typeface="Cambria" pitchFamily="34" charset="0"/>
                <a:ea typeface="Cambria" pitchFamily="34" charset="-122"/>
                <a:cs typeface="Cambria" pitchFamily="34" charset="-120"/>
              </a:rPr>
              <a:t>National Retail Intelligence</a:t>
            </a:r>
            <a:endParaRPr lang="en-US" sz="1900" dirty="0"/>
          </a:p>
        </p:txBody>
      </p:sp>
      <p:sp>
        <p:nvSpPr>
          <p:cNvPr id="10" name="Text 8"/>
          <p:cNvSpPr/>
          <p:nvPr/>
        </p:nvSpPr>
        <p:spPr>
          <a:xfrm>
            <a:off x="5029200" y="1792224"/>
            <a:ext cx="3657600" cy="2194560"/>
          </a:xfrm>
          <a:prstGeom prst="rect">
            <a:avLst/>
          </a:prstGeom>
          <a:noFill/>
          <a:ln/>
        </p:spPr>
        <p:txBody>
          <a:bodyPr wrap="square" rtlCol="0" anchor="ctr"/>
          <a:lstStyle/>
          <a:p>
            <a:pPr marL="342900" indent="-342900">
              <a:spcAft>
                <a:spcPts val="400"/>
              </a:spcAft>
              <a:buSzPct val="100000"/>
              <a:buChar char="•"/>
            </a:pPr>
            <a:r>
              <a:rPr lang="en-US" sz="1300" dirty="0">
                <a:solidFill>
                  <a:srgbClr val="2D3436"/>
                </a:solidFill>
                <a:latin typeface="Calibri" pitchFamily="34" charset="0"/>
                <a:ea typeface="Calibri" pitchFamily="34" charset="-122"/>
                <a:cs typeface="Calibri" pitchFamily="34" charset="-120"/>
              </a:rPr>
              <a:t>Every app interaction → anonymized behavioral data point</a:t>
            </a:r>
            <a:endParaRPr lang="en-US" sz="1300" dirty="0"/>
          </a:p>
          <a:p>
            <a:pPr marL="342900" indent="-342900">
              <a:spcAft>
                <a:spcPts val="400"/>
              </a:spcAft>
              <a:buSzPct val="100000"/>
              <a:buChar char="•"/>
            </a:pPr>
            <a:r>
              <a:rPr lang="en-US" sz="1300" dirty="0">
                <a:solidFill>
                  <a:srgbClr val="2D3436"/>
                </a:solidFill>
                <a:latin typeface="Calibri" pitchFamily="34" charset="0"/>
                <a:ea typeface="Calibri" pitchFamily="34" charset="-122"/>
                <a:cs typeface="Calibri" pitchFamily="34" charset="-120"/>
              </a:rPr>
              <a:t>SHA-256 hashed user IDs — zero PII ever stored</a:t>
            </a:r>
            <a:endParaRPr lang="en-US" sz="1300" dirty="0"/>
          </a:p>
          <a:p>
            <a:pPr marL="342900" indent="-342900">
              <a:spcAft>
                <a:spcPts val="400"/>
              </a:spcAft>
              <a:buSzPct val="100000"/>
              <a:buChar char="•"/>
            </a:pPr>
            <a:r>
              <a:rPr lang="en-US" sz="1300" dirty="0">
                <a:solidFill>
                  <a:srgbClr val="2D3436"/>
                </a:solidFill>
                <a:latin typeface="Calibri" pitchFamily="34" charset="0"/>
                <a:ea typeface="Calibri" pitchFamily="34" charset="-122"/>
                <a:cs typeface="Calibri" pitchFamily="34" charset="-120"/>
              </a:rPr>
              <a:t>Zip-code-level behavioral trend reports by geography</a:t>
            </a:r>
            <a:endParaRPr lang="en-US" sz="1300" dirty="0"/>
          </a:p>
          <a:p>
            <a:pPr marL="342900" indent="-342900">
              <a:spcAft>
                <a:spcPts val="400"/>
              </a:spcAft>
              <a:buSzPct val="100000"/>
              <a:buChar char="•"/>
            </a:pPr>
            <a:r>
              <a:rPr lang="en-US" sz="1300" dirty="0">
                <a:solidFill>
                  <a:srgbClr val="2D3436"/>
                </a:solidFill>
                <a:latin typeface="Calibri" pitchFamily="34" charset="0"/>
                <a:ea typeface="Calibri" pitchFamily="34" charset="-122"/>
                <a:cs typeface="Calibri" pitchFamily="34" charset="-120"/>
              </a:rPr>
              <a:t>Sold to independent stores, regional chains, CPG brands</a:t>
            </a:r>
            <a:endParaRPr lang="en-US" sz="1300" dirty="0"/>
          </a:p>
          <a:p>
            <a:pPr marL="342900" indent="-342900">
              <a:spcAft>
                <a:spcPts val="400"/>
              </a:spcAft>
              <a:buSzPct val="100000"/>
              <a:buChar char="•"/>
            </a:pPr>
            <a:r>
              <a:rPr lang="en-US" sz="1300" dirty="0">
                <a:solidFill>
                  <a:srgbClr val="2D3436"/>
                </a:solidFill>
                <a:latin typeface="Calibri" pitchFamily="34" charset="0"/>
                <a:ea typeface="Calibri" pitchFamily="34" charset="-122"/>
                <a:cs typeface="Calibri" pitchFamily="34" charset="-120"/>
              </a:rPr>
              <a:t>Planning: all 50 U.S. states + future international markets</a:t>
            </a:r>
            <a:endParaRPr lang="en-US" sz="1300" dirty="0"/>
          </a:p>
          <a:p>
            <a:pPr marL="342900" indent="-342900">
              <a:spcAft>
                <a:spcPts val="400"/>
              </a:spcAft>
              <a:buSzPct val="100000"/>
              <a:buChar char="•"/>
            </a:pPr>
            <a:r>
              <a:rPr lang="en-US" sz="1300" dirty="0">
                <a:solidFill>
                  <a:srgbClr val="2D3436"/>
                </a:solidFill>
                <a:latin typeface="Calibri" pitchFamily="34" charset="0"/>
                <a:ea typeface="Calibri" pitchFamily="34" charset="-122"/>
                <a:cs typeface="Calibri" pitchFamily="34" charset="-120"/>
              </a:rPr>
              <a:t>~63,000 U.S. grocery stores are the B2B addressable market</a:t>
            </a:r>
            <a:endParaRPr lang="en-US" sz="1300" dirty="0"/>
          </a:p>
        </p:txBody>
      </p:sp>
      <p:sp>
        <p:nvSpPr>
          <p:cNvPr id="11" name="Shape 9"/>
          <p:cNvSpPr/>
          <p:nvPr/>
        </p:nvSpPr>
        <p:spPr>
          <a:xfrm>
            <a:off x="4270248" y="2514600"/>
            <a:ext cx="603504" cy="0"/>
          </a:xfrm>
          <a:prstGeom prst="line">
            <a:avLst/>
          </a:prstGeom>
          <a:noFill/>
          <a:ln w="25400">
            <a:solidFill>
              <a:srgbClr val="7DAE5C"/>
            </a:solidFill>
            <a:prstDash val="solid"/>
          </a:ln>
        </p:spPr>
      </p:sp>
      <p:sp>
        <p:nvSpPr>
          <p:cNvPr id="12" name="Text 10"/>
          <p:cNvSpPr/>
          <p:nvPr/>
        </p:nvSpPr>
        <p:spPr>
          <a:xfrm>
            <a:off x="365760" y="4352544"/>
            <a:ext cx="8412480" cy="320040"/>
          </a:xfrm>
          <a:prstGeom prst="rect">
            <a:avLst/>
          </a:prstGeom>
          <a:noFill/>
          <a:ln/>
        </p:spPr>
        <p:txBody>
          <a:bodyPr wrap="square" lIns="0" tIns="0" rIns="0" bIns="0" rtlCol="0" anchor="ctr"/>
          <a:lstStyle/>
          <a:p>
            <a:pPr algn="ctr" indent="0" marL="0">
              <a:buNone/>
            </a:pPr>
            <a:r>
              <a:rPr lang="en-US" sz="1300" i="1" dirty="0">
                <a:solidFill>
                  <a:srgbClr val="2C4A7C"/>
                </a:solidFill>
                <a:latin typeface="Calibri" pitchFamily="34" charset="0"/>
                <a:ea typeface="Calibri" pitchFamily="34" charset="-122"/>
                <a:cs typeface="Calibri" pitchFamily="34" charset="-120"/>
              </a:rPr>
              <a:t>⟳  National network of grocery behavioral data — more users per zip code = more valuable reports = more B2B clients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365760" y="201168"/>
            <a:ext cx="8412480" cy="5486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Five Core Patentable Systems</a:t>
            </a:r>
            <a:endParaRPr lang="en-US" sz="3600" dirty="0"/>
          </a:p>
        </p:txBody>
      </p:sp>
      <p:sp>
        <p:nvSpPr>
          <p:cNvPr id="3" name="Text 1"/>
          <p:cNvSpPr/>
          <p:nvPr/>
        </p:nvSpPr>
        <p:spPr>
          <a:xfrm>
            <a:off x="365760" y="749808"/>
            <a:ext cx="8412480" cy="274320"/>
          </a:xfrm>
          <a:prstGeom prst="rect">
            <a:avLst/>
          </a:prstGeom>
          <a:noFill/>
          <a:ln/>
        </p:spPr>
        <p:txBody>
          <a:bodyPr wrap="square" lIns="0" tIns="0" rIns="0" bIns="0" rtlCol="0" anchor="ctr"/>
          <a:lstStyle/>
          <a:p>
            <a:pPr indent="0" marL="0">
              <a:buNone/>
            </a:pPr>
            <a:r>
              <a:rPr lang="en-US" sz="1350" i="1" dirty="0">
                <a:solidFill>
                  <a:srgbClr val="8EB4E3"/>
                </a:solidFill>
                <a:latin typeface="Calibri" pitchFamily="34" charset="0"/>
                <a:ea typeface="Calibri" pitchFamily="34" charset="-122"/>
                <a:cs typeface="Calibri" pitchFamily="34" charset="-120"/>
              </a:rPr>
              <a:t>Each system is a distinct inventive concept — together they form an integrated, defensible architecture</a:t>
            </a:r>
            <a:endParaRPr lang="en-US" sz="1350" dirty="0"/>
          </a:p>
        </p:txBody>
      </p:sp>
      <p:sp>
        <p:nvSpPr>
          <p:cNvPr id="4" name="Shape 2"/>
          <p:cNvSpPr/>
          <p:nvPr/>
        </p:nvSpPr>
        <p:spPr>
          <a:xfrm>
            <a:off x="274320" y="1170432"/>
            <a:ext cx="2743200" cy="1554480"/>
          </a:xfrm>
          <a:prstGeom prst="roundRect">
            <a:avLst>
              <a:gd name="adj" fmla="val 5882"/>
            </a:avLst>
          </a:prstGeom>
          <a:solidFill>
            <a:srgbClr val="243A5E"/>
          </a:solidFill>
          <a:ln w="19050">
            <a:solidFill>
              <a:srgbClr val="7DAE5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393192" y="1261872"/>
            <a:ext cx="457200" cy="438912"/>
          </a:xfrm>
          <a:prstGeom prst="rect">
            <a:avLst/>
          </a:prstGeom>
          <a:noFill/>
          <a:ln/>
        </p:spPr>
        <p:txBody>
          <a:bodyPr wrap="square" lIns="0" tIns="0" rIns="0" bIns="0" rtlCol="0" anchor="ctr"/>
          <a:lstStyle/>
          <a:p>
            <a:pPr indent="0" marL="0">
              <a:buNone/>
            </a:pPr>
            <a:r>
              <a:rPr lang="en-US" sz="2200" b="1" dirty="0">
                <a:solidFill>
                  <a:srgbClr val="7DAE5C"/>
                </a:solidFill>
                <a:latin typeface="Cambria" pitchFamily="34" charset="0"/>
                <a:ea typeface="Cambria" pitchFamily="34" charset="-122"/>
                <a:cs typeface="Cambria" pitchFamily="34" charset="-120"/>
              </a:rPr>
              <a:t>01</a:t>
            </a:r>
            <a:endParaRPr lang="en-US" sz="2200" dirty="0"/>
          </a:p>
        </p:txBody>
      </p:sp>
      <p:sp>
        <p:nvSpPr>
          <p:cNvPr id="6" name="Text 4"/>
          <p:cNvSpPr/>
          <p:nvPr/>
        </p:nvSpPr>
        <p:spPr>
          <a:xfrm>
            <a:off x="365760" y="1664208"/>
            <a:ext cx="2560320" cy="658368"/>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Behavioral Data Collection</a:t>
            </a:r>
            <a:endParaRPr lang="en-US" sz="1250" dirty="0"/>
          </a:p>
          <a:p>
            <a:pPr indent="0" marL="0">
              <a:buNone/>
            </a:pPr>
            <a:r>
              <a:rPr lang="en-US" sz="1250" b="1" dirty="0">
                <a:solidFill>
                  <a:srgbClr val="FFFFFF"/>
                </a:solidFill>
                <a:latin typeface="Cambria" pitchFamily="34" charset="0"/>
                <a:ea typeface="Cambria" pitchFamily="34" charset="-122"/>
                <a:cs typeface="Cambria" pitchFamily="34" charset="-120"/>
              </a:rPr>
              <a:t>&amp; Monetization Pipeline</a:t>
            </a:r>
            <a:endParaRPr lang="en-US" sz="1250" dirty="0"/>
          </a:p>
        </p:txBody>
      </p:sp>
      <p:sp>
        <p:nvSpPr>
          <p:cNvPr id="7" name="Text 5"/>
          <p:cNvSpPr/>
          <p:nvPr/>
        </p:nvSpPr>
        <p:spPr>
          <a:xfrm>
            <a:off x="365760" y="2359152"/>
            <a:ext cx="2560320" cy="292608"/>
          </a:xfrm>
          <a:prstGeom prst="rect">
            <a:avLst/>
          </a:prstGeom>
          <a:noFill/>
          <a:ln/>
        </p:spPr>
        <p:txBody>
          <a:bodyPr wrap="square" lIns="0" tIns="0" rIns="0" bIns="0" rtlCol="0" anchor="ctr"/>
          <a:lstStyle/>
          <a:p>
            <a:pPr indent="0" marL="0">
              <a:buNone/>
            </a:pPr>
            <a:r>
              <a:rPr lang="en-US" sz="950" i="1" dirty="0">
                <a:solidFill>
                  <a:srgbClr val="8EB4E3"/>
                </a:solidFill>
                <a:latin typeface="Calibri" pitchFamily="34" charset="0"/>
                <a:ea typeface="Calibri" pitchFamily="34" charset="-122"/>
                <a:cs typeface="Calibri" pitchFamily="34" charset="-120"/>
              </a:rPr>
              <a:t>Consumer interactions → B2B national retail intelligence</a:t>
            </a:r>
            <a:endParaRPr lang="en-US" sz="950" dirty="0"/>
          </a:p>
        </p:txBody>
      </p:sp>
      <p:sp>
        <p:nvSpPr>
          <p:cNvPr id="8" name="Shape 6"/>
          <p:cNvSpPr/>
          <p:nvPr/>
        </p:nvSpPr>
        <p:spPr>
          <a:xfrm>
            <a:off x="3246120" y="1170432"/>
            <a:ext cx="2743200" cy="1554480"/>
          </a:xfrm>
          <a:prstGeom prst="roundRect">
            <a:avLst>
              <a:gd name="adj" fmla="val 5882"/>
            </a:avLst>
          </a:prstGeom>
          <a:solidFill>
            <a:srgbClr val="243A5E"/>
          </a:solidFill>
          <a:ln w="19050">
            <a:solidFill>
              <a:srgbClr val="7DAE5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3364992" y="1261872"/>
            <a:ext cx="457200" cy="438912"/>
          </a:xfrm>
          <a:prstGeom prst="rect">
            <a:avLst/>
          </a:prstGeom>
          <a:noFill/>
          <a:ln/>
        </p:spPr>
        <p:txBody>
          <a:bodyPr wrap="square" lIns="0" tIns="0" rIns="0" bIns="0" rtlCol="0" anchor="ctr"/>
          <a:lstStyle/>
          <a:p>
            <a:pPr indent="0" marL="0">
              <a:buNone/>
            </a:pPr>
            <a:r>
              <a:rPr lang="en-US" sz="2200" b="1" dirty="0">
                <a:solidFill>
                  <a:srgbClr val="7DAE5C"/>
                </a:solidFill>
                <a:latin typeface="Cambria" pitchFamily="34" charset="0"/>
                <a:ea typeface="Cambria" pitchFamily="34" charset="-122"/>
                <a:cs typeface="Cambria" pitchFamily="34" charset="-120"/>
              </a:rPr>
              <a:t>02</a:t>
            </a:r>
            <a:endParaRPr lang="en-US" sz="2200" dirty="0"/>
          </a:p>
        </p:txBody>
      </p:sp>
      <p:sp>
        <p:nvSpPr>
          <p:cNvPr id="10" name="Text 8"/>
          <p:cNvSpPr/>
          <p:nvPr/>
        </p:nvSpPr>
        <p:spPr>
          <a:xfrm>
            <a:off x="3337560" y="1664208"/>
            <a:ext cx="2560320" cy="658368"/>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Craving → Ingredients</a:t>
            </a:r>
            <a:endParaRPr lang="en-US" sz="1250" dirty="0"/>
          </a:p>
          <a:p>
            <a:pPr indent="0" marL="0">
              <a:buNone/>
            </a:pPr>
            <a:r>
              <a:rPr lang="en-US" sz="1250" b="1" dirty="0">
                <a:solidFill>
                  <a:srgbClr val="FFFFFF"/>
                </a:solidFill>
                <a:latin typeface="Cambria" pitchFamily="34" charset="0"/>
                <a:ea typeface="Cambria" pitchFamily="34" charset="-122"/>
                <a:cs typeface="Cambria" pitchFamily="34" charset="-120"/>
              </a:rPr>
              <a:t>→ Store Pipeline</a:t>
            </a:r>
            <a:endParaRPr lang="en-US" sz="1250" dirty="0"/>
          </a:p>
        </p:txBody>
      </p:sp>
      <p:sp>
        <p:nvSpPr>
          <p:cNvPr id="11" name="Text 9"/>
          <p:cNvSpPr/>
          <p:nvPr/>
        </p:nvSpPr>
        <p:spPr>
          <a:xfrm>
            <a:off x="3337560" y="2359152"/>
            <a:ext cx="2560320" cy="292608"/>
          </a:xfrm>
          <a:prstGeom prst="rect">
            <a:avLst/>
          </a:prstGeom>
          <a:noFill/>
          <a:ln/>
        </p:spPr>
        <p:txBody>
          <a:bodyPr wrap="square" lIns="0" tIns="0" rIns="0" bIns="0" rtlCol="0" anchor="ctr"/>
          <a:lstStyle/>
          <a:p>
            <a:pPr indent="0" marL="0">
              <a:buNone/>
            </a:pPr>
            <a:r>
              <a:rPr lang="en-US" sz="950" i="1" dirty="0">
                <a:solidFill>
                  <a:srgbClr val="8EB4E3"/>
                </a:solidFill>
                <a:latin typeface="Calibri" pitchFamily="34" charset="0"/>
                <a:ea typeface="Calibri" pitchFamily="34" charset="-122"/>
                <a:cs typeface="Calibri" pitchFamily="34" charset="-120"/>
              </a:rPr>
              <a:t>Natural language → flavor decode → ranked store list</a:t>
            </a:r>
            <a:endParaRPr lang="en-US" sz="950" dirty="0"/>
          </a:p>
        </p:txBody>
      </p:sp>
      <p:sp>
        <p:nvSpPr>
          <p:cNvPr id="12" name="Shape 10"/>
          <p:cNvSpPr/>
          <p:nvPr/>
        </p:nvSpPr>
        <p:spPr>
          <a:xfrm>
            <a:off x="6217920" y="1170432"/>
            <a:ext cx="2743200" cy="1554480"/>
          </a:xfrm>
          <a:prstGeom prst="roundRect">
            <a:avLst>
              <a:gd name="adj" fmla="val 5882"/>
            </a:avLst>
          </a:prstGeom>
          <a:solidFill>
            <a:srgbClr val="243A5E"/>
          </a:solidFill>
          <a:ln w="19050">
            <a:solidFill>
              <a:srgbClr val="7DAE5C"/>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6336792" y="1261872"/>
            <a:ext cx="457200" cy="438912"/>
          </a:xfrm>
          <a:prstGeom prst="rect">
            <a:avLst/>
          </a:prstGeom>
          <a:noFill/>
          <a:ln/>
        </p:spPr>
        <p:txBody>
          <a:bodyPr wrap="square" lIns="0" tIns="0" rIns="0" bIns="0" rtlCol="0" anchor="ctr"/>
          <a:lstStyle/>
          <a:p>
            <a:pPr indent="0" marL="0">
              <a:buNone/>
            </a:pPr>
            <a:r>
              <a:rPr lang="en-US" sz="2200" b="1" dirty="0">
                <a:solidFill>
                  <a:srgbClr val="7DAE5C"/>
                </a:solidFill>
                <a:latin typeface="Cambria" pitchFamily="34" charset="0"/>
                <a:ea typeface="Cambria" pitchFamily="34" charset="-122"/>
                <a:cs typeface="Cambria" pitchFamily="34" charset="-120"/>
              </a:rPr>
              <a:t>03</a:t>
            </a:r>
            <a:endParaRPr lang="en-US" sz="2200" dirty="0"/>
          </a:p>
        </p:txBody>
      </p:sp>
      <p:sp>
        <p:nvSpPr>
          <p:cNvPr id="14" name="Text 12"/>
          <p:cNvSpPr/>
          <p:nvPr/>
        </p:nvSpPr>
        <p:spPr>
          <a:xfrm>
            <a:off x="6309360" y="1664208"/>
            <a:ext cx="2560320" cy="658368"/>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Gamification Loop Tied</a:t>
            </a:r>
            <a:endParaRPr lang="en-US" sz="1250" dirty="0"/>
          </a:p>
          <a:p>
            <a:pPr indent="0" marL="0">
              <a:buNone/>
            </a:pPr>
            <a:r>
              <a:rPr lang="en-US" sz="1250" b="1" dirty="0">
                <a:solidFill>
                  <a:srgbClr val="FFFFFF"/>
                </a:solidFill>
                <a:latin typeface="Cambria" pitchFamily="34" charset="0"/>
                <a:ea typeface="Cambria" pitchFamily="34" charset="-122"/>
                <a:cs typeface="Cambria" pitchFamily="34" charset="-120"/>
              </a:rPr>
              <a:t>to Real-World Retail</a:t>
            </a:r>
            <a:endParaRPr lang="en-US" sz="1250" dirty="0"/>
          </a:p>
        </p:txBody>
      </p:sp>
      <p:sp>
        <p:nvSpPr>
          <p:cNvPr id="15" name="Text 13"/>
          <p:cNvSpPr/>
          <p:nvPr/>
        </p:nvSpPr>
        <p:spPr>
          <a:xfrm>
            <a:off x="6309360" y="2359152"/>
            <a:ext cx="2560320" cy="292608"/>
          </a:xfrm>
          <a:prstGeom prst="rect">
            <a:avLst/>
          </a:prstGeom>
          <a:noFill/>
          <a:ln/>
        </p:spPr>
        <p:txBody>
          <a:bodyPr wrap="square" lIns="0" tIns="0" rIns="0" bIns="0" rtlCol="0" anchor="ctr"/>
          <a:lstStyle/>
          <a:p>
            <a:pPr indent="0" marL="0">
              <a:buNone/>
            </a:pPr>
            <a:r>
              <a:rPr lang="en-US" sz="950" i="1" dirty="0">
                <a:solidFill>
                  <a:srgbClr val="8EB4E3"/>
                </a:solidFill>
                <a:latin typeface="Calibri" pitchFamily="34" charset="0"/>
                <a:ea typeface="Calibri" pitchFamily="34" charset="-122"/>
                <a:cs typeface="Calibri" pitchFamily="34" charset="-120"/>
              </a:rPr>
              <a:t>Coins earned at physical stores, spent on digital items</a:t>
            </a:r>
            <a:endParaRPr lang="en-US" sz="950" dirty="0"/>
          </a:p>
        </p:txBody>
      </p:sp>
      <p:sp>
        <p:nvSpPr>
          <p:cNvPr id="16" name="Shape 14"/>
          <p:cNvSpPr/>
          <p:nvPr/>
        </p:nvSpPr>
        <p:spPr>
          <a:xfrm>
            <a:off x="1600200" y="2907792"/>
            <a:ext cx="2743200" cy="1554480"/>
          </a:xfrm>
          <a:prstGeom prst="roundRect">
            <a:avLst>
              <a:gd name="adj" fmla="val 5882"/>
            </a:avLst>
          </a:prstGeom>
          <a:solidFill>
            <a:srgbClr val="243A5E"/>
          </a:solidFill>
          <a:ln w="19050">
            <a:solidFill>
              <a:srgbClr val="7DAE5C"/>
            </a:solidFill>
            <a:prstDash val="solid"/>
          </a:ln>
          <a:effectLst>
            <a:outerShdw sx="100000" sy="100000" kx="0" ky="0" algn="bl" rotWithShape="0" blurRad="101600" dist="38100" dir="2700000">
              <a:srgbClr val="000000">
                <a:alpha val="12000"/>
              </a:srgbClr>
            </a:outerShdw>
          </a:effectLst>
        </p:spPr>
      </p:sp>
      <p:sp>
        <p:nvSpPr>
          <p:cNvPr id="17" name="Text 15"/>
          <p:cNvSpPr/>
          <p:nvPr/>
        </p:nvSpPr>
        <p:spPr>
          <a:xfrm>
            <a:off x="1719072" y="2999232"/>
            <a:ext cx="457200" cy="438912"/>
          </a:xfrm>
          <a:prstGeom prst="rect">
            <a:avLst/>
          </a:prstGeom>
          <a:noFill/>
          <a:ln/>
        </p:spPr>
        <p:txBody>
          <a:bodyPr wrap="square" lIns="0" tIns="0" rIns="0" bIns="0" rtlCol="0" anchor="ctr"/>
          <a:lstStyle/>
          <a:p>
            <a:pPr indent="0" marL="0">
              <a:buNone/>
            </a:pPr>
            <a:r>
              <a:rPr lang="en-US" sz="2200" b="1" dirty="0">
                <a:solidFill>
                  <a:srgbClr val="7DAE5C"/>
                </a:solidFill>
                <a:latin typeface="Cambria" pitchFamily="34" charset="0"/>
                <a:ea typeface="Cambria" pitchFamily="34" charset="-122"/>
                <a:cs typeface="Cambria" pitchFamily="34" charset="-120"/>
              </a:rPr>
              <a:t>04</a:t>
            </a:r>
            <a:endParaRPr lang="en-US" sz="2200" dirty="0"/>
          </a:p>
        </p:txBody>
      </p:sp>
      <p:sp>
        <p:nvSpPr>
          <p:cNvPr id="18" name="Text 16"/>
          <p:cNvSpPr/>
          <p:nvPr/>
        </p:nvSpPr>
        <p:spPr>
          <a:xfrm>
            <a:off x="1691640" y="3401568"/>
            <a:ext cx="2560320" cy="658368"/>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Ingredient</a:t>
            </a:r>
            <a:endParaRPr lang="en-US" sz="1250" dirty="0"/>
          </a:p>
          <a:p>
            <a:pPr indent="0" marL="0">
              <a:buNone/>
            </a:pPr>
            <a:r>
              <a:rPr lang="en-US" sz="1250" b="1" dirty="0">
                <a:solidFill>
                  <a:srgbClr val="FFFFFF"/>
                </a:solidFill>
                <a:latin typeface="Cambria" pitchFamily="34" charset="0"/>
                <a:ea typeface="Cambria" pitchFamily="34" charset="-122"/>
                <a:cs typeface="Cambria" pitchFamily="34" charset="-120"/>
              </a:rPr>
              <a:t>Substitution Engine</a:t>
            </a:r>
            <a:endParaRPr lang="en-US" sz="1250" dirty="0"/>
          </a:p>
        </p:txBody>
      </p:sp>
      <p:sp>
        <p:nvSpPr>
          <p:cNvPr id="19" name="Text 17"/>
          <p:cNvSpPr/>
          <p:nvPr/>
        </p:nvSpPr>
        <p:spPr>
          <a:xfrm>
            <a:off x="1691640" y="4096512"/>
            <a:ext cx="2560320" cy="292608"/>
          </a:xfrm>
          <a:prstGeom prst="rect">
            <a:avLst/>
          </a:prstGeom>
          <a:noFill/>
          <a:ln/>
        </p:spPr>
        <p:txBody>
          <a:bodyPr wrap="square" lIns="0" tIns="0" rIns="0" bIns="0" rtlCol="0" anchor="ctr"/>
          <a:lstStyle/>
          <a:p>
            <a:pPr indent="0" marL="0">
              <a:buNone/>
            </a:pPr>
            <a:r>
              <a:rPr lang="en-US" sz="950" i="1" dirty="0">
                <a:solidFill>
                  <a:srgbClr val="8EB4E3"/>
                </a:solidFill>
                <a:latin typeface="Calibri" pitchFamily="34" charset="0"/>
                <a:ea typeface="Calibri" pitchFamily="34" charset="-122"/>
                <a:cs typeface="Calibri" pitchFamily="34" charset="-120"/>
              </a:rPr>
              <a:t>300+ rules with ratio adjustments + prep notes</a:t>
            </a:r>
            <a:endParaRPr lang="en-US" sz="950" dirty="0"/>
          </a:p>
        </p:txBody>
      </p:sp>
      <p:sp>
        <p:nvSpPr>
          <p:cNvPr id="20" name="Shape 18"/>
          <p:cNvSpPr/>
          <p:nvPr/>
        </p:nvSpPr>
        <p:spPr>
          <a:xfrm>
            <a:off x="4800600" y="2907792"/>
            <a:ext cx="2743200" cy="1554480"/>
          </a:xfrm>
          <a:prstGeom prst="roundRect">
            <a:avLst>
              <a:gd name="adj" fmla="val 5882"/>
            </a:avLst>
          </a:prstGeom>
          <a:solidFill>
            <a:srgbClr val="243A5E"/>
          </a:solidFill>
          <a:ln w="19050">
            <a:solidFill>
              <a:srgbClr val="7DAE5C"/>
            </a:solidFill>
            <a:prstDash val="solid"/>
          </a:ln>
          <a:effectLst>
            <a:outerShdw sx="100000" sy="100000" kx="0" ky="0" algn="bl" rotWithShape="0" blurRad="101600" dist="38100" dir="2700000">
              <a:srgbClr val="000000">
                <a:alpha val="12000"/>
              </a:srgbClr>
            </a:outerShdw>
          </a:effectLst>
        </p:spPr>
      </p:sp>
      <p:sp>
        <p:nvSpPr>
          <p:cNvPr id="21" name="Text 19"/>
          <p:cNvSpPr/>
          <p:nvPr/>
        </p:nvSpPr>
        <p:spPr>
          <a:xfrm>
            <a:off x="4919472" y="2999232"/>
            <a:ext cx="457200" cy="438912"/>
          </a:xfrm>
          <a:prstGeom prst="rect">
            <a:avLst/>
          </a:prstGeom>
          <a:noFill/>
          <a:ln/>
        </p:spPr>
        <p:txBody>
          <a:bodyPr wrap="square" lIns="0" tIns="0" rIns="0" bIns="0" rtlCol="0" anchor="ctr"/>
          <a:lstStyle/>
          <a:p>
            <a:pPr indent="0" marL="0">
              <a:buNone/>
            </a:pPr>
            <a:r>
              <a:rPr lang="en-US" sz="2200" b="1" dirty="0">
                <a:solidFill>
                  <a:srgbClr val="7DAE5C"/>
                </a:solidFill>
                <a:latin typeface="Cambria" pitchFamily="34" charset="0"/>
                <a:ea typeface="Cambria" pitchFamily="34" charset="-122"/>
                <a:cs typeface="Cambria" pitchFamily="34" charset="-120"/>
              </a:rPr>
              <a:t>05</a:t>
            </a:r>
            <a:endParaRPr lang="en-US" sz="2200" dirty="0"/>
          </a:p>
        </p:txBody>
      </p:sp>
      <p:sp>
        <p:nvSpPr>
          <p:cNvPr id="22" name="Text 20"/>
          <p:cNvSpPr/>
          <p:nvPr/>
        </p:nvSpPr>
        <p:spPr>
          <a:xfrm>
            <a:off x="4892040" y="3401568"/>
            <a:ext cx="2560320" cy="658368"/>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Pixel Art Food Avatar</a:t>
            </a:r>
            <a:endParaRPr lang="en-US" sz="1250" dirty="0"/>
          </a:p>
          <a:p>
            <a:pPr indent="0" marL="0">
              <a:buNone/>
            </a:pPr>
            <a:r>
              <a:rPr lang="en-US" sz="1250" b="1" dirty="0">
                <a:solidFill>
                  <a:srgbClr val="FFFFFF"/>
                </a:solidFill>
                <a:latin typeface="Cambria" pitchFamily="34" charset="0"/>
                <a:ea typeface="Cambria" pitchFamily="34" charset="-122"/>
                <a:cs typeface="Cambria" pitchFamily="34" charset="-120"/>
              </a:rPr>
              <a:t>+ Economy Integration</a:t>
            </a:r>
            <a:endParaRPr lang="en-US" sz="1250" dirty="0"/>
          </a:p>
        </p:txBody>
      </p:sp>
      <p:sp>
        <p:nvSpPr>
          <p:cNvPr id="23" name="Text 21"/>
          <p:cNvSpPr/>
          <p:nvPr/>
        </p:nvSpPr>
        <p:spPr>
          <a:xfrm>
            <a:off x="4892040" y="4096512"/>
            <a:ext cx="2560320" cy="292608"/>
          </a:xfrm>
          <a:prstGeom prst="rect">
            <a:avLst/>
          </a:prstGeom>
          <a:noFill/>
          <a:ln/>
        </p:spPr>
        <p:txBody>
          <a:bodyPr wrap="square" lIns="0" tIns="0" rIns="0" bIns="0" rtlCol="0" anchor="ctr"/>
          <a:lstStyle/>
          <a:p>
            <a:pPr indent="0" marL="0">
              <a:buNone/>
            </a:pPr>
            <a:r>
              <a:rPr lang="en-US" sz="950" i="1" dirty="0">
                <a:solidFill>
                  <a:srgbClr val="8EB4E3"/>
                </a:solidFill>
                <a:latin typeface="Calibri" pitchFamily="34" charset="0"/>
                <a:ea typeface="Calibri" pitchFamily="34" charset="-122"/>
                <a:cs typeface="Calibri" pitchFamily="34" charset="-120"/>
              </a:rPr>
              <a:t>Check-in coins fund the avatar cosmetic economy</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B2A4A"/>
          </a:solidFill>
          <a:ln/>
        </p:spPr>
      </p:sp>
      <p:sp>
        <p:nvSpPr>
          <p:cNvPr id="3" name="Text 1"/>
          <p:cNvSpPr/>
          <p:nvPr/>
        </p:nvSpPr>
        <p:spPr>
          <a:xfrm>
            <a:off x="365760" y="91440"/>
            <a:ext cx="8686800" cy="5943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System 01  ·  Behavioral Data Collection &amp; Monetization Pipeline</a:t>
            </a:r>
            <a:endParaRPr lang="en-US" sz="1900" dirty="0"/>
          </a:p>
        </p:txBody>
      </p:sp>
      <p:sp>
        <p:nvSpPr>
          <p:cNvPr id="4" name="Text 2"/>
          <p:cNvSpPr/>
          <p:nvPr/>
        </p:nvSpPr>
        <p:spPr>
          <a:xfrm>
            <a:off x="365760" y="932688"/>
            <a:ext cx="4937760" cy="310896"/>
          </a:xfrm>
          <a:prstGeom prst="rect">
            <a:avLst/>
          </a:prstGeom>
          <a:noFill/>
          <a:ln/>
        </p:spPr>
        <p:txBody>
          <a:bodyPr wrap="square" lIns="0" tIns="0" rIns="0" bIns="0" rtlCol="0" anchor="ctr"/>
          <a:lstStyle/>
          <a:p>
            <a:pPr indent="0" marL="0">
              <a:buNone/>
            </a:pPr>
            <a:r>
              <a:rPr lang="en-US" sz="1450" b="1" dirty="0">
                <a:solidFill>
                  <a:srgbClr val="1B2A4A"/>
                </a:solidFill>
                <a:latin typeface="Cambria" pitchFamily="34" charset="0"/>
                <a:ea typeface="Cambria" pitchFamily="34" charset="-122"/>
                <a:cs typeface="Cambria" pitchFamily="34" charset="-120"/>
              </a:rPr>
              <a:t>What It Does</a:t>
            </a:r>
            <a:endParaRPr lang="en-US" sz="1450" dirty="0"/>
          </a:p>
        </p:txBody>
      </p:sp>
      <p:sp>
        <p:nvSpPr>
          <p:cNvPr id="5" name="Text 3"/>
          <p:cNvSpPr/>
          <p:nvPr/>
        </p:nvSpPr>
        <p:spPr>
          <a:xfrm>
            <a:off x="365760" y="1261872"/>
            <a:ext cx="4800600" cy="2423160"/>
          </a:xfrm>
          <a:prstGeom prst="rect">
            <a:avLst/>
          </a:prstGeom>
          <a:noFill/>
          <a:ln/>
        </p:spPr>
        <p:txBody>
          <a:bodyPr wrap="square" rtlCol="0" anchor="ctr"/>
          <a:lstStyle/>
          <a:p>
            <a:pPr marL="342900" indent="-342900">
              <a:spcAft>
                <a:spcPts val="600"/>
              </a:spcAft>
              <a:buSzPct val="100000"/>
              <a:buChar char="•"/>
            </a:pPr>
            <a:r>
              <a:rPr lang="en-US" sz="1300" dirty="0">
                <a:solidFill>
                  <a:srgbClr val="2D3436"/>
                </a:solidFill>
                <a:latin typeface="Calibri" pitchFamily="34" charset="0"/>
                <a:ea typeface="Calibri" pitchFamily="34" charset="-122"/>
                <a:cs typeface="Calibri" pitchFamily="34" charset="-120"/>
              </a:rPr>
              <a:t>Consumer interactions (check-ins, recipe views, ingredient searches) captured as behavioral events across all 50 states</a:t>
            </a:r>
            <a:endParaRPr lang="en-US" sz="1300" dirty="0"/>
          </a:p>
          <a:p>
            <a:pPr marL="342900" indent="-342900">
              <a:spcAft>
                <a:spcPts val="600"/>
              </a:spcAft>
              <a:buSzPct val="100000"/>
              <a:buChar char="•"/>
            </a:pPr>
            <a:r>
              <a:rPr lang="en-US" sz="1300" dirty="0">
                <a:solidFill>
                  <a:srgbClr val="2D3436"/>
                </a:solidFill>
                <a:latin typeface="Calibri" pitchFamily="34" charset="0"/>
                <a:ea typeface="Calibri" pitchFamily="34" charset="-122"/>
                <a:cs typeface="Calibri" pitchFamily="34" charset="-120"/>
              </a:rPr>
              <a:t>User IDs are SHA-256 hashed at collection — no PII is ever stored or transmitted</a:t>
            </a:r>
            <a:endParaRPr lang="en-US" sz="1300" dirty="0"/>
          </a:p>
          <a:p>
            <a:pPr marL="342900" indent="-342900">
              <a:spcAft>
                <a:spcPts val="600"/>
              </a:spcAft>
              <a:buSzPct val="100000"/>
              <a:buChar char="•"/>
            </a:pPr>
            <a:r>
              <a:rPr lang="en-US" sz="1300" dirty="0">
                <a:solidFill>
                  <a:srgbClr val="2D3436"/>
                </a:solidFill>
                <a:latin typeface="Calibri" pitchFamily="34" charset="0"/>
                <a:ea typeface="Calibri" pitchFamily="34" charset="-122"/>
                <a:cs typeface="Calibri" pitchFamily="34" charset="-120"/>
              </a:rPr>
              <a:t>Data aggregates into zip-code-level insights: trending ingredients, peak hours, store market share vs. competitors in same zip</a:t>
            </a:r>
            <a:endParaRPr lang="en-US" sz="1300" dirty="0"/>
          </a:p>
          <a:p>
            <a:pPr marL="342900" indent="-342900">
              <a:spcAft>
                <a:spcPts val="600"/>
              </a:spcAft>
              <a:buSzPct val="100000"/>
              <a:buChar char="•"/>
            </a:pPr>
            <a:r>
              <a:rPr lang="en-US" sz="1300" dirty="0">
                <a:solidFill>
                  <a:srgbClr val="2D3436"/>
                </a:solidFill>
                <a:latin typeface="Calibri" pitchFamily="34" charset="0"/>
                <a:ea typeface="Calibri" pitchFamily="34" charset="-122"/>
                <a:cs typeface="Calibri" pitchFamily="34" charset="-120"/>
              </a:rPr>
              <a:t>DataMonetization Python module generates custom market intelligence reports sold to grocery retailers, regional chains, and CPG brands nationally</a:t>
            </a:r>
            <a:endParaRPr lang="en-US" sz="1300" dirty="0"/>
          </a:p>
        </p:txBody>
      </p:sp>
      <p:sp>
        <p:nvSpPr>
          <p:cNvPr id="6" name="Text 4"/>
          <p:cNvSpPr/>
          <p:nvPr/>
        </p:nvSpPr>
        <p:spPr>
          <a:xfrm>
            <a:off x="365760" y="3730752"/>
            <a:ext cx="4800600" cy="256032"/>
          </a:xfrm>
          <a:prstGeom prst="rect">
            <a:avLst/>
          </a:prstGeom>
          <a:noFill/>
          <a:ln/>
        </p:spPr>
        <p:txBody>
          <a:bodyPr wrap="square" lIns="0" tIns="0" rIns="0" bIns="0" rtlCol="0" anchor="ctr"/>
          <a:lstStyle/>
          <a:p>
            <a:pPr indent="0" marL="0">
              <a:buNone/>
            </a:pPr>
            <a:r>
              <a:rPr lang="en-US" sz="1150" b="1" dirty="0">
                <a:solidFill>
                  <a:srgbClr val="637074"/>
                </a:solidFill>
                <a:latin typeface="Cambria" pitchFamily="34" charset="0"/>
                <a:ea typeface="Cambria" pitchFamily="34" charset="-122"/>
                <a:cs typeface="Cambria" pitchFamily="34" charset="-120"/>
              </a:rPr>
              <a:t>Key Technical Files</a:t>
            </a:r>
            <a:endParaRPr lang="en-US" sz="1150" dirty="0"/>
          </a:p>
        </p:txBody>
      </p:sp>
      <p:sp>
        <p:nvSpPr>
          <p:cNvPr id="7" name="Text 5"/>
          <p:cNvSpPr/>
          <p:nvPr/>
        </p:nvSpPr>
        <p:spPr>
          <a:xfrm>
            <a:off x="365760" y="4005072"/>
            <a:ext cx="4800600" cy="502920"/>
          </a:xfrm>
          <a:prstGeom prst="rect">
            <a:avLst/>
          </a:prstGeom>
          <a:noFill/>
          <a:ln/>
        </p:spPr>
        <p:txBody>
          <a:bodyPr wrap="square" lIns="0" tIns="0" rIns="0" bIns="0" rtlCol="0" anchor="ctr"/>
          <a:lstStyle/>
          <a:p>
            <a:pPr indent="0" marL="0">
              <a:buNone/>
            </a:pPr>
            <a:r>
              <a:rPr lang="en-US" sz="1050" i="1" dirty="0">
                <a:solidFill>
                  <a:srgbClr val="637074"/>
                </a:solidFill>
                <a:latin typeface="Calibri" pitchFamily="34" charset="0"/>
                <a:ea typeface="Calibri" pitchFamily="34" charset="-122"/>
                <a:cs typeface="Calibri" pitchFamily="34" charset="-120"/>
              </a:rPr>
              <a:t>data_monetization.py  ·  collect_anonymous_data()  ·  get_trending_insights()  ·  generate_report_for_store()  ·  measure_price_sensitivity()</a:t>
            </a:r>
            <a:endParaRPr lang="en-US" sz="1050" dirty="0"/>
          </a:p>
        </p:txBody>
      </p:sp>
      <p:sp>
        <p:nvSpPr>
          <p:cNvPr id="8" name="Shape 6"/>
          <p:cNvSpPr/>
          <p:nvPr/>
        </p:nvSpPr>
        <p:spPr>
          <a:xfrm>
            <a:off x="5349240" y="896112"/>
            <a:ext cx="3429000" cy="3657600"/>
          </a:xfrm>
          <a:prstGeom prst="roundRect">
            <a:avLst>
              <a:gd name="adj" fmla="val 2667"/>
            </a:avLst>
          </a:prstGeom>
          <a:solidFill>
            <a:srgbClr val="E8F1E0"/>
          </a:solidFill>
          <a:ln w="19050">
            <a:solidFill>
              <a:srgbClr val="7DAE5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440680" y="996696"/>
            <a:ext cx="3246120" cy="274320"/>
          </a:xfrm>
          <a:prstGeom prst="rect">
            <a:avLst/>
          </a:prstGeom>
          <a:noFill/>
          <a:ln/>
        </p:spPr>
        <p:txBody>
          <a:bodyPr wrap="square" lIns="0" tIns="0" rIns="0" bIns="0" rtlCol="0" anchor="ctr"/>
          <a:lstStyle/>
          <a:p>
            <a:pPr algn="ctr" indent="0" marL="0">
              <a:buNone/>
            </a:pPr>
            <a:r>
              <a:rPr lang="en-US" sz="950" b="1" spc="150" kern="0" dirty="0">
                <a:solidFill>
                  <a:srgbClr val="7DAE5C"/>
                </a:solidFill>
                <a:latin typeface="Calibri" pitchFamily="34" charset="0"/>
                <a:ea typeface="Calibri" pitchFamily="34" charset="-122"/>
                <a:cs typeface="Calibri" pitchFamily="34" charset="-120"/>
              </a:rPr>
              <a:t>POTENTIAL PATENT CLAIM</a:t>
            </a:r>
            <a:endParaRPr lang="en-US" sz="950" dirty="0"/>
          </a:p>
        </p:txBody>
      </p:sp>
      <p:sp>
        <p:nvSpPr>
          <p:cNvPr id="10" name="Text 8"/>
          <p:cNvSpPr/>
          <p:nvPr/>
        </p:nvSpPr>
        <p:spPr>
          <a:xfrm>
            <a:off x="5440680" y="1325880"/>
            <a:ext cx="3246120" cy="1874520"/>
          </a:xfrm>
          <a:prstGeom prst="rect">
            <a:avLst/>
          </a:prstGeom>
          <a:noFill/>
          <a:ln/>
        </p:spPr>
        <p:txBody>
          <a:bodyPr wrap="square" lIns="0" tIns="0" rIns="0" bIns="0" rtlCol="0" anchor="ctr"/>
          <a:lstStyle/>
          <a:p>
            <a:pPr indent="0" marL="0">
              <a:buNone/>
            </a:pPr>
            <a:r>
              <a:rPr lang="en-US" sz="1250" i="1" dirty="0">
                <a:solidFill>
                  <a:srgbClr val="2C5F2D"/>
                </a:solidFill>
                <a:latin typeface="Calibri" pitchFamily="34" charset="0"/>
                <a:ea typeface="Calibri" pitchFamily="34" charset="-122"/>
                <a:cs typeface="Calibri" pitchFamily="34" charset="-120"/>
              </a:rPr>
              <a:t>Method and system for generating retail behavioral intelligence from gamified consumer food application interactions, wherein user engagement events are anonymized at the point of collection and aggregated into zip-code-level market reports sold to retail clients — scalable to national geographic coverage.</a:t>
            </a:r>
            <a:endParaRPr lang="en-US" sz="1250" dirty="0"/>
          </a:p>
        </p:txBody>
      </p:sp>
      <p:sp>
        <p:nvSpPr>
          <p:cNvPr id="11" name="Shape 9"/>
          <p:cNvSpPr/>
          <p:nvPr/>
        </p:nvSpPr>
        <p:spPr>
          <a:xfrm>
            <a:off x="5440680" y="3246120"/>
            <a:ext cx="3246120" cy="1097280"/>
          </a:xfrm>
          <a:prstGeom prst="roundRect">
            <a:avLst>
              <a:gd name="adj" fmla="val 6667"/>
            </a:avLst>
          </a:prstGeom>
          <a:solidFill>
            <a:srgbClr val="D4EBC8"/>
          </a:solidFill>
          <a:ln/>
        </p:spPr>
      </p:sp>
      <p:sp>
        <p:nvSpPr>
          <p:cNvPr id="12" name="Text 10"/>
          <p:cNvSpPr/>
          <p:nvPr/>
        </p:nvSpPr>
        <p:spPr>
          <a:xfrm>
            <a:off x="5440680" y="3291840"/>
            <a:ext cx="3246120" cy="1005840"/>
          </a:xfrm>
          <a:prstGeom prst="rect">
            <a:avLst/>
          </a:prstGeom>
          <a:noFill/>
          <a:ln/>
        </p:spPr>
        <p:txBody>
          <a:bodyPr wrap="square" lIns="0" tIns="0" rIns="0" bIns="0" rtlCol="0" anchor="ctr"/>
          <a:lstStyle/>
          <a:p>
            <a:pPr algn="ctr" indent="0" marL="0">
              <a:buNone/>
            </a:pPr>
            <a:r>
              <a:rPr lang="en-US" sz="1200" b="1" dirty="0">
                <a:solidFill>
                  <a:srgbClr val="1B2A4A"/>
                </a:solidFill>
                <a:latin typeface="Cambria" pitchFamily="34" charset="0"/>
                <a:ea typeface="Cambria" pitchFamily="34" charset="-122"/>
                <a:cs typeface="Cambria" pitchFamily="34" charset="-120"/>
              </a:rPr>
              <a:t>★  Strongest claim</a:t>
            </a:r>
            <a:endParaRPr lang="en-US" sz="1200" dirty="0"/>
          </a:p>
          <a:p>
            <a:pPr algn="ctr" indent="0" marL="0">
              <a:buNone/>
            </a:pPr>
            <a:r>
              <a:rPr lang="en-US" sz="1200" b="1" dirty="0">
                <a:solidFill>
                  <a:srgbClr val="1B2A4A"/>
                </a:solidFill>
                <a:latin typeface="Cambria" pitchFamily="34" charset="0"/>
                <a:ea typeface="Cambria" pitchFamily="34" charset="-122"/>
                <a:cs typeface="Cambria" pitchFamily="34" charset="-120"/>
              </a:rPr>
              <a:t>candidate — no prior</a:t>
            </a:r>
            <a:endParaRPr lang="en-US" sz="1200" dirty="0"/>
          </a:p>
          <a:p>
            <a:pPr algn="ctr" indent="0" marL="0">
              <a:buNone/>
            </a:pPr>
            <a:r>
              <a:rPr lang="en-US" sz="1200" b="1" dirty="0">
                <a:solidFill>
                  <a:srgbClr val="1B2A4A"/>
                </a:solidFill>
                <a:latin typeface="Cambria" pitchFamily="34" charset="0"/>
                <a:ea typeface="Cambria" pitchFamily="34" charset="-122"/>
                <a:cs typeface="Cambria" pitchFamily="34" charset="-120"/>
              </a:rPr>
              <a:t>art for this exact</a:t>
            </a:r>
            <a:endParaRPr lang="en-US" sz="1200" dirty="0"/>
          </a:p>
          <a:p>
            <a:pPr algn="ctr" indent="0" marL="0">
              <a:buNone/>
            </a:pPr>
            <a:r>
              <a:rPr lang="en-US" sz="1200" b="1" dirty="0">
                <a:solidFill>
                  <a:srgbClr val="1B2A4A"/>
                </a:solidFill>
                <a:latin typeface="Cambria" pitchFamily="34" charset="0"/>
                <a:ea typeface="Cambria" pitchFamily="34" charset="-122"/>
                <a:cs typeface="Cambria" pitchFamily="34" charset="-120"/>
              </a:rPr>
              <a:t>dual-sided architecture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B2A4A"/>
          </a:solidFill>
          <a:ln/>
        </p:spPr>
      </p:sp>
      <p:sp>
        <p:nvSpPr>
          <p:cNvPr id="3" name="Text 1"/>
          <p:cNvSpPr/>
          <p:nvPr/>
        </p:nvSpPr>
        <p:spPr>
          <a:xfrm>
            <a:off x="365760" y="91440"/>
            <a:ext cx="8686800" cy="5943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System 02  ·  Craving → Ingredients → Store Pipeline</a:t>
            </a:r>
            <a:endParaRPr lang="en-US" sz="1900" dirty="0"/>
          </a:p>
        </p:txBody>
      </p:sp>
      <p:sp>
        <p:nvSpPr>
          <p:cNvPr id="4" name="Shape 2"/>
          <p:cNvSpPr/>
          <p:nvPr/>
        </p:nvSpPr>
        <p:spPr>
          <a:xfrm>
            <a:off x="347472" y="1005840"/>
            <a:ext cx="1097280" cy="914400"/>
          </a:xfrm>
          <a:prstGeom prst="roundRect">
            <a:avLst>
              <a:gd name="adj" fmla="val 8000"/>
            </a:avLst>
          </a:prstGeom>
          <a:solidFill>
            <a:srgbClr val="EEF6E7"/>
          </a:solidFill>
          <a:ln w="12700">
            <a:solidFill>
              <a:srgbClr val="7DAE5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347472" y="1051560"/>
            <a:ext cx="1097280" cy="457200"/>
          </a:xfrm>
          <a:prstGeom prst="rect">
            <a:avLst/>
          </a:prstGeom>
          <a:noFill/>
          <a:ln/>
        </p:spPr>
        <p:txBody>
          <a:bodyPr wrap="square" lIns="0" tIns="0" rIns="0" bIns="0" rtlCol="0" anchor="ctr"/>
          <a:lstStyle/>
          <a:p>
            <a:pPr algn="ctr" indent="0" marL="0">
              <a:buNone/>
            </a:pPr>
            <a:r>
              <a:rPr lang="en-US" sz="1050" b="1" dirty="0">
                <a:solidFill>
                  <a:srgbClr val="1B2A4A"/>
                </a:solidFill>
                <a:latin typeface="Cambria" pitchFamily="34" charset="0"/>
                <a:ea typeface="Cambria" pitchFamily="34" charset="-122"/>
                <a:cs typeface="Cambria" pitchFamily="34" charset="-120"/>
              </a:rPr>
              <a:t>User types</a:t>
            </a:r>
            <a:endParaRPr lang="en-US" sz="1050" dirty="0"/>
          </a:p>
          <a:p>
            <a:pPr algn="ctr" indent="0" marL="0">
              <a:buNone/>
            </a:pPr>
            <a:r>
              <a:rPr lang="en-US" sz="1050" b="1" dirty="0">
                <a:solidFill>
                  <a:srgbClr val="1B2A4A"/>
                </a:solidFill>
                <a:latin typeface="Cambria" pitchFamily="34" charset="0"/>
                <a:ea typeface="Cambria" pitchFamily="34" charset="-122"/>
                <a:cs typeface="Cambria" pitchFamily="34" charset="-120"/>
              </a:rPr>
              <a:t>craving</a:t>
            </a:r>
            <a:endParaRPr lang="en-US" sz="1050" dirty="0"/>
          </a:p>
        </p:txBody>
      </p:sp>
      <p:sp>
        <p:nvSpPr>
          <p:cNvPr id="6" name="Text 4"/>
          <p:cNvSpPr/>
          <p:nvPr/>
        </p:nvSpPr>
        <p:spPr>
          <a:xfrm>
            <a:off x="347472" y="1508760"/>
            <a:ext cx="1097280" cy="347472"/>
          </a:xfrm>
          <a:prstGeom prst="rect">
            <a:avLst/>
          </a:prstGeom>
          <a:noFill/>
          <a:ln/>
        </p:spPr>
        <p:txBody>
          <a:bodyPr wrap="square" lIns="0" tIns="0" rIns="0" bIns="0" rtlCol="0" anchor="ctr"/>
          <a:lstStyle/>
          <a:p>
            <a:pPr algn="ctr" indent="0" marL="0">
              <a:buNone/>
            </a:pPr>
            <a:r>
              <a:rPr lang="en-US" sz="900" i="1" dirty="0">
                <a:solidFill>
                  <a:srgbClr val="637074"/>
                </a:solidFill>
                <a:latin typeface="Calibri" pitchFamily="34" charset="0"/>
                <a:ea typeface="Calibri" pitchFamily="34" charset="-122"/>
                <a:cs typeface="Calibri" pitchFamily="34" charset="-120"/>
              </a:rPr>
              <a:t>"spicy &amp; warm"</a:t>
            </a:r>
            <a:endParaRPr lang="en-US" sz="900" dirty="0"/>
          </a:p>
        </p:txBody>
      </p:sp>
      <p:sp>
        <p:nvSpPr>
          <p:cNvPr id="7" name="Shape 5"/>
          <p:cNvSpPr/>
          <p:nvPr/>
        </p:nvSpPr>
        <p:spPr>
          <a:xfrm>
            <a:off x="1463040" y="1463040"/>
            <a:ext cx="91440" cy="0"/>
          </a:xfrm>
          <a:prstGeom prst="line">
            <a:avLst/>
          </a:prstGeom>
          <a:noFill/>
          <a:ln w="25400">
            <a:solidFill>
              <a:srgbClr val="7DAE5C"/>
            </a:solidFill>
            <a:prstDash val="solid"/>
          </a:ln>
        </p:spPr>
      </p:sp>
      <p:sp>
        <p:nvSpPr>
          <p:cNvPr id="8" name="Shape 6"/>
          <p:cNvSpPr/>
          <p:nvPr/>
        </p:nvSpPr>
        <p:spPr>
          <a:xfrm>
            <a:off x="1563624" y="1005840"/>
            <a:ext cx="1097280" cy="914400"/>
          </a:xfrm>
          <a:prstGeom prst="roundRect">
            <a:avLst>
              <a:gd name="adj" fmla="val 8000"/>
            </a:avLst>
          </a:prstGeom>
          <a:solidFill>
            <a:srgbClr val="EEF6E7"/>
          </a:solidFill>
          <a:ln w="12700">
            <a:solidFill>
              <a:srgbClr val="7DAE5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1563624" y="1051560"/>
            <a:ext cx="1097280" cy="457200"/>
          </a:xfrm>
          <a:prstGeom prst="rect">
            <a:avLst/>
          </a:prstGeom>
          <a:noFill/>
          <a:ln/>
        </p:spPr>
        <p:txBody>
          <a:bodyPr wrap="square" lIns="0" tIns="0" rIns="0" bIns="0" rtlCol="0" anchor="ctr"/>
          <a:lstStyle/>
          <a:p>
            <a:pPr algn="ctr" indent="0" marL="0">
              <a:buNone/>
            </a:pPr>
            <a:r>
              <a:rPr lang="en-US" sz="1050" b="1" dirty="0">
                <a:solidFill>
                  <a:srgbClr val="1B2A4A"/>
                </a:solidFill>
                <a:latin typeface="Cambria" pitchFamily="34" charset="0"/>
                <a:ea typeface="Cambria" pitchFamily="34" charset="-122"/>
                <a:cs typeface="Cambria" pitchFamily="34" charset="-120"/>
              </a:rPr>
              <a:t>Flavor</a:t>
            </a:r>
            <a:endParaRPr lang="en-US" sz="1050" dirty="0"/>
          </a:p>
          <a:p>
            <a:pPr algn="ctr" indent="0" marL="0">
              <a:buNone/>
            </a:pPr>
            <a:r>
              <a:rPr lang="en-US" sz="1050" b="1" dirty="0">
                <a:solidFill>
                  <a:srgbClr val="1B2A4A"/>
                </a:solidFill>
                <a:latin typeface="Cambria" pitchFamily="34" charset="0"/>
                <a:ea typeface="Cambria" pitchFamily="34" charset="-122"/>
                <a:cs typeface="Cambria" pitchFamily="34" charset="-120"/>
              </a:rPr>
              <a:t>decode</a:t>
            </a:r>
            <a:endParaRPr lang="en-US" sz="1050" dirty="0"/>
          </a:p>
        </p:txBody>
      </p:sp>
      <p:sp>
        <p:nvSpPr>
          <p:cNvPr id="10" name="Text 8"/>
          <p:cNvSpPr/>
          <p:nvPr/>
        </p:nvSpPr>
        <p:spPr>
          <a:xfrm>
            <a:off x="1563624" y="1508760"/>
            <a:ext cx="1097280" cy="347472"/>
          </a:xfrm>
          <a:prstGeom prst="rect">
            <a:avLst/>
          </a:prstGeom>
          <a:noFill/>
          <a:ln/>
        </p:spPr>
        <p:txBody>
          <a:bodyPr wrap="square" lIns="0" tIns="0" rIns="0" bIns="0" rtlCol="0" anchor="ctr"/>
          <a:lstStyle/>
          <a:p>
            <a:pPr algn="ctr" indent="0" marL="0">
              <a:buNone/>
            </a:pPr>
            <a:r>
              <a:rPr lang="en-US" sz="900" i="1" dirty="0">
                <a:solidFill>
                  <a:srgbClr val="637074"/>
                </a:solidFill>
                <a:latin typeface="Calibri" pitchFamily="34" charset="0"/>
                <a:ea typeface="Calibri" pitchFamily="34" charset="-122"/>
                <a:cs typeface="Calibri" pitchFamily="34" charset="-120"/>
              </a:rPr>
              <a:t>7 layer model</a:t>
            </a:r>
            <a:endParaRPr lang="en-US" sz="900" dirty="0"/>
          </a:p>
        </p:txBody>
      </p:sp>
      <p:sp>
        <p:nvSpPr>
          <p:cNvPr id="11" name="Shape 9"/>
          <p:cNvSpPr/>
          <p:nvPr/>
        </p:nvSpPr>
        <p:spPr>
          <a:xfrm>
            <a:off x="2679192" y="1463040"/>
            <a:ext cx="91440" cy="0"/>
          </a:xfrm>
          <a:prstGeom prst="line">
            <a:avLst/>
          </a:prstGeom>
          <a:noFill/>
          <a:ln w="25400">
            <a:solidFill>
              <a:srgbClr val="7DAE5C"/>
            </a:solidFill>
            <a:prstDash val="solid"/>
          </a:ln>
        </p:spPr>
      </p:sp>
      <p:sp>
        <p:nvSpPr>
          <p:cNvPr id="12" name="Shape 10"/>
          <p:cNvSpPr/>
          <p:nvPr/>
        </p:nvSpPr>
        <p:spPr>
          <a:xfrm>
            <a:off x="2779776" y="1005840"/>
            <a:ext cx="1097280" cy="914400"/>
          </a:xfrm>
          <a:prstGeom prst="roundRect">
            <a:avLst>
              <a:gd name="adj" fmla="val 8000"/>
            </a:avLst>
          </a:prstGeom>
          <a:solidFill>
            <a:srgbClr val="EEF6E7"/>
          </a:solidFill>
          <a:ln w="12700">
            <a:solidFill>
              <a:srgbClr val="7DAE5C"/>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2779776" y="1051560"/>
            <a:ext cx="1097280" cy="457200"/>
          </a:xfrm>
          <a:prstGeom prst="rect">
            <a:avLst/>
          </a:prstGeom>
          <a:noFill/>
          <a:ln/>
        </p:spPr>
        <p:txBody>
          <a:bodyPr wrap="square" lIns="0" tIns="0" rIns="0" bIns="0" rtlCol="0" anchor="ctr"/>
          <a:lstStyle/>
          <a:p>
            <a:pPr algn="ctr" indent="0" marL="0">
              <a:buNone/>
            </a:pPr>
            <a:r>
              <a:rPr lang="en-US" sz="1050" b="1" dirty="0">
                <a:solidFill>
                  <a:srgbClr val="1B2A4A"/>
                </a:solidFill>
                <a:latin typeface="Cambria" pitchFamily="34" charset="0"/>
                <a:ea typeface="Cambria" pitchFamily="34" charset="-122"/>
                <a:cs typeface="Cambria" pitchFamily="34" charset="-120"/>
              </a:rPr>
              <a:t>Recipe</a:t>
            </a:r>
            <a:endParaRPr lang="en-US" sz="1050" dirty="0"/>
          </a:p>
          <a:p>
            <a:pPr algn="ctr" indent="0" marL="0">
              <a:buNone/>
            </a:pPr>
            <a:r>
              <a:rPr lang="en-US" sz="1050" b="1" dirty="0">
                <a:solidFill>
                  <a:srgbClr val="1B2A4A"/>
                </a:solidFill>
                <a:latin typeface="Cambria" pitchFamily="34" charset="0"/>
                <a:ea typeface="Cambria" pitchFamily="34" charset="-122"/>
                <a:cs typeface="Cambria" pitchFamily="34" charset="-120"/>
              </a:rPr>
              <a:t>match</a:t>
            </a:r>
            <a:endParaRPr lang="en-US" sz="1050" dirty="0"/>
          </a:p>
        </p:txBody>
      </p:sp>
      <p:sp>
        <p:nvSpPr>
          <p:cNvPr id="14" name="Text 12"/>
          <p:cNvSpPr/>
          <p:nvPr/>
        </p:nvSpPr>
        <p:spPr>
          <a:xfrm>
            <a:off x="2779776" y="1508760"/>
            <a:ext cx="1097280" cy="347472"/>
          </a:xfrm>
          <a:prstGeom prst="rect">
            <a:avLst/>
          </a:prstGeom>
          <a:noFill/>
          <a:ln/>
        </p:spPr>
        <p:txBody>
          <a:bodyPr wrap="square" lIns="0" tIns="0" rIns="0" bIns="0" rtlCol="0" anchor="ctr"/>
          <a:lstStyle/>
          <a:p>
            <a:pPr algn="ctr" indent="0" marL="0">
              <a:buNone/>
            </a:pPr>
            <a:r>
              <a:rPr lang="en-US" sz="900" i="1" dirty="0">
                <a:solidFill>
                  <a:srgbClr val="637074"/>
                </a:solidFill>
                <a:latin typeface="Calibri" pitchFamily="34" charset="0"/>
                <a:ea typeface="Calibri" pitchFamily="34" charset="-122"/>
                <a:cs typeface="Calibri" pitchFamily="34" charset="-120"/>
              </a:rPr>
              <a:t>70+ countries</a:t>
            </a:r>
            <a:endParaRPr lang="en-US" sz="900" dirty="0"/>
          </a:p>
        </p:txBody>
      </p:sp>
      <p:sp>
        <p:nvSpPr>
          <p:cNvPr id="15" name="Shape 13"/>
          <p:cNvSpPr/>
          <p:nvPr/>
        </p:nvSpPr>
        <p:spPr>
          <a:xfrm>
            <a:off x="3895344" y="1463040"/>
            <a:ext cx="91440" cy="0"/>
          </a:xfrm>
          <a:prstGeom prst="line">
            <a:avLst/>
          </a:prstGeom>
          <a:noFill/>
          <a:ln w="25400">
            <a:solidFill>
              <a:srgbClr val="7DAE5C"/>
            </a:solidFill>
            <a:prstDash val="solid"/>
          </a:ln>
        </p:spPr>
      </p:sp>
      <p:sp>
        <p:nvSpPr>
          <p:cNvPr id="16" name="Shape 14"/>
          <p:cNvSpPr/>
          <p:nvPr/>
        </p:nvSpPr>
        <p:spPr>
          <a:xfrm>
            <a:off x="3995928" y="1005840"/>
            <a:ext cx="1097280" cy="914400"/>
          </a:xfrm>
          <a:prstGeom prst="roundRect">
            <a:avLst>
              <a:gd name="adj" fmla="val 8000"/>
            </a:avLst>
          </a:prstGeom>
          <a:solidFill>
            <a:srgbClr val="EEF6E7"/>
          </a:solidFill>
          <a:ln w="12700">
            <a:solidFill>
              <a:srgbClr val="7DAE5C"/>
            </a:solidFill>
            <a:prstDash val="solid"/>
          </a:ln>
          <a:effectLst>
            <a:outerShdw sx="100000" sy="100000" kx="0" ky="0" algn="bl" rotWithShape="0" blurRad="101600" dist="38100" dir="2700000">
              <a:srgbClr val="000000">
                <a:alpha val="12000"/>
              </a:srgbClr>
            </a:outerShdw>
          </a:effectLst>
        </p:spPr>
      </p:sp>
      <p:sp>
        <p:nvSpPr>
          <p:cNvPr id="17" name="Text 15"/>
          <p:cNvSpPr/>
          <p:nvPr/>
        </p:nvSpPr>
        <p:spPr>
          <a:xfrm>
            <a:off x="3995928" y="1051560"/>
            <a:ext cx="1097280" cy="457200"/>
          </a:xfrm>
          <a:prstGeom prst="rect">
            <a:avLst/>
          </a:prstGeom>
          <a:noFill/>
          <a:ln/>
        </p:spPr>
        <p:txBody>
          <a:bodyPr wrap="square" lIns="0" tIns="0" rIns="0" bIns="0" rtlCol="0" anchor="ctr"/>
          <a:lstStyle/>
          <a:p>
            <a:pPr algn="ctr" indent="0" marL="0">
              <a:buNone/>
            </a:pPr>
            <a:r>
              <a:rPr lang="en-US" sz="1050" b="1" dirty="0">
                <a:solidFill>
                  <a:srgbClr val="1B2A4A"/>
                </a:solidFill>
                <a:latin typeface="Cambria" pitchFamily="34" charset="0"/>
                <a:ea typeface="Cambria" pitchFamily="34" charset="-122"/>
                <a:cs typeface="Cambria" pitchFamily="34" charset="-120"/>
              </a:rPr>
              <a:t>Store</a:t>
            </a:r>
            <a:endParaRPr lang="en-US" sz="1050" dirty="0"/>
          </a:p>
          <a:p>
            <a:pPr algn="ctr" indent="0" marL="0">
              <a:buNone/>
            </a:pPr>
            <a:r>
              <a:rPr lang="en-US" sz="1050" b="1" dirty="0">
                <a:solidFill>
                  <a:srgbClr val="1B2A4A"/>
                </a:solidFill>
                <a:latin typeface="Cambria" pitchFamily="34" charset="0"/>
                <a:ea typeface="Cambria" pitchFamily="34" charset="-122"/>
                <a:cs typeface="Cambria" pitchFamily="34" charset="-120"/>
              </a:rPr>
              <a:t>ranking</a:t>
            </a:r>
            <a:endParaRPr lang="en-US" sz="1050" dirty="0"/>
          </a:p>
        </p:txBody>
      </p:sp>
      <p:sp>
        <p:nvSpPr>
          <p:cNvPr id="18" name="Text 16"/>
          <p:cNvSpPr/>
          <p:nvPr/>
        </p:nvSpPr>
        <p:spPr>
          <a:xfrm>
            <a:off x="3995928" y="1508760"/>
            <a:ext cx="1097280" cy="347472"/>
          </a:xfrm>
          <a:prstGeom prst="rect">
            <a:avLst/>
          </a:prstGeom>
          <a:noFill/>
          <a:ln/>
        </p:spPr>
        <p:txBody>
          <a:bodyPr wrap="square" lIns="0" tIns="0" rIns="0" bIns="0" rtlCol="0" anchor="ctr"/>
          <a:lstStyle/>
          <a:p>
            <a:pPr algn="ctr" indent="0" marL="0">
              <a:buNone/>
            </a:pPr>
            <a:r>
              <a:rPr lang="en-US" sz="900" i="1" dirty="0">
                <a:solidFill>
                  <a:srgbClr val="637074"/>
                </a:solidFill>
                <a:latin typeface="Calibri" pitchFamily="34" charset="0"/>
                <a:ea typeface="Calibri" pitchFamily="34" charset="-122"/>
                <a:cs typeface="Calibri" pitchFamily="34" charset="-120"/>
              </a:rPr>
              <a:t>price × distance</a:t>
            </a:r>
            <a:endParaRPr lang="en-US" sz="900" dirty="0"/>
          </a:p>
        </p:txBody>
      </p:sp>
      <p:sp>
        <p:nvSpPr>
          <p:cNvPr id="19" name="Text 17"/>
          <p:cNvSpPr/>
          <p:nvPr/>
        </p:nvSpPr>
        <p:spPr>
          <a:xfrm>
            <a:off x="365760" y="2057400"/>
            <a:ext cx="4846320" cy="310896"/>
          </a:xfrm>
          <a:prstGeom prst="rect">
            <a:avLst/>
          </a:prstGeom>
          <a:noFill/>
          <a:ln/>
        </p:spPr>
        <p:txBody>
          <a:bodyPr wrap="square" lIns="0" tIns="0" rIns="0" bIns="0" rtlCol="0" anchor="ctr"/>
          <a:lstStyle/>
          <a:p>
            <a:pPr indent="0" marL="0">
              <a:buNone/>
            </a:pPr>
            <a:r>
              <a:rPr lang="en-US" sz="1450" b="1" dirty="0">
                <a:solidFill>
                  <a:srgbClr val="1B2A4A"/>
                </a:solidFill>
                <a:latin typeface="Cambria" pitchFamily="34" charset="0"/>
                <a:ea typeface="Cambria" pitchFamily="34" charset="-122"/>
                <a:cs typeface="Cambria" pitchFamily="34" charset="-120"/>
              </a:rPr>
              <a:t>How It Works</a:t>
            </a:r>
            <a:endParaRPr lang="en-US" sz="1450" dirty="0"/>
          </a:p>
        </p:txBody>
      </p:sp>
      <p:sp>
        <p:nvSpPr>
          <p:cNvPr id="20" name="Text 18"/>
          <p:cNvSpPr/>
          <p:nvPr/>
        </p:nvSpPr>
        <p:spPr>
          <a:xfrm>
            <a:off x="365760" y="2395728"/>
            <a:ext cx="4800600" cy="2377440"/>
          </a:xfrm>
          <a:prstGeom prst="rect">
            <a:avLst/>
          </a:prstGeom>
          <a:noFill/>
          <a:ln/>
        </p:spPr>
        <p:txBody>
          <a:bodyPr wrap="square" rtlCol="0" anchor="ctr"/>
          <a:lstStyle/>
          <a:p>
            <a:pPr marL="342900" indent="-342900">
              <a:spcAft>
                <a:spcPts val="500"/>
              </a:spcAft>
              <a:buSzPct val="100000"/>
              <a:buChar char="•"/>
            </a:pPr>
            <a:r>
              <a:rPr lang="en-US" sz="1300" dirty="0">
                <a:solidFill>
                  <a:srgbClr val="2D3436"/>
                </a:solidFill>
                <a:latin typeface="Calibri" pitchFamily="34" charset="0"/>
                <a:ea typeface="Calibri" pitchFamily="34" charset="-122"/>
                <a:cs typeface="Calibri" pitchFamily="34" charset="-120"/>
              </a:rPr>
              <a:t>SeasoningPairingEngine decodes natural language into 7 flavor layer categories: base, acid, fat, heat, umami, sweet, aromatic</a:t>
            </a:r>
            <a:endParaRPr lang="en-US" sz="1300" dirty="0"/>
          </a:p>
          <a:p>
            <a:pPr marL="342900" indent="-342900">
              <a:spcAft>
                <a:spcPts val="500"/>
              </a:spcAft>
              <a:buSzPct val="100000"/>
              <a:buChar char="•"/>
            </a:pPr>
            <a:r>
              <a:rPr lang="en-US" sz="1300" dirty="0">
                <a:solidFill>
                  <a:srgbClr val="2D3436"/>
                </a:solidFill>
                <a:latin typeface="Calibri" pitchFamily="34" charset="0"/>
                <a:ea typeface="Calibri" pitchFamily="34" charset="-122"/>
                <a:cs typeface="Calibri" pitchFamily="34" charset="-120"/>
              </a:rPr>
              <a:t>Decoded flavor profile matched to 26,000+ recipe database using ingredient and cuisine-type overlap scoring</a:t>
            </a:r>
            <a:endParaRPr lang="en-US" sz="1300" dirty="0"/>
          </a:p>
          <a:p>
            <a:pPr marL="342900" indent="-342900">
              <a:spcAft>
                <a:spcPts val="500"/>
              </a:spcAft>
              <a:buSzPct val="100000"/>
              <a:buChar char="•"/>
            </a:pPr>
            <a:r>
              <a:rPr lang="en-US" sz="1300" dirty="0">
                <a:solidFill>
                  <a:srgbClr val="2D3436"/>
                </a:solidFill>
                <a:latin typeface="Calibri" pitchFamily="34" charset="0"/>
                <a:ea typeface="Calibri" pitchFamily="34" charset="-122"/>
                <a:cs typeface="Calibri" pitchFamily="34" charset="-120"/>
              </a:rPr>
              <a:t>GroceryLocator (Python/Flask) finds stores within configurable radius using geolocation</a:t>
            </a:r>
            <a:endParaRPr lang="en-US" sz="1300" dirty="0"/>
          </a:p>
          <a:p>
            <a:pPr marL="342900" indent="-342900">
              <a:spcAft>
                <a:spcPts val="500"/>
              </a:spcAft>
              <a:buSzPct val="100000"/>
              <a:buChar char="•"/>
            </a:pPr>
            <a:r>
              <a:rPr lang="en-US" sz="1300" dirty="0">
                <a:solidFill>
                  <a:srgbClr val="2D3436"/>
                </a:solidFill>
                <a:latin typeface="Calibri" pitchFamily="34" charset="0"/>
                <a:ea typeface="Calibri" pitchFamily="34" charset="-122"/>
                <a:cs typeface="Calibri" pitchFamily="34" charset="-120"/>
              </a:rPr>
              <a:t>DynamicPricing algorithm ranks stores by per-ingredient price, distance, and historical user preference signals</a:t>
            </a:r>
            <a:endParaRPr lang="en-US" sz="1300" dirty="0"/>
          </a:p>
        </p:txBody>
      </p:sp>
      <p:sp>
        <p:nvSpPr>
          <p:cNvPr id="21" name="Shape 19"/>
          <p:cNvSpPr/>
          <p:nvPr/>
        </p:nvSpPr>
        <p:spPr>
          <a:xfrm>
            <a:off x="5349240" y="896112"/>
            <a:ext cx="3429000" cy="3657600"/>
          </a:xfrm>
          <a:prstGeom prst="roundRect">
            <a:avLst>
              <a:gd name="adj" fmla="val 2667"/>
            </a:avLst>
          </a:prstGeom>
          <a:solidFill>
            <a:srgbClr val="E8F1E0"/>
          </a:solidFill>
          <a:ln w="19050">
            <a:solidFill>
              <a:srgbClr val="7DAE5C"/>
            </a:solidFill>
            <a:prstDash val="solid"/>
          </a:ln>
          <a:effectLst>
            <a:outerShdw sx="100000" sy="100000" kx="0" ky="0" algn="bl" rotWithShape="0" blurRad="101600" dist="38100" dir="2700000">
              <a:srgbClr val="000000">
                <a:alpha val="12000"/>
              </a:srgbClr>
            </a:outerShdw>
          </a:effectLst>
        </p:spPr>
      </p:sp>
      <p:sp>
        <p:nvSpPr>
          <p:cNvPr id="22" name="Text 20"/>
          <p:cNvSpPr/>
          <p:nvPr/>
        </p:nvSpPr>
        <p:spPr>
          <a:xfrm>
            <a:off x="5440680" y="996696"/>
            <a:ext cx="3246120" cy="274320"/>
          </a:xfrm>
          <a:prstGeom prst="rect">
            <a:avLst/>
          </a:prstGeom>
          <a:noFill/>
          <a:ln/>
        </p:spPr>
        <p:txBody>
          <a:bodyPr wrap="square" lIns="0" tIns="0" rIns="0" bIns="0" rtlCol="0" anchor="ctr"/>
          <a:lstStyle/>
          <a:p>
            <a:pPr algn="ctr" indent="0" marL="0">
              <a:buNone/>
            </a:pPr>
            <a:r>
              <a:rPr lang="en-US" sz="950" b="1" spc="150" kern="0" dirty="0">
                <a:solidFill>
                  <a:srgbClr val="7DAE5C"/>
                </a:solidFill>
                <a:latin typeface="Calibri" pitchFamily="34" charset="0"/>
                <a:ea typeface="Calibri" pitchFamily="34" charset="-122"/>
                <a:cs typeface="Calibri" pitchFamily="34" charset="-120"/>
              </a:rPr>
              <a:t>POTENTIAL PATENT CLAIM</a:t>
            </a:r>
            <a:endParaRPr lang="en-US" sz="950" dirty="0"/>
          </a:p>
        </p:txBody>
      </p:sp>
      <p:sp>
        <p:nvSpPr>
          <p:cNvPr id="23" name="Text 21"/>
          <p:cNvSpPr/>
          <p:nvPr/>
        </p:nvSpPr>
        <p:spPr>
          <a:xfrm>
            <a:off x="5440680" y="1325880"/>
            <a:ext cx="3246120" cy="1874520"/>
          </a:xfrm>
          <a:prstGeom prst="rect">
            <a:avLst/>
          </a:prstGeom>
          <a:noFill/>
          <a:ln/>
        </p:spPr>
        <p:txBody>
          <a:bodyPr wrap="square" lIns="0" tIns="0" rIns="0" bIns="0" rtlCol="0" anchor="ctr"/>
          <a:lstStyle/>
          <a:p>
            <a:pPr indent="0" marL="0">
              <a:buNone/>
            </a:pPr>
            <a:r>
              <a:rPr lang="en-US" sz="1250" i="1" dirty="0">
                <a:solidFill>
                  <a:srgbClr val="2C5F2D"/>
                </a:solidFill>
                <a:latin typeface="Calibri" pitchFamily="34" charset="0"/>
                <a:ea typeface="Calibri" pitchFamily="34" charset="-122"/>
                <a:cs typeface="Calibri" pitchFamily="34" charset="-120"/>
              </a:rPr>
              <a:t>Method for translating a natural language food craving input into a ranked list of nearby retail locations with ingredient-level pricing, using an intermediate seven-category flavor-layer decoding model as the translation step.</a:t>
            </a:r>
            <a:endParaRPr lang="en-US" sz="1250" dirty="0"/>
          </a:p>
        </p:txBody>
      </p:sp>
      <p:sp>
        <p:nvSpPr>
          <p:cNvPr id="24" name="Shape 22"/>
          <p:cNvSpPr/>
          <p:nvPr/>
        </p:nvSpPr>
        <p:spPr>
          <a:xfrm>
            <a:off x="5440680" y="3246120"/>
            <a:ext cx="3246120" cy="1097280"/>
          </a:xfrm>
          <a:prstGeom prst="roundRect">
            <a:avLst>
              <a:gd name="adj" fmla="val 6667"/>
            </a:avLst>
          </a:prstGeom>
          <a:solidFill>
            <a:srgbClr val="D4EBC8"/>
          </a:solidFill>
          <a:ln/>
        </p:spPr>
      </p:sp>
      <p:sp>
        <p:nvSpPr>
          <p:cNvPr id="25" name="Text 23"/>
          <p:cNvSpPr/>
          <p:nvPr/>
        </p:nvSpPr>
        <p:spPr>
          <a:xfrm>
            <a:off x="5440680" y="3291840"/>
            <a:ext cx="3246120" cy="1005840"/>
          </a:xfrm>
          <a:prstGeom prst="rect">
            <a:avLst/>
          </a:prstGeom>
          <a:noFill/>
          <a:ln/>
        </p:spPr>
        <p:txBody>
          <a:bodyPr wrap="square" lIns="0" tIns="0" rIns="0" bIns="0" rtlCol="0" anchor="ctr"/>
          <a:lstStyle/>
          <a:p>
            <a:pPr algn="ctr" indent="0" marL="0">
              <a:buNone/>
            </a:pPr>
            <a:r>
              <a:rPr lang="en-US" sz="1200" b="1" dirty="0">
                <a:solidFill>
                  <a:srgbClr val="1B2A4A"/>
                </a:solidFill>
                <a:latin typeface="Cambria" pitchFamily="34" charset="0"/>
                <a:ea typeface="Cambria" pitchFamily="34" charset="-122"/>
                <a:cs typeface="Cambria" pitchFamily="34" charset="-120"/>
              </a:rPr>
              <a:t>Craving → flavor</a:t>
            </a:r>
            <a:endParaRPr lang="en-US" sz="1200" dirty="0"/>
          </a:p>
          <a:p>
            <a:pPr algn="ctr" indent="0" marL="0">
              <a:buNone/>
            </a:pPr>
            <a:r>
              <a:rPr lang="en-US" sz="1200" b="1" dirty="0">
                <a:solidFill>
                  <a:srgbClr val="1B2A4A"/>
                </a:solidFill>
                <a:latin typeface="Cambria" pitchFamily="34" charset="0"/>
                <a:ea typeface="Cambria" pitchFamily="34" charset="-122"/>
                <a:cs typeface="Cambria" pitchFamily="34" charset="-120"/>
              </a:rPr>
              <a:t>layer → store rank</a:t>
            </a:r>
            <a:endParaRPr lang="en-US" sz="1200" dirty="0"/>
          </a:p>
          <a:p>
            <a:pPr algn="ctr" indent="0" marL="0">
              <a:buNone/>
            </a:pPr>
            <a:r>
              <a:rPr lang="en-US" sz="1200" b="1" dirty="0">
                <a:solidFill>
                  <a:srgbClr val="1B2A4A"/>
                </a:solidFill>
                <a:latin typeface="Cambria" pitchFamily="34" charset="0"/>
                <a:ea typeface="Cambria" pitchFamily="34" charset="-122"/>
                <a:cs typeface="Cambria" pitchFamily="34" charset="-120"/>
              </a:rPr>
              <a:t>is a novel pipeline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B2A4A"/>
          </a:solidFill>
          <a:ln/>
        </p:spPr>
      </p:sp>
      <p:sp>
        <p:nvSpPr>
          <p:cNvPr id="3" name="Text 1"/>
          <p:cNvSpPr/>
          <p:nvPr/>
        </p:nvSpPr>
        <p:spPr>
          <a:xfrm>
            <a:off x="365760" y="91440"/>
            <a:ext cx="8686800" cy="5943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System 03  ·  Gamification Loop Tied to Real-World Retail Behavior</a:t>
            </a:r>
            <a:endParaRPr lang="en-US" sz="1900" dirty="0"/>
          </a:p>
        </p:txBody>
      </p:sp>
      <p:sp>
        <p:nvSpPr>
          <p:cNvPr id="4" name="Shape 2"/>
          <p:cNvSpPr/>
          <p:nvPr/>
        </p:nvSpPr>
        <p:spPr>
          <a:xfrm>
            <a:off x="457200" y="1078992"/>
            <a:ext cx="1554480" cy="658368"/>
          </a:xfrm>
          <a:prstGeom prst="ellipse">
            <a:avLst/>
          </a:prstGeom>
          <a:solidFill>
            <a:srgbClr val="243A5E"/>
          </a:solidFill>
          <a:ln w="19050">
            <a:solidFill>
              <a:srgbClr val="7DAE5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457200" y="1078992"/>
            <a:ext cx="1554480" cy="65836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Visit Store</a:t>
            </a:r>
            <a:endParaRPr lang="en-US" sz="1200" dirty="0"/>
          </a:p>
        </p:txBody>
      </p:sp>
      <p:sp>
        <p:nvSpPr>
          <p:cNvPr id="6" name="Shape 4"/>
          <p:cNvSpPr/>
          <p:nvPr/>
        </p:nvSpPr>
        <p:spPr>
          <a:xfrm>
            <a:off x="2606040" y="1078992"/>
            <a:ext cx="1554480" cy="658368"/>
          </a:xfrm>
          <a:prstGeom prst="ellipse">
            <a:avLst/>
          </a:prstGeom>
          <a:solidFill>
            <a:srgbClr val="243A5E"/>
          </a:solidFill>
          <a:ln w="19050">
            <a:solidFill>
              <a:srgbClr val="7DAE5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2606040" y="1078992"/>
            <a:ext cx="1554480" cy="65836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Earn Coins</a:t>
            </a:r>
            <a:endParaRPr lang="en-US" sz="1200" dirty="0"/>
          </a:p>
        </p:txBody>
      </p:sp>
      <p:sp>
        <p:nvSpPr>
          <p:cNvPr id="8" name="Shape 6"/>
          <p:cNvSpPr/>
          <p:nvPr/>
        </p:nvSpPr>
        <p:spPr>
          <a:xfrm>
            <a:off x="2606040" y="2606040"/>
            <a:ext cx="1554480" cy="658368"/>
          </a:xfrm>
          <a:prstGeom prst="ellipse">
            <a:avLst/>
          </a:prstGeom>
          <a:solidFill>
            <a:srgbClr val="243A5E"/>
          </a:solidFill>
          <a:ln w="19050">
            <a:solidFill>
              <a:srgbClr val="7DAE5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2606040" y="2606040"/>
            <a:ext cx="1554480" cy="65836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Unlock Avatar</a:t>
            </a:r>
            <a:endParaRPr lang="en-US" sz="1200" dirty="0"/>
          </a:p>
        </p:txBody>
      </p:sp>
      <p:sp>
        <p:nvSpPr>
          <p:cNvPr id="10" name="Shape 8"/>
          <p:cNvSpPr/>
          <p:nvPr/>
        </p:nvSpPr>
        <p:spPr>
          <a:xfrm>
            <a:off x="457200" y="2606040"/>
            <a:ext cx="1554480" cy="658368"/>
          </a:xfrm>
          <a:prstGeom prst="ellipse">
            <a:avLst/>
          </a:prstGeom>
          <a:solidFill>
            <a:srgbClr val="243A5E"/>
          </a:solidFill>
          <a:ln w="19050">
            <a:solidFill>
              <a:srgbClr val="7DAE5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457200" y="2606040"/>
            <a:ext cx="1554480" cy="65836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Daily Quest</a:t>
            </a:r>
            <a:endParaRPr lang="en-US" sz="1200" dirty="0"/>
          </a:p>
        </p:txBody>
      </p:sp>
      <p:sp>
        <p:nvSpPr>
          <p:cNvPr id="12" name="Shape 10"/>
          <p:cNvSpPr/>
          <p:nvPr/>
        </p:nvSpPr>
        <p:spPr>
          <a:xfrm>
            <a:off x="2029968" y="1408176"/>
            <a:ext cx="557784" cy="0"/>
          </a:xfrm>
          <a:prstGeom prst="line">
            <a:avLst/>
          </a:prstGeom>
          <a:noFill/>
          <a:ln w="19050">
            <a:solidFill>
              <a:srgbClr val="7DAE5C"/>
            </a:solidFill>
            <a:prstDash val="solid"/>
          </a:ln>
        </p:spPr>
      </p:sp>
      <p:sp>
        <p:nvSpPr>
          <p:cNvPr id="13" name="Shape 11"/>
          <p:cNvSpPr/>
          <p:nvPr/>
        </p:nvSpPr>
        <p:spPr>
          <a:xfrm>
            <a:off x="3383280" y="1755648"/>
            <a:ext cx="0" cy="832104"/>
          </a:xfrm>
          <a:prstGeom prst="line">
            <a:avLst/>
          </a:prstGeom>
          <a:noFill/>
          <a:ln w="19050">
            <a:solidFill>
              <a:srgbClr val="7DAE5C"/>
            </a:solidFill>
            <a:prstDash val="solid"/>
          </a:ln>
        </p:spPr>
      </p:sp>
      <p:sp>
        <p:nvSpPr>
          <p:cNvPr id="14" name="Shape 12"/>
          <p:cNvSpPr/>
          <p:nvPr/>
        </p:nvSpPr>
        <p:spPr>
          <a:xfrm>
            <a:off x="2029968" y="2935224"/>
            <a:ext cx="557784" cy="0"/>
          </a:xfrm>
          <a:prstGeom prst="line">
            <a:avLst/>
          </a:prstGeom>
          <a:noFill/>
          <a:ln w="19050">
            <a:solidFill>
              <a:srgbClr val="7DAE5C"/>
            </a:solidFill>
            <a:prstDash val="solid"/>
          </a:ln>
        </p:spPr>
      </p:sp>
      <p:sp>
        <p:nvSpPr>
          <p:cNvPr id="15" name="Shape 13"/>
          <p:cNvSpPr/>
          <p:nvPr/>
        </p:nvSpPr>
        <p:spPr>
          <a:xfrm>
            <a:off x="1234440" y="1755648"/>
            <a:ext cx="0" cy="832104"/>
          </a:xfrm>
          <a:prstGeom prst="line">
            <a:avLst/>
          </a:prstGeom>
          <a:noFill/>
          <a:ln w="19050">
            <a:solidFill>
              <a:srgbClr val="7DAE5C"/>
            </a:solidFill>
            <a:prstDash val="solid"/>
          </a:ln>
        </p:spPr>
      </p:sp>
      <p:sp>
        <p:nvSpPr>
          <p:cNvPr id="16" name="Text 14"/>
          <p:cNvSpPr/>
          <p:nvPr/>
        </p:nvSpPr>
        <p:spPr>
          <a:xfrm>
            <a:off x="365760" y="3401568"/>
            <a:ext cx="4846320" cy="310896"/>
          </a:xfrm>
          <a:prstGeom prst="rect">
            <a:avLst/>
          </a:prstGeom>
          <a:noFill/>
          <a:ln/>
        </p:spPr>
        <p:txBody>
          <a:bodyPr wrap="square" lIns="0" tIns="0" rIns="0" bIns="0" rtlCol="0" anchor="ctr"/>
          <a:lstStyle/>
          <a:p>
            <a:pPr indent="0" marL="0">
              <a:buNone/>
            </a:pPr>
            <a:r>
              <a:rPr lang="en-US" sz="1450" b="1" dirty="0">
                <a:solidFill>
                  <a:srgbClr val="1B2A4A"/>
                </a:solidFill>
                <a:latin typeface="Cambria" pitchFamily="34" charset="0"/>
                <a:ea typeface="Cambria" pitchFamily="34" charset="-122"/>
                <a:cs typeface="Cambria" pitchFamily="34" charset="-120"/>
              </a:rPr>
              <a:t>How It Works</a:t>
            </a:r>
            <a:endParaRPr lang="en-US" sz="1450" dirty="0"/>
          </a:p>
        </p:txBody>
      </p:sp>
      <p:sp>
        <p:nvSpPr>
          <p:cNvPr id="17" name="Text 15"/>
          <p:cNvSpPr/>
          <p:nvPr/>
        </p:nvSpPr>
        <p:spPr>
          <a:xfrm>
            <a:off x="365760" y="3749040"/>
            <a:ext cx="4800600" cy="1234440"/>
          </a:xfrm>
          <a:prstGeom prst="rect">
            <a:avLst/>
          </a:prstGeom>
          <a:noFill/>
          <a:ln/>
        </p:spPr>
        <p:txBody>
          <a:bodyPr wrap="square" rtlCol="0" anchor="ctr"/>
          <a:lstStyle/>
          <a:p>
            <a:pPr marL="342900" indent="-342900">
              <a:spcAft>
                <a:spcPts val="500"/>
              </a:spcAft>
              <a:buSzPct val="100000"/>
              <a:buChar char="•"/>
            </a:pPr>
            <a:r>
              <a:rPr lang="en-US" sz="1250" dirty="0">
                <a:solidFill>
                  <a:srgbClr val="2D3436"/>
                </a:solidFill>
                <a:latin typeface="Calibri" pitchFamily="34" charset="0"/>
                <a:ea typeface="Calibri" pitchFamily="34" charset="-122"/>
                <a:cs typeface="Calibri" pitchFamily="34" charset="-120"/>
              </a:rPr>
              <a:t>Check-in service validates store visits via GPS geolocation matching against a database of known store locations nationally</a:t>
            </a:r>
            <a:endParaRPr lang="en-US" sz="1250" dirty="0"/>
          </a:p>
          <a:p>
            <a:pPr marL="342900" indent="-342900">
              <a:spcAft>
                <a:spcPts val="500"/>
              </a:spcAft>
              <a:buSzPct val="100000"/>
              <a:buChar char="•"/>
            </a:pPr>
            <a:r>
              <a:rPr lang="en-US" sz="1250" dirty="0">
                <a:solidFill>
                  <a:srgbClr val="2D3436"/>
                </a:solidFill>
                <a:latin typeface="Calibri" pitchFamily="34" charset="0"/>
                <a:ea typeface="Calibri" pitchFamily="34" charset="-122"/>
                <a:cs typeface="Calibri" pitchFamily="34" charset="-120"/>
              </a:rPr>
              <a:t>Coins awarded per check-in with multipliers: streak continuity, state exploration bonuses, and first-visit bonuses</a:t>
            </a:r>
            <a:endParaRPr lang="en-US" sz="1250" dirty="0"/>
          </a:p>
        </p:txBody>
      </p:sp>
      <p:sp>
        <p:nvSpPr>
          <p:cNvPr id="18" name="Shape 16"/>
          <p:cNvSpPr/>
          <p:nvPr/>
        </p:nvSpPr>
        <p:spPr>
          <a:xfrm>
            <a:off x="5349240" y="896112"/>
            <a:ext cx="3429000" cy="3657600"/>
          </a:xfrm>
          <a:prstGeom prst="roundRect">
            <a:avLst>
              <a:gd name="adj" fmla="val 2667"/>
            </a:avLst>
          </a:prstGeom>
          <a:solidFill>
            <a:srgbClr val="E8F1E0"/>
          </a:solidFill>
          <a:ln w="19050">
            <a:solidFill>
              <a:srgbClr val="7DAE5C"/>
            </a:solidFill>
            <a:prstDash val="solid"/>
          </a:ln>
          <a:effectLst>
            <a:outerShdw sx="100000" sy="100000" kx="0" ky="0" algn="bl" rotWithShape="0" blurRad="101600" dist="38100" dir="2700000">
              <a:srgbClr val="000000">
                <a:alpha val="12000"/>
              </a:srgbClr>
            </a:outerShdw>
          </a:effectLst>
        </p:spPr>
      </p:sp>
      <p:sp>
        <p:nvSpPr>
          <p:cNvPr id="19" name="Text 17"/>
          <p:cNvSpPr/>
          <p:nvPr/>
        </p:nvSpPr>
        <p:spPr>
          <a:xfrm>
            <a:off x="5440680" y="996696"/>
            <a:ext cx="3246120" cy="274320"/>
          </a:xfrm>
          <a:prstGeom prst="rect">
            <a:avLst/>
          </a:prstGeom>
          <a:noFill/>
          <a:ln/>
        </p:spPr>
        <p:txBody>
          <a:bodyPr wrap="square" lIns="0" tIns="0" rIns="0" bIns="0" rtlCol="0" anchor="ctr"/>
          <a:lstStyle/>
          <a:p>
            <a:pPr algn="ctr" indent="0" marL="0">
              <a:buNone/>
            </a:pPr>
            <a:r>
              <a:rPr lang="en-US" sz="950" b="1" spc="150" kern="0" dirty="0">
                <a:solidFill>
                  <a:srgbClr val="7DAE5C"/>
                </a:solidFill>
                <a:latin typeface="Calibri" pitchFamily="34" charset="0"/>
                <a:ea typeface="Calibri" pitchFamily="34" charset="-122"/>
                <a:cs typeface="Calibri" pitchFamily="34" charset="-120"/>
              </a:rPr>
              <a:t>POTENTIAL PATENT CLAIM</a:t>
            </a:r>
            <a:endParaRPr lang="en-US" sz="950" dirty="0"/>
          </a:p>
        </p:txBody>
      </p:sp>
      <p:sp>
        <p:nvSpPr>
          <p:cNvPr id="20" name="Text 18"/>
          <p:cNvSpPr/>
          <p:nvPr/>
        </p:nvSpPr>
        <p:spPr>
          <a:xfrm>
            <a:off x="5440680" y="1325880"/>
            <a:ext cx="3246120" cy="1874520"/>
          </a:xfrm>
          <a:prstGeom prst="rect">
            <a:avLst/>
          </a:prstGeom>
          <a:noFill/>
          <a:ln/>
        </p:spPr>
        <p:txBody>
          <a:bodyPr wrap="square" lIns="0" tIns="0" rIns="0" bIns="0" rtlCol="0" anchor="ctr"/>
          <a:lstStyle/>
          <a:p>
            <a:pPr indent="0" marL="0">
              <a:buNone/>
            </a:pPr>
            <a:r>
              <a:rPr lang="en-US" sz="1250" i="1" dirty="0">
                <a:solidFill>
                  <a:srgbClr val="2C5F2D"/>
                </a:solidFill>
                <a:latin typeface="Calibri" pitchFamily="34" charset="0"/>
                <a:ea typeface="Calibri" pitchFamily="34" charset="-122"/>
                <a:cs typeface="Calibri" pitchFamily="34" charset="-120"/>
              </a:rPr>
              <a:t>System for incentivizing physical retail location visits through a virtual currency reward mechanism integrated with a food discovery and recipe application, wherein earned currency is redeemable exclusively for digital avatar customization items.</a:t>
            </a:r>
            <a:endParaRPr lang="en-US" sz="1250" dirty="0"/>
          </a:p>
        </p:txBody>
      </p:sp>
      <p:sp>
        <p:nvSpPr>
          <p:cNvPr id="21" name="Shape 19"/>
          <p:cNvSpPr/>
          <p:nvPr/>
        </p:nvSpPr>
        <p:spPr>
          <a:xfrm>
            <a:off x="5440680" y="3246120"/>
            <a:ext cx="3246120" cy="1097280"/>
          </a:xfrm>
          <a:prstGeom prst="roundRect">
            <a:avLst>
              <a:gd name="adj" fmla="val 6667"/>
            </a:avLst>
          </a:prstGeom>
          <a:solidFill>
            <a:srgbClr val="D4EBC8"/>
          </a:solidFill>
          <a:ln/>
        </p:spPr>
      </p:sp>
      <p:sp>
        <p:nvSpPr>
          <p:cNvPr id="22" name="Text 20"/>
          <p:cNvSpPr/>
          <p:nvPr/>
        </p:nvSpPr>
        <p:spPr>
          <a:xfrm>
            <a:off x="5440680" y="3291840"/>
            <a:ext cx="3246120" cy="1005840"/>
          </a:xfrm>
          <a:prstGeom prst="rect">
            <a:avLst/>
          </a:prstGeom>
          <a:noFill/>
          <a:ln/>
        </p:spPr>
        <p:txBody>
          <a:bodyPr wrap="square" lIns="0" tIns="0" rIns="0" bIns="0" rtlCol="0" anchor="ctr"/>
          <a:lstStyle/>
          <a:p>
            <a:pPr algn="ctr" indent="0" marL="0">
              <a:buNone/>
            </a:pPr>
            <a:r>
              <a:rPr lang="en-US" sz="1200" b="1" dirty="0">
                <a:solidFill>
                  <a:srgbClr val="1B2A4A"/>
                </a:solidFill>
                <a:latin typeface="Cambria" pitchFamily="34" charset="0"/>
                <a:ea typeface="Cambria" pitchFamily="34" charset="-122"/>
                <a:cs typeface="Cambria" pitchFamily="34" charset="-120"/>
              </a:rPr>
              <a:t>Real-world store visits</a:t>
            </a:r>
            <a:endParaRPr lang="en-US" sz="1200" dirty="0"/>
          </a:p>
          <a:p>
            <a:pPr algn="ctr" indent="0" marL="0">
              <a:buNone/>
            </a:pPr>
            <a:r>
              <a:rPr lang="en-US" sz="1200" b="1" dirty="0">
                <a:solidFill>
                  <a:srgbClr val="1B2A4A"/>
                </a:solidFill>
                <a:latin typeface="Cambria" pitchFamily="34" charset="0"/>
                <a:ea typeface="Cambria" pitchFamily="34" charset="-122"/>
                <a:cs typeface="Cambria" pitchFamily="34" charset="-120"/>
              </a:rPr>
              <a:t>fund digital avatar</a:t>
            </a:r>
            <a:endParaRPr lang="en-US" sz="1200" dirty="0"/>
          </a:p>
          <a:p>
            <a:pPr algn="ctr" indent="0" marL="0">
              <a:buNone/>
            </a:pPr>
            <a:r>
              <a:rPr lang="en-US" sz="1200" b="1" dirty="0">
                <a:solidFill>
                  <a:srgbClr val="1B2A4A"/>
                </a:solidFill>
                <a:latin typeface="Cambria" pitchFamily="34" charset="0"/>
                <a:ea typeface="Cambria" pitchFamily="34" charset="-122"/>
                <a:cs typeface="Cambria" pitchFamily="34" charset="-120"/>
              </a:rPr>
              <a:t>cosmetics — novel in</a:t>
            </a:r>
            <a:endParaRPr lang="en-US" sz="1200" dirty="0"/>
          </a:p>
          <a:p>
            <a:pPr algn="ctr" indent="0" marL="0">
              <a:buNone/>
            </a:pPr>
            <a:r>
              <a:rPr lang="en-US" sz="1200" b="1" dirty="0">
                <a:solidFill>
                  <a:srgbClr val="1B2A4A"/>
                </a:solidFill>
                <a:latin typeface="Cambria" pitchFamily="34" charset="0"/>
                <a:ea typeface="Cambria" pitchFamily="34" charset="-122"/>
                <a:cs typeface="Cambria" pitchFamily="34" charset="-120"/>
              </a:rPr>
              <a:t>a food context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B2A4A"/>
          </a:solidFill>
          <a:ln/>
        </p:spPr>
      </p:sp>
      <p:sp>
        <p:nvSpPr>
          <p:cNvPr id="3" name="Text 1"/>
          <p:cNvSpPr/>
          <p:nvPr/>
        </p:nvSpPr>
        <p:spPr>
          <a:xfrm>
            <a:off x="365760" y="91440"/>
            <a:ext cx="8686800" cy="5943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System 04  ·  Ingredient Substitution Engine</a:t>
            </a:r>
            <a:endParaRPr lang="en-US" sz="1900" dirty="0"/>
          </a:p>
        </p:txBody>
      </p:sp>
      <p:sp>
        <p:nvSpPr>
          <p:cNvPr id="4" name="Text 2"/>
          <p:cNvSpPr/>
          <p:nvPr/>
        </p:nvSpPr>
        <p:spPr>
          <a:xfrm>
            <a:off x="365760" y="932688"/>
            <a:ext cx="4846320" cy="310896"/>
          </a:xfrm>
          <a:prstGeom prst="rect">
            <a:avLst/>
          </a:prstGeom>
          <a:noFill/>
          <a:ln/>
        </p:spPr>
        <p:txBody>
          <a:bodyPr wrap="square" lIns="0" tIns="0" rIns="0" bIns="0" rtlCol="0" anchor="ctr"/>
          <a:lstStyle/>
          <a:p>
            <a:pPr indent="0" marL="0">
              <a:buNone/>
            </a:pPr>
            <a:r>
              <a:rPr lang="en-US" sz="1450" b="1" dirty="0">
                <a:solidFill>
                  <a:srgbClr val="1B2A4A"/>
                </a:solidFill>
                <a:latin typeface="Cambria" pitchFamily="34" charset="0"/>
                <a:ea typeface="Cambria" pitchFamily="34" charset="-122"/>
                <a:cs typeface="Cambria" pitchFamily="34" charset="-120"/>
              </a:rPr>
              <a:t>What It Does</a:t>
            </a:r>
            <a:endParaRPr lang="en-US" sz="1450" dirty="0"/>
          </a:p>
        </p:txBody>
      </p:sp>
      <p:sp>
        <p:nvSpPr>
          <p:cNvPr id="5" name="Text 3"/>
          <p:cNvSpPr/>
          <p:nvPr/>
        </p:nvSpPr>
        <p:spPr>
          <a:xfrm>
            <a:off x="365760" y="1280160"/>
            <a:ext cx="4800600" cy="2468880"/>
          </a:xfrm>
          <a:prstGeom prst="rect">
            <a:avLst/>
          </a:prstGeom>
          <a:noFill/>
          <a:ln/>
        </p:spPr>
        <p:txBody>
          <a:bodyPr wrap="square" rtlCol="0" anchor="ctr"/>
          <a:lstStyle/>
          <a:p>
            <a:pPr marL="342900" indent="-342900">
              <a:spcAft>
                <a:spcPts val="500"/>
              </a:spcAft>
              <a:buSzPct val="100000"/>
              <a:buChar char="•"/>
            </a:pPr>
            <a:r>
              <a:rPr lang="en-US" sz="1300" dirty="0">
                <a:solidFill>
                  <a:srgbClr val="2D3436"/>
                </a:solidFill>
                <a:latin typeface="Calibri" pitchFamily="34" charset="0"/>
                <a:ea typeface="Calibri" pitchFamily="34" charset="-122"/>
                <a:cs typeface="Calibri" pitchFamily="34" charset="-120"/>
              </a:rPr>
              <a:t>SubstitutionEngine (Python class) maintains 300+ ingredient substitution mappings organized by culinary category: dairy, eggs, flour, sweeteners, fats, leavening agents, and more</a:t>
            </a:r>
            <a:endParaRPr lang="en-US" sz="1300" dirty="0"/>
          </a:p>
          <a:p>
            <a:pPr marL="342900" indent="-342900">
              <a:spcAft>
                <a:spcPts val="500"/>
              </a:spcAft>
              <a:buSzPct val="100000"/>
              <a:buChar char="•"/>
            </a:pPr>
            <a:r>
              <a:rPr lang="en-US" sz="1300" dirty="0">
                <a:solidFill>
                  <a:srgbClr val="2D3436"/>
                </a:solidFill>
                <a:latin typeface="Calibri" pitchFamily="34" charset="0"/>
                <a:ea typeface="Calibri" pitchFamily="34" charset="-122"/>
                <a:cs typeface="Calibri" pitchFamily="34" charset="-120"/>
              </a:rPr>
              <a:t>Each entry includes: substitute options, ratio adjustments, preparation notes, flavor impact warnings, and use-case restrictions (e.g., works in baked goods only)</a:t>
            </a:r>
            <a:endParaRPr lang="en-US" sz="1300" dirty="0"/>
          </a:p>
          <a:p>
            <a:pPr marL="342900" indent="-342900">
              <a:spcAft>
                <a:spcPts val="500"/>
              </a:spcAft>
              <a:buSzPct val="100000"/>
              <a:buChar char="•"/>
            </a:pPr>
            <a:r>
              <a:rPr lang="en-US" sz="1300" dirty="0">
                <a:solidFill>
                  <a:srgbClr val="2D3436"/>
                </a:solidFill>
                <a:latin typeface="Calibri" pitchFamily="34" charset="0"/>
                <a:ea typeface="Calibri" pitchFamily="34" charset="-122"/>
                <a:cs typeface="Calibri" pitchFamily="34" charset="-120"/>
              </a:rPr>
              <a:t>Engine scores substitutes based on what the user currently has available and returns ranked alternatives</a:t>
            </a:r>
            <a:endParaRPr lang="en-US" sz="1300" dirty="0"/>
          </a:p>
          <a:p>
            <a:pPr marL="342900" indent="-342900">
              <a:spcAft>
                <a:spcPts val="500"/>
              </a:spcAft>
              <a:buSzPct val="100000"/>
              <a:buChar char="•"/>
            </a:pPr>
            <a:r>
              <a:rPr lang="en-US" sz="1300" dirty="0">
                <a:solidFill>
                  <a:srgbClr val="2D3436"/>
                </a:solidFill>
                <a:latin typeface="Calibri" pitchFamily="34" charset="0"/>
                <a:ea typeface="Calibri" pitchFamily="34" charset="-122"/>
                <a:cs typeface="Calibri" pitchFamily="34" charset="-120"/>
              </a:rPr>
              <a:t>Integrates with pantry scanning flow: PantryScanner uses computer vision + manual input for inventory tracking</a:t>
            </a:r>
            <a:endParaRPr lang="en-US" sz="1300" dirty="0"/>
          </a:p>
        </p:txBody>
      </p:sp>
      <p:sp>
        <p:nvSpPr>
          <p:cNvPr id="6" name="Shape 4"/>
          <p:cNvSpPr/>
          <p:nvPr/>
        </p:nvSpPr>
        <p:spPr>
          <a:xfrm>
            <a:off x="365760" y="3794760"/>
            <a:ext cx="4800600" cy="1143000"/>
          </a:xfrm>
          <a:prstGeom prst="roundRect">
            <a:avLst>
              <a:gd name="adj" fmla="val 6400"/>
            </a:avLst>
          </a:prstGeom>
          <a:solidFill>
            <a:srgbClr val="F0F4F8"/>
          </a:solidFill>
          <a:ln/>
          <a:effectLst>
            <a:outerShdw sx="100000" sy="100000" kx="0" ky="0" algn="bl" rotWithShape="0" blurRad="101600" dist="38100" dir="2700000">
              <a:srgbClr val="000000">
                <a:alpha val="12000"/>
              </a:srgbClr>
            </a:outerShdw>
          </a:effectLst>
        </p:spPr>
      </p:sp>
      <p:sp>
        <p:nvSpPr>
          <p:cNvPr id="7" name="Text 5"/>
          <p:cNvSpPr/>
          <p:nvPr/>
        </p:nvSpPr>
        <p:spPr>
          <a:xfrm>
            <a:off x="502920" y="3886200"/>
            <a:ext cx="4572000" cy="256032"/>
          </a:xfrm>
          <a:prstGeom prst="rect">
            <a:avLst/>
          </a:prstGeom>
          <a:noFill/>
          <a:ln/>
        </p:spPr>
        <p:txBody>
          <a:bodyPr wrap="square" lIns="0" tIns="0" rIns="0" bIns="0" rtlCol="0" anchor="ctr"/>
          <a:lstStyle/>
          <a:p>
            <a:pPr indent="0" marL="0">
              <a:buNone/>
            </a:pPr>
            <a:r>
              <a:rPr lang="en-US" sz="1100" b="1" dirty="0">
                <a:solidFill>
                  <a:srgbClr val="1B2A4A"/>
                </a:solidFill>
                <a:latin typeface="Cambria" pitchFamily="34" charset="0"/>
                <a:ea typeface="Cambria" pitchFamily="34" charset="-122"/>
                <a:cs typeface="Cambria" pitchFamily="34" charset="-120"/>
              </a:rPr>
              <a:t>EXAMPLE — Missing buttermilk?</a:t>
            </a:r>
            <a:endParaRPr lang="en-US" sz="1100" dirty="0"/>
          </a:p>
        </p:txBody>
      </p:sp>
      <p:sp>
        <p:nvSpPr>
          <p:cNvPr id="8" name="Text 6"/>
          <p:cNvSpPr/>
          <p:nvPr/>
        </p:nvSpPr>
        <p:spPr>
          <a:xfrm>
            <a:off x="502920" y="4142232"/>
            <a:ext cx="4572000" cy="274320"/>
          </a:xfrm>
          <a:prstGeom prst="rect">
            <a:avLst/>
          </a:prstGeom>
          <a:noFill/>
          <a:ln/>
        </p:spPr>
        <p:txBody>
          <a:bodyPr wrap="square" lIns="0" tIns="0" rIns="0" bIns="0" rtlCol="0" anchor="ctr"/>
          <a:lstStyle/>
          <a:p>
            <a:pPr indent="0" marL="0">
              <a:buNone/>
            </a:pPr>
            <a:r>
              <a:rPr lang="en-US" sz="1100" i="1" dirty="0">
                <a:solidFill>
                  <a:srgbClr val="637074"/>
                </a:solidFill>
                <a:latin typeface="Calibri" pitchFamily="34" charset="0"/>
                <a:ea typeface="Calibri" pitchFamily="34" charset="-122"/>
                <a:cs typeface="Calibri" pitchFamily="34" charset="-120"/>
              </a:rPr>
              <a:t>→  1 cup milk + 1 tbsp white vinegar (sit 5 min) · baked goods only · slight tang flavor impact</a:t>
            </a:r>
            <a:endParaRPr lang="en-US" sz="1100" dirty="0"/>
          </a:p>
        </p:txBody>
      </p:sp>
      <p:sp>
        <p:nvSpPr>
          <p:cNvPr id="9" name="Text 7"/>
          <p:cNvSpPr/>
          <p:nvPr/>
        </p:nvSpPr>
        <p:spPr>
          <a:xfrm>
            <a:off x="502920" y="4416552"/>
            <a:ext cx="4572000" cy="274320"/>
          </a:xfrm>
          <a:prstGeom prst="rect">
            <a:avLst/>
          </a:prstGeom>
          <a:noFill/>
          <a:ln/>
        </p:spPr>
        <p:txBody>
          <a:bodyPr wrap="square" lIns="0" tIns="0" rIns="0" bIns="0" rtlCol="0" anchor="ctr"/>
          <a:lstStyle/>
          <a:p>
            <a:pPr indent="0" marL="0">
              <a:buNone/>
            </a:pPr>
            <a:r>
              <a:rPr lang="en-US" sz="1100" i="1" dirty="0">
                <a:solidFill>
                  <a:srgbClr val="637074"/>
                </a:solidFill>
                <a:latin typeface="Calibri" pitchFamily="34" charset="0"/>
                <a:ea typeface="Calibri" pitchFamily="34" charset="-122"/>
                <a:cs typeface="Calibri" pitchFamily="34" charset="-120"/>
              </a:rPr>
              <a:t>→  Also: plain yogurt (1:1 ratio) · or sour cream thinned with milk</a:t>
            </a:r>
            <a:endParaRPr lang="en-US" sz="1100" dirty="0"/>
          </a:p>
        </p:txBody>
      </p:sp>
      <p:sp>
        <p:nvSpPr>
          <p:cNvPr id="10" name="Shape 8"/>
          <p:cNvSpPr/>
          <p:nvPr/>
        </p:nvSpPr>
        <p:spPr>
          <a:xfrm>
            <a:off x="5349240" y="896112"/>
            <a:ext cx="3429000" cy="3657600"/>
          </a:xfrm>
          <a:prstGeom prst="roundRect">
            <a:avLst>
              <a:gd name="adj" fmla="val 2667"/>
            </a:avLst>
          </a:prstGeom>
          <a:solidFill>
            <a:srgbClr val="E8F1E0"/>
          </a:solidFill>
          <a:ln w="19050">
            <a:solidFill>
              <a:srgbClr val="7DAE5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440680" y="996696"/>
            <a:ext cx="3246120" cy="274320"/>
          </a:xfrm>
          <a:prstGeom prst="rect">
            <a:avLst/>
          </a:prstGeom>
          <a:noFill/>
          <a:ln/>
        </p:spPr>
        <p:txBody>
          <a:bodyPr wrap="square" lIns="0" tIns="0" rIns="0" bIns="0" rtlCol="0" anchor="ctr"/>
          <a:lstStyle/>
          <a:p>
            <a:pPr algn="ctr" indent="0" marL="0">
              <a:buNone/>
            </a:pPr>
            <a:r>
              <a:rPr lang="en-US" sz="950" b="1" spc="150" kern="0" dirty="0">
                <a:solidFill>
                  <a:srgbClr val="7DAE5C"/>
                </a:solidFill>
                <a:latin typeface="Calibri" pitchFamily="34" charset="0"/>
                <a:ea typeface="Calibri" pitchFamily="34" charset="-122"/>
                <a:cs typeface="Calibri" pitchFamily="34" charset="-120"/>
              </a:rPr>
              <a:t>POTENTIAL PATENT CLAIM</a:t>
            </a:r>
            <a:endParaRPr lang="en-US" sz="950" dirty="0"/>
          </a:p>
        </p:txBody>
      </p:sp>
      <p:sp>
        <p:nvSpPr>
          <p:cNvPr id="12" name="Text 10"/>
          <p:cNvSpPr/>
          <p:nvPr/>
        </p:nvSpPr>
        <p:spPr>
          <a:xfrm>
            <a:off x="5440680" y="1325880"/>
            <a:ext cx="3246120" cy="1874520"/>
          </a:xfrm>
          <a:prstGeom prst="rect">
            <a:avLst/>
          </a:prstGeom>
          <a:noFill/>
          <a:ln/>
        </p:spPr>
        <p:txBody>
          <a:bodyPr wrap="square" lIns="0" tIns="0" rIns="0" bIns="0" rtlCol="0" anchor="ctr"/>
          <a:lstStyle/>
          <a:p>
            <a:pPr indent="0" marL="0">
              <a:buNone/>
            </a:pPr>
            <a:r>
              <a:rPr lang="en-US" sz="1250" i="1" dirty="0">
                <a:solidFill>
                  <a:srgbClr val="2C5F2D"/>
                </a:solidFill>
                <a:latin typeface="Calibri" pitchFamily="34" charset="0"/>
                <a:ea typeface="Calibri" pitchFamily="34" charset="-122"/>
                <a:cs typeface="Calibri" pitchFamily="34" charset="-120"/>
              </a:rPr>
              <a:t>Computerized ingredient substitution recommendation system that provides ratio-adjusted, preparation-modified alternatives based on the user's available inventory, organized by culinary use-case category with flavor impact analysis.</a:t>
            </a:r>
            <a:endParaRPr lang="en-US" sz="1250" dirty="0"/>
          </a:p>
        </p:txBody>
      </p:sp>
      <p:sp>
        <p:nvSpPr>
          <p:cNvPr id="13" name="Shape 11"/>
          <p:cNvSpPr/>
          <p:nvPr/>
        </p:nvSpPr>
        <p:spPr>
          <a:xfrm>
            <a:off x="5440680" y="3246120"/>
            <a:ext cx="3246120" cy="1097280"/>
          </a:xfrm>
          <a:prstGeom prst="roundRect">
            <a:avLst>
              <a:gd name="adj" fmla="val 6667"/>
            </a:avLst>
          </a:prstGeom>
          <a:solidFill>
            <a:srgbClr val="D4EBC8"/>
          </a:solidFill>
          <a:ln/>
        </p:spPr>
      </p:sp>
      <p:sp>
        <p:nvSpPr>
          <p:cNvPr id="14" name="Text 12"/>
          <p:cNvSpPr/>
          <p:nvPr/>
        </p:nvSpPr>
        <p:spPr>
          <a:xfrm>
            <a:off x="5440680" y="3291840"/>
            <a:ext cx="3246120" cy="1005840"/>
          </a:xfrm>
          <a:prstGeom prst="rect">
            <a:avLst/>
          </a:prstGeom>
          <a:noFill/>
          <a:ln/>
        </p:spPr>
        <p:txBody>
          <a:bodyPr wrap="square" lIns="0" tIns="0" rIns="0" bIns="0" rtlCol="0" anchor="ctr"/>
          <a:lstStyle/>
          <a:p>
            <a:pPr algn="ctr" indent="0" marL="0">
              <a:buNone/>
            </a:pPr>
            <a:r>
              <a:rPr lang="en-US" sz="1200" b="1" dirty="0">
                <a:solidFill>
                  <a:srgbClr val="1B2A4A"/>
                </a:solidFill>
                <a:latin typeface="Cambria" pitchFamily="34" charset="0"/>
                <a:ea typeface="Cambria" pitchFamily="34" charset="-122"/>
                <a:cs typeface="Cambria" pitchFamily="34" charset="-120"/>
              </a:rPr>
              <a:t>Trade secret may be</a:t>
            </a:r>
            <a:endParaRPr lang="en-US" sz="1200" dirty="0"/>
          </a:p>
          <a:p>
            <a:pPr algn="ctr" indent="0" marL="0">
              <a:buNone/>
            </a:pPr>
            <a:r>
              <a:rPr lang="en-US" sz="1200" b="1" dirty="0">
                <a:solidFill>
                  <a:srgbClr val="1B2A4A"/>
                </a:solidFill>
                <a:latin typeface="Cambria" pitchFamily="34" charset="0"/>
                <a:ea typeface="Cambria" pitchFamily="34" charset="-122"/>
                <a:cs typeface="Cambria" pitchFamily="34" charset="-120"/>
              </a:rPr>
              <a:t>stronger than patent</a:t>
            </a:r>
            <a:endParaRPr lang="en-US" sz="1200" dirty="0"/>
          </a:p>
          <a:p>
            <a:pPr algn="ctr" indent="0" marL="0">
              <a:buNone/>
            </a:pPr>
            <a:r>
              <a:rPr lang="en-US" sz="1200" b="1" dirty="0">
                <a:solidFill>
                  <a:srgbClr val="1B2A4A"/>
                </a:solidFill>
                <a:latin typeface="Cambria" pitchFamily="34" charset="0"/>
                <a:ea typeface="Cambria" pitchFamily="34" charset="-122"/>
                <a:cs typeface="Cambria" pitchFamily="34" charset="-120"/>
              </a:rPr>
              <a:t>here — ask attorney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B2A4A"/>
          </a:solidFill>
          <a:ln/>
        </p:spPr>
      </p:sp>
      <p:sp>
        <p:nvSpPr>
          <p:cNvPr id="3" name="Text 1"/>
          <p:cNvSpPr/>
          <p:nvPr/>
        </p:nvSpPr>
        <p:spPr>
          <a:xfrm>
            <a:off x="365760" y="91440"/>
            <a:ext cx="8686800" cy="5943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System 05  ·  Pixel Art Food Avatar Creator + Economy Integration</a:t>
            </a:r>
            <a:endParaRPr lang="en-US" sz="1900" dirty="0"/>
          </a:p>
        </p:txBody>
      </p:sp>
      <p:sp>
        <p:nvSpPr>
          <p:cNvPr id="4" name="Text 2"/>
          <p:cNvSpPr/>
          <p:nvPr/>
        </p:nvSpPr>
        <p:spPr>
          <a:xfrm>
            <a:off x="365760" y="932688"/>
            <a:ext cx="4846320" cy="310896"/>
          </a:xfrm>
          <a:prstGeom prst="rect">
            <a:avLst/>
          </a:prstGeom>
          <a:noFill/>
          <a:ln/>
        </p:spPr>
        <p:txBody>
          <a:bodyPr wrap="square" lIns="0" tIns="0" rIns="0" bIns="0" rtlCol="0" anchor="ctr"/>
          <a:lstStyle/>
          <a:p>
            <a:pPr indent="0" marL="0">
              <a:buNone/>
            </a:pPr>
            <a:r>
              <a:rPr lang="en-US" sz="1450" b="1" dirty="0">
                <a:solidFill>
                  <a:srgbClr val="1B2A4A"/>
                </a:solidFill>
                <a:latin typeface="Cambria" pitchFamily="34" charset="0"/>
                <a:ea typeface="Cambria" pitchFamily="34" charset="-122"/>
                <a:cs typeface="Cambria" pitchFamily="34" charset="-120"/>
              </a:rPr>
              <a:t>What It Does</a:t>
            </a:r>
            <a:endParaRPr lang="en-US" sz="1450" dirty="0"/>
          </a:p>
        </p:txBody>
      </p:sp>
      <p:sp>
        <p:nvSpPr>
          <p:cNvPr id="5" name="Text 3"/>
          <p:cNvSpPr/>
          <p:nvPr/>
        </p:nvSpPr>
        <p:spPr>
          <a:xfrm>
            <a:off x="365760" y="1280160"/>
            <a:ext cx="4800600" cy="2560320"/>
          </a:xfrm>
          <a:prstGeom prst="rect">
            <a:avLst/>
          </a:prstGeom>
          <a:noFill/>
          <a:ln/>
        </p:spPr>
        <p:txBody>
          <a:bodyPr wrap="square" rtlCol="0" anchor="ctr"/>
          <a:lstStyle/>
          <a:p>
            <a:pPr marL="342900" indent="-342900">
              <a:spcAft>
                <a:spcPts val="500"/>
              </a:spcAft>
              <a:buSzPct val="100000"/>
              <a:buChar char="•"/>
            </a:pPr>
            <a:r>
              <a:rPr lang="en-US" sz="1300" dirty="0">
                <a:solidFill>
                  <a:srgbClr val="2D3436"/>
                </a:solidFill>
                <a:latin typeface="Calibri" pitchFamily="34" charset="0"/>
                <a:ea typeface="Calibri" pitchFamily="34" charset="-122"/>
                <a:cs typeface="Calibri" pitchFamily="34" charset="-120"/>
              </a:rPr>
              <a:t>Canvas-based pixel grid editor (8×8 sprite) with brush, fill, and erase tools — a food character aesthetic unique to this app</a:t>
            </a:r>
            <a:endParaRPr lang="en-US" sz="1300" dirty="0"/>
          </a:p>
          <a:p>
            <a:pPr marL="342900" indent="-342900">
              <a:spcAft>
                <a:spcPts val="500"/>
              </a:spcAft>
              <a:buSzPct val="100000"/>
              <a:buChar char="•"/>
            </a:pPr>
            <a:r>
              <a:rPr lang="en-US" sz="1300" dirty="0">
                <a:solidFill>
                  <a:srgbClr val="2D3436"/>
                </a:solidFill>
                <a:latin typeface="Calibri" pitchFamily="34" charset="0"/>
                <a:ea typeface="Calibri" pitchFamily="34" charset="-122"/>
                <a:cs typeface="Calibri" pitchFamily="34" charset="-120"/>
              </a:rPr>
              <a:t>7 color palettes including Cooking Mama-inspired, Retro Gaming, Neon, and Pastel themes</a:t>
            </a:r>
            <a:endParaRPr lang="en-US" sz="1300" dirty="0"/>
          </a:p>
          <a:p>
            <a:pPr marL="342900" indent="-342900">
              <a:spcAft>
                <a:spcPts val="500"/>
              </a:spcAft>
              <a:buSzPct val="100000"/>
              <a:buChar char="•"/>
            </a:pPr>
            <a:r>
              <a:rPr lang="en-US" sz="1300" dirty="0">
                <a:solidFill>
                  <a:srgbClr val="2D3436"/>
                </a:solidFill>
                <a:latin typeface="Calibri" pitchFamily="34" charset="0"/>
                <a:ea typeface="Calibri" pitchFamily="34" charset="-122"/>
                <a:cs typeface="Calibri" pitchFamily="34" charset="-120"/>
              </a:rPr>
              <a:t>Outfit/cosmetic system: 8 items priced 50–300 coins (chef hat, royal cape, apron, etc.)</a:t>
            </a:r>
            <a:endParaRPr lang="en-US" sz="1300" dirty="0"/>
          </a:p>
          <a:p>
            <a:pPr marL="342900" indent="-342900">
              <a:spcAft>
                <a:spcPts val="500"/>
              </a:spcAft>
              <a:buSzPct val="100000"/>
              <a:buChar char="•"/>
            </a:pPr>
            <a:r>
              <a:rPr lang="en-US" sz="1300" dirty="0">
                <a:solidFill>
                  <a:srgbClr val="2D3436"/>
                </a:solidFill>
                <a:latin typeface="Calibri" pitchFamily="34" charset="0"/>
                <a:ea typeface="Calibri" pitchFamily="34" charset="-122"/>
                <a:cs typeface="Calibri" pitchFamily="34" charset="-120"/>
              </a:rPr>
              <a:t>Coin balance is shared directly with the gamification system (System 03) — tightly integrated state</a:t>
            </a:r>
            <a:endParaRPr lang="en-US" sz="1300" dirty="0"/>
          </a:p>
          <a:p>
            <a:pPr marL="342900" indent="-342900">
              <a:spcAft>
                <a:spcPts val="500"/>
              </a:spcAft>
              <a:buSzPct val="100000"/>
              <a:buChar char="•"/>
            </a:pPr>
            <a:r>
              <a:rPr lang="en-US" sz="1300" dirty="0">
                <a:solidFill>
                  <a:srgbClr val="2D3436"/>
                </a:solidFill>
                <a:latin typeface="Calibri" pitchFamily="34" charset="0"/>
                <a:ea typeface="Calibri" pitchFamily="34" charset="-122"/>
                <a:cs typeface="Calibri" pitchFamily="34" charset="-120"/>
              </a:rPr>
              <a:t>Export to PNG + native share API (navigator.share) for social platforms — drives organic viral growth</a:t>
            </a:r>
            <a:endParaRPr lang="en-US" sz="1300" dirty="0"/>
          </a:p>
        </p:txBody>
      </p:sp>
      <p:sp>
        <p:nvSpPr>
          <p:cNvPr id="6" name="Shape 4"/>
          <p:cNvSpPr/>
          <p:nvPr/>
        </p:nvSpPr>
        <p:spPr>
          <a:xfrm>
            <a:off x="384048" y="3913632"/>
            <a:ext cx="128016" cy="128016"/>
          </a:xfrm>
          <a:prstGeom prst="rect">
            <a:avLst/>
          </a:prstGeom>
          <a:solidFill>
            <a:srgbClr val="D5EBC8"/>
          </a:solidFill>
          <a:ln w="5080">
            <a:solidFill>
              <a:srgbClr val="BBDBA8"/>
            </a:solidFill>
            <a:prstDash val="solid"/>
          </a:ln>
        </p:spPr>
      </p:sp>
      <p:sp>
        <p:nvSpPr>
          <p:cNvPr id="7" name="Shape 5"/>
          <p:cNvSpPr/>
          <p:nvPr/>
        </p:nvSpPr>
        <p:spPr>
          <a:xfrm>
            <a:off x="521208" y="3913632"/>
            <a:ext cx="128016" cy="128016"/>
          </a:xfrm>
          <a:prstGeom prst="rect">
            <a:avLst/>
          </a:prstGeom>
          <a:solidFill>
            <a:srgbClr val="7DAE5C"/>
          </a:solidFill>
          <a:ln w="5080">
            <a:solidFill>
              <a:srgbClr val="BBDBA8"/>
            </a:solidFill>
            <a:prstDash val="solid"/>
          </a:ln>
        </p:spPr>
      </p:sp>
      <p:sp>
        <p:nvSpPr>
          <p:cNvPr id="8" name="Shape 6"/>
          <p:cNvSpPr/>
          <p:nvPr/>
        </p:nvSpPr>
        <p:spPr>
          <a:xfrm>
            <a:off x="658368" y="3913632"/>
            <a:ext cx="128016" cy="128016"/>
          </a:xfrm>
          <a:prstGeom prst="rect">
            <a:avLst/>
          </a:prstGeom>
          <a:solidFill>
            <a:srgbClr val="7DAE5C"/>
          </a:solidFill>
          <a:ln w="5080">
            <a:solidFill>
              <a:srgbClr val="BBDBA8"/>
            </a:solidFill>
            <a:prstDash val="solid"/>
          </a:ln>
        </p:spPr>
      </p:sp>
      <p:sp>
        <p:nvSpPr>
          <p:cNvPr id="9" name="Shape 7"/>
          <p:cNvSpPr/>
          <p:nvPr/>
        </p:nvSpPr>
        <p:spPr>
          <a:xfrm>
            <a:off x="795528" y="3913632"/>
            <a:ext cx="128016" cy="128016"/>
          </a:xfrm>
          <a:prstGeom prst="rect">
            <a:avLst/>
          </a:prstGeom>
          <a:solidFill>
            <a:srgbClr val="7DAE5C"/>
          </a:solidFill>
          <a:ln w="5080">
            <a:solidFill>
              <a:srgbClr val="BBDBA8"/>
            </a:solidFill>
            <a:prstDash val="solid"/>
          </a:ln>
        </p:spPr>
      </p:sp>
      <p:sp>
        <p:nvSpPr>
          <p:cNvPr id="10" name="Shape 8"/>
          <p:cNvSpPr/>
          <p:nvPr/>
        </p:nvSpPr>
        <p:spPr>
          <a:xfrm>
            <a:off x="932688" y="3913632"/>
            <a:ext cx="128016" cy="128016"/>
          </a:xfrm>
          <a:prstGeom prst="rect">
            <a:avLst/>
          </a:prstGeom>
          <a:solidFill>
            <a:srgbClr val="7DAE5C"/>
          </a:solidFill>
          <a:ln w="5080">
            <a:solidFill>
              <a:srgbClr val="BBDBA8"/>
            </a:solidFill>
            <a:prstDash val="solid"/>
          </a:ln>
        </p:spPr>
      </p:sp>
      <p:sp>
        <p:nvSpPr>
          <p:cNvPr id="11" name="Shape 9"/>
          <p:cNvSpPr/>
          <p:nvPr/>
        </p:nvSpPr>
        <p:spPr>
          <a:xfrm>
            <a:off x="1069848" y="3913632"/>
            <a:ext cx="128016" cy="128016"/>
          </a:xfrm>
          <a:prstGeom prst="rect">
            <a:avLst/>
          </a:prstGeom>
          <a:solidFill>
            <a:srgbClr val="7DAE5C"/>
          </a:solidFill>
          <a:ln w="5080">
            <a:solidFill>
              <a:srgbClr val="BBDBA8"/>
            </a:solidFill>
            <a:prstDash val="solid"/>
          </a:ln>
        </p:spPr>
      </p:sp>
      <p:sp>
        <p:nvSpPr>
          <p:cNvPr id="12" name="Shape 10"/>
          <p:cNvSpPr/>
          <p:nvPr/>
        </p:nvSpPr>
        <p:spPr>
          <a:xfrm>
            <a:off x="1207008" y="3913632"/>
            <a:ext cx="128016" cy="128016"/>
          </a:xfrm>
          <a:prstGeom prst="rect">
            <a:avLst/>
          </a:prstGeom>
          <a:solidFill>
            <a:srgbClr val="7DAE5C"/>
          </a:solidFill>
          <a:ln w="5080">
            <a:solidFill>
              <a:srgbClr val="BBDBA8"/>
            </a:solidFill>
            <a:prstDash val="solid"/>
          </a:ln>
        </p:spPr>
      </p:sp>
      <p:sp>
        <p:nvSpPr>
          <p:cNvPr id="13" name="Shape 11"/>
          <p:cNvSpPr/>
          <p:nvPr/>
        </p:nvSpPr>
        <p:spPr>
          <a:xfrm>
            <a:off x="1344168" y="3913632"/>
            <a:ext cx="128016" cy="128016"/>
          </a:xfrm>
          <a:prstGeom prst="rect">
            <a:avLst/>
          </a:prstGeom>
          <a:solidFill>
            <a:srgbClr val="D5EBC8"/>
          </a:solidFill>
          <a:ln w="5080">
            <a:solidFill>
              <a:srgbClr val="BBDBA8"/>
            </a:solidFill>
            <a:prstDash val="solid"/>
          </a:ln>
        </p:spPr>
      </p:sp>
      <p:sp>
        <p:nvSpPr>
          <p:cNvPr id="14" name="Shape 12"/>
          <p:cNvSpPr/>
          <p:nvPr/>
        </p:nvSpPr>
        <p:spPr>
          <a:xfrm>
            <a:off x="384048" y="4050792"/>
            <a:ext cx="128016" cy="128016"/>
          </a:xfrm>
          <a:prstGeom prst="rect">
            <a:avLst/>
          </a:prstGeom>
          <a:solidFill>
            <a:srgbClr val="7DAE5C"/>
          </a:solidFill>
          <a:ln w="5080">
            <a:solidFill>
              <a:srgbClr val="BBDBA8"/>
            </a:solidFill>
            <a:prstDash val="solid"/>
          </a:ln>
        </p:spPr>
      </p:sp>
      <p:sp>
        <p:nvSpPr>
          <p:cNvPr id="15" name="Shape 13"/>
          <p:cNvSpPr/>
          <p:nvPr/>
        </p:nvSpPr>
        <p:spPr>
          <a:xfrm>
            <a:off x="521208" y="4050792"/>
            <a:ext cx="128016" cy="128016"/>
          </a:xfrm>
          <a:prstGeom prst="rect">
            <a:avLst/>
          </a:prstGeom>
          <a:solidFill>
            <a:srgbClr val="D5EBC8"/>
          </a:solidFill>
          <a:ln w="5080">
            <a:solidFill>
              <a:srgbClr val="BBDBA8"/>
            </a:solidFill>
            <a:prstDash val="solid"/>
          </a:ln>
        </p:spPr>
      </p:sp>
      <p:sp>
        <p:nvSpPr>
          <p:cNvPr id="16" name="Shape 14"/>
          <p:cNvSpPr/>
          <p:nvPr/>
        </p:nvSpPr>
        <p:spPr>
          <a:xfrm>
            <a:off x="658368" y="4050792"/>
            <a:ext cx="128016" cy="128016"/>
          </a:xfrm>
          <a:prstGeom prst="rect">
            <a:avLst/>
          </a:prstGeom>
          <a:solidFill>
            <a:srgbClr val="D5EBC8"/>
          </a:solidFill>
          <a:ln w="5080">
            <a:solidFill>
              <a:srgbClr val="BBDBA8"/>
            </a:solidFill>
            <a:prstDash val="solid"/>
          </a:ln>
        </p:spPr>
      </p:sp>
      <p:sp>
        <p:nvSpPr>
          <p:cNvPr id="17" name="Shape 15"/>
          <p:cNvSpPr/>
          <p:nvPr/>
        </p:nvSpPr>
        <p:spPr>
          <a:xfrm>
            <a:off x="795528" y="4050792"/>
            <a:ext cx="128016" cy="128016"/>
          </a:xfrm>
          <a:prstGeom prst="rect">
            <a:avLst/>
          </a:prstGeom>
          <a:solidFill>
            <a:srgbClr val="7DAE5C"/>
          </a:solidFill>
          <a:ln w="5080">
            <a:solidFill>
              <a:srgbClr val="BBDBA8"/>
            </a:solidFill>
            <a:prstDash val="solid"/>
          </a:ln>
        </p:spPr>
      </p:sp>
      <p:sp>
        <p:nvSpPr>
          <p:cNvPr id="18" name="Shape 16"/>
          <p:cNvSpPr/>
          <p:nvPr/>
        </p:nvSpPr>
        <p:spPr>
          <a:xfrm>
            <a:off x="932688" y="4050792"/>
            <a:ext cx="128016" cy="128016"/>
          </a:xfrm>
          <a:prstGeom prst="rect">
            <a:avLst/>
          </a:prstGeom>
          <a:solidFill>
            <a:srgbClr val="7DAE5C"/>
          </a:solidFill>
          <a:ln w="5080">
            <a:solidFill>
              <a:srgbClr val="BBDBA8"/>
            </a:solidFill>
            <a:prstDash val="solid"/>
          </a:ln>
        </p:spPr>
      </p:sp>
      <p:sp>
        <p:nvSpPr>
          <p:cNvPr id="19" name="Shape 17"/>
          <p:cNvSpPr/>
          <p:nvPr/>
        </p:nvSpPr>
        <p:spPr>
          <a:xfrm>
            <a:off x="1069848" y="4050792"/>
            <a:ext cx="128016" cy="128016"/>
          </a:xfrm>
          <a:prstGeom prst="rect">
            <a:avLst/>
          </a:prstGeom>
          <a:solidFill>
            <a:srgbClr val="D5EBC8"/>
          </a:solidFill>
          <a:ln w="5080">
            <a:solidFill>
              <a:srgbClr val="BBDBA8"/>
            </a:solidFill>
            <a:prstDash val="solid"/>
          </a:ln>
        </p:spPr>
      </p:sp>
      <p:sp>
        <p:nvSpPr>
          <p:cNvPr id="20" name="Shape 18"/>
          <p:cNvSpPr/>
          <p:nvPr/>
        </p:nvSpPr>
        <p:spPr>
          <a:xfrm>
            <a:off x="1207008" y="4050792"/>
            <a:ext cx="128016" cy="128016"/>
          </a:xfrm>
          <a:prstGeom prst="rect">
            <a:avLst/>
          </a:prstGeom>
          <a:solidFill>
            <a:srgbClr val="D5EBC8"/>
          </a:solidFill>
          <a:ln w="5080">
            <a:solidFill>
              <a:srgbClr val="BBDBA8"/>
            </a:solidFill>
            <a:prstDash val="solid"/>
          </a:ln>
        </p:spPr>
      </p:sp>
      <p:sp>
        <p:nvSpPr>
          <p:cNvPr id="21" name="Shape 19"/>
          <p:cNvSpPr/>
          <p:nvPr/>
        </p:nvSpPr>
        <p:spPr>
          <a:xfrm>
            <a:off x="1344168" y="4050792"/>
            <a:ext cx="128016" cy="128016"/>
          </a:xfrm>
          <a:prstGeom prst="rect">
            <a:avLst/>
          </a:prstGeom>
          <a:solidFill>
            <a:srgbClr val="7DAE5C"/>
          </a:solidFill>
          <a:ln w="5080">
            <a:solidFill>
              <a:srgbClr val="BBDBA8"/>
            </a:solidFill>
            <a:prstDash val="solid"/>
          </a:ln>
        </p:spPr>
      </p:sp>
      <p:sp>
        <p:nvSpPr>
          <p:cNvPr id="22" name="Shape 20"/>
          <p:cNvSpPr/>
          <p:nvPr/>
        </p:nvSpPr>
        <p:spPr>
          <a:xfrm>
            <a:off x="384048" y="4187952"/>
            <a:ext cx="128016" cy="128016"/>
          </a:xfrm>
          <a:prstGeom prst="rect">
            <a:avLst/>
          </a:prstGeom>
          <a:solidFill>
            <a:srgbClr val="7DAE5C"/>
          </a:solidFill>
          <a:ln w="5080">
            <a:solidFill>
              <a:srgbClr val="BBDBA8"/>
            </a:solidFill>
            <a:prstDash val="solid"/>
          </a:ln>
        </p:spPr>
      </p:sp>
      <p:sp>
        <p:nvSpPr>
          <p:cNvPr id="23" name="Shape 21"/>
          <p:cNvSpPr/>
          <p:nvPr/>
        </p:nvSpPr>
        <p:spPr>
          <a:xfrm>
            <a:off x="521208" y="4187952"/>
            <a:ext cx="128016" cy="128016"/>
          </a:xfrm>
          <a:prstGeom prst="rect">
            <a:avLst/>
          </a:prstGeom>
          <a:solidFill>
            <a:srgbClr val="D5EBC8"/>
          </a:solidFill>
          <a:ln w="5080">
            <a:solidFill>
              <a:srgbClr val="BBDBA8"/>
            </a:solidFill>
            <a:prstDash val="solid"/>
          </a:ln>
        </p:spPr>
      </p:sp>
      <p:sp>
        <p:nvSpPr>
          <p:cNvPr id="24" name="Shape 22"/>
          <p:cNvSpPr/>
          <p:nvPr/>
        </p:nvSpPr>
        <p:spPr>
          <a:xfrm>
            <a:off x="658368" y="4187952"/>
            <a:ext cx="128016" cy="128016"/>
          </a:xfrm>
          <a:prstGeom prst="rect">
            <a:avLst/>
          </a:prstGeom>
          <a:solidFill>
            <a:srgbClr val="D5EBC8"/>
          </a:solidFill>
          <a:ln w="5080">
            <a:solidFill>
              <a:srgbClr val="BBDBA8"/>
            </a:solidFill>
            <a:prstDash val="solid"/>
          </a:ln>
        </p:spPr>
      </p:sp>
      <p:sp>
        <p:nvSpPr>
          <p:cNvPr id="25" name="Shape 23"/>
          <p:cNvSpPr/>
          <p:nvPr/>
        </p:nvSpPr>
        <p:spPr>
          <a:xfrm>
            <a:off x="795528" y="4187952"/>
            <a:ext cx="128016" cy="128016"/>
          </a:xfrm>
          <a:prstGeom prst="rect">
            <a:avLst/>
          </a:prstGeom>
          <a:solidFill>
            <a:srgbClr val="7DAE5C"/>
          </a:solidFill>
          <a:ln w="5080">
            <a:solidFill>
              <a:srgbClr val="BBDBA8"/>
            </a:solidFill>
            <a:prstDash val="solid"/>
          </a:ln>
        </p:spPr>
      </p:sp>
      <p:sp>
        <p:nvSpPr>
          <p:cNvPr id="26" name="Shape 24"/>
          <p:cNvSpPr/>
          <p:nvPr/>
        </p:nvSpPr>
        <p:spPr>
          <a:xfrm>
            <a:off x="932688" y="4187952"/>
            <a:ext cx="128016" cy="128016"/>
          </a:xfrm>
          <a:prstGeom prst="rect">
            <a:avLst/>
          </a:prstGeom>
          <a:solidFill>
            <a:srgbClr val="7DAE5C"/>
          </a:solidFill>
          <a:ln w="5080">
            <a:solidFill>
              <a:srgbClr val="BBDBA8"/>
            </a:solidFill>
            <a:prstDash val="solid"/>
          </a:ln>
        </p:spPr>
      </p:sp>
      <p:sp>
        <p:nvSpPr>
          <p:cNvPr id="27" name="Shape 25"/>
          <p:cNvSpPr/>
          <p:nvPr/>
        </p:nvSpPr>
        <p:spPr>
          <a:xfrm>
            <a:off x="1069848" y="4187952"/>
            <a:ext cx="128016" cy="128016"/>
          </a:xfrm>
          <a:prstGeom prst="rect">
            <a:avLst/>
          </a:prstGeom>
          <a:solidFill>
            <a:srgbClr val="D5EBC8"/>
          </a:solidFill>
          <a:ln w="5080">
            <a:solidFill>
              <a:srgbClr val="BBDBA8"/>
            </a:solidFill>
            <a:prstDash val="solid"/>
          </a:ln>
        </p:spPr>
      </p:sp>
      <p:sp>
        <p:nvSpPr>
          <p:cNvPr id="28" name="Shape 26"/>
          <p:cNvSpPr/>
          <p:nvPr/>
        </p:nvSpPr>
        <p:spPr>
          <a:xfrm>
            <a:off x="1207008" y="4187952"/>
            <a:ext cx="128016" cy="128016"/>
          </a:xfrm>
          <a:prstGeom prst="rect">
            <a:avLst/>
          </a:prstGeom>
          <a:solidFill>
            <a:srgbClr val="D5EBC8"/>
          </a:solidFill>
          <a:ln w="5080">
            <a:solidFill>
              <a:srgbClr val="BBDBA8"/>
            </a:solidFill>
            <a:prstDash val="solid"/>
          </a:ln>
        </p:spPr>
      </p:sp>
      <p:sp>
        <p:nvSpPr>
          <p:cNvPr id="29" name="Shape 27"/>
          <p:cNvSpPr/>
          <p:nvPr/>
        </p:nvSpPr>
        <p:spPr>
          <a:xfrm>
            <a:off x="1344168" y="4187952"/>
            <a:ext cx="128016" cy="128016"/>
          </a:xfrm>
          <a:prstGeom prst="rect">
            <a:avLst/>
          </a:prstGeom>
          <a:solidFill>
            <a:srgbClr val="7DAE5C"/>
          </a:solidFill>
          <a:ln w="5080">
            <a:solidFill>
              <a:srgbClr val="BBDBA8"/>
            </a:solidFill>
            <a:prstDash val="solid"/>
          </a:ln>
        </p:spPr>
      </p:sp>
      <p:sp>
        <p:nvSpPr>
          <p:cNvPr id="30" name="Shape 28"/>
          <p:cNvSpPr/>
          <p:nvPr/>
        </p:nvSpPr>
        <p:spPr>
          <a:xfrm>
            <a:off x="384048" y="4325112"/>
            <a:ext cx="128016" cy="128016"/>
          </a:xfrm>
          <a:prstGeom prst="rect">
            <a:avLst/>
          </a:prstGeom>
          <a:solidFill>
            <a:srgbClr val="7DAE5C"/>
          </a:solidFill>
          <a:ln w="5080">
            <a:solidFill>
              <a:srgbClr val="BBDBA8"/>
            </a:solidFill>
            <a:prstDash val="solid"/>
          </a:ln>
        </p:spPr>
      </p:sp>
      <p:sp>
        <p:nvSpPr>
          <p:cNvPr id="31" name="Shape 29"/>
          <p:cNvSpPr/>
          <p:nvPr/>
        </p:nvSpPr>
        <p:spPr>
          <a:xfrm>
            <a:off x="521208" y="4325112"/>
            <a:ext cx="128016" cy="128016"/>
          </a:xfrm>
          <a:prstGeom prst="rect">
            <a:avLst/>
          </a:prstGeom>
          <a:solidFill>
            <a:srgbClr val="7DAE5C"/>
          </a:solidFill>
          <a:ln w="5080">
            <a:solidFill>
              <a:srgbClr val="BBDBA8"/>
            </a:solidFill>
            <a:prstDash val="solid"/>
          </a:ln>
        </p:spPr>
      </p:sp>
      <p:sp>
        <p:nvSpPr>
          <p:cNvPr id="32" name="Shape 30"/>
          <p:cNvSpPr/>
          <p:nvPr/>
        </p:nvSpPr>
        <p:spPr>
          <a:xfrm>
            <a:off x="658368" y="4325112"/>
            <a:ext cx="128016" cy="128016"/>
          </a:xfrm>
          <a:prstGeom prst="rect">
            <a:avLst/>
          </a:prstGeom>
          <a:solidFill>
            <a:srgbClr val="7DAE5C"/>
          </a:solidFill>
          <a:ln w="5080">
            <a:solidFill>
              <a:srgbClr val="BBDBA8"/>
            </a:solidFill>
            <a:prstDash val="solid"/>
          </a:ln>
        </p:spPr>
      </p:sp>
      <p:sp>
        <p:nvSpPr>
          <p:cNvPr id="33" name="Shape 31"/>
          <p:cNvSpPr/>
          <p:nvPr/>
        </p:nvSpPr>
        <p:spPr>
          <a:xfrm>
            <a:off x="795528" y="4325112"/>
            <a:ext cx="128016" cy="128016"/>
          </a:xfrm>
          <a:prstGeom prst="rect">
            <a:avLst/>
          </a:prstGeom>
          <a:solidFill>
            <a:srgbClr val="7DAE5C"/>
          </a:solidFill>
          <a:ln w="5080">
            <a:solidFill>
              <a:srgbClr val="BBDBA8"/>
            </a:solidFill>
            <a:prstDash val="solid"/>
          </a:ln>
        </p:spPr>
      </p:sp>
      <p:sp>
        <p:nvSpPr>
          <p:cNvPr id="34" name="Shape 32"/>
          <p:cNvSpPr/>
          <p:nvPr/>
        </p:nvSpPr>
        <p:spPr>
          <a:xfrm>
            <a:off x="932688" y="4325112"/>
            <a:ext cx="128016" cy="128016"/>
          </a:xfrm>
          <a:prstGeom prst="rect">
            <a:avLst/>
          </a:prstGeom>
          <a:solidFill>
            <a:srgbClr val="7DAE5C"/>
          </a:solidFill>
          <a:ln w="5080">
            <a:solidFill>
              <a:srgbClr val="BBDBA8"/>
            </a:solidFill>
            <a:prstDash val="solid"/>
          </a:ln>
        </p:spPr>
      </p:sp>
      <p:sp>
        <p:nvSpPr>
          <p:cNvPr id="35" name="Shape 33"/>
          <p:cNvSpPr/>
          <p:nvPr/>
        </p:nvSpPr>
        <p:spPr>
          <a:xfrm>
            <a:off x="1069848" y="4325112"/>
            <a:ext cx="128016" cy="128016"/>
          </a:xfrm>
          <a:prstGeom prst="rect">
            <a:avLst/>
          </a:prstGeom>
          <a:solidFill>
            <a:srgbClr val="7DAE5C"/>
          </a:solidFill>
          <a:ln w="5080">
            <a:solidFill>
              <a:srgbClr val="BBDBA8"/>
            </a:solidFill>
            <a:prstDash val="solid"/>
          </a:ln>
        </p:spPr>
      </p:sp>
      <p:sp>
        <p:nvSpPr>
          <p:cNvPr id="36" name="Shape 34"/>
          <p:cNvSpPr/>
          <p:nvPr/>
        </p:nvSpPr>
        <p:spPr>
          <a:xfrm>
            <a:off x="1207008" y="4325112"/>
            <a:ext cx="128016" cy="128016"/>
          </a:xfrm>
          <a:prstGeom prst="rect">
            <a:avLst/>
          </a:prstGeom>
          <a:solidFill>
            <a:srgbClr val="7DAE5C"/>
          </a:solidFill>
          <a:ln w="5080">
            <a:solidFill>
              <a:srgbClr val="BBDBA8"/>
            </a:solidFill>
            <a:prstDash val="solid"/>
          </a:ln>
        </p:spPr>
      </p:sp>
      <p:sp>
        <p:nvSpPr>
          <p:cNvPr id="37" name="Shape 35"/>
          <p:cNvSpPr/>
          <p:nvPr/>
        </p:nvSpPr>
        <p:spPr>
          <a:xfrm>
            <a:off x="1344168" y="4325112"/>
            <a:ext cx="128016" cy="128016"/>
          </a:xfrm>
          <a:prstGeom prst="rect">
            <a:avLst/>
          </a:prstGeom>
          <a:solidFill>
            <a:srgbClr val="7DAE5C"/>
          </a:solidFill>
          <a:ln w="5080">
            <a:solidFill>
              <a:srgbClr val="BBDBA8"/>
            </a:solidFill>
            <a:prstDash val="solid"/>
          </a:ln>
        </p:spPr>
      </p:sp>
      <p:sp>
        <p:nvSpPr>
          <p:cNvPr id="38" name="Shape 36"/>
          <p:cNvSpPr/>
          <p:nvPr/>
        </p:nvSpPr>
        <p:spPr>
          <a:xfrm>
            <a:off x="384048" y="4462272"/>
            <a:ext cx="128016" cy="128016"/>
          </a:xfrm>
          <a:prstGeom prst="rect">
            <a:avLst/>
          </a:prstGeom>
          <a:solidFill>
            <a:srgbClr val="7DAE5C"/>
          </a:solidFill>
          <a:ln w="5080">
            <a:solidFill>
              <a:srgbClr val="BBDBA8"/>
            </a:solidFill>
            <a:prstDash val="solid"/>
          </a:ln>
        </p:spPr>
      </p:sp>
      <p:sp>
        <p:nvSpPr>
          <p:cNvPr id="39" name="Shape 37"/>
          <p:cNvSpPr/>
          <p:nvPr/>
        </p:nvSpPr>
        <p:spPr>
          <a:xfrm>
            <a:off x="521208" y="4462272"/>
            <a:ext cx="128016" cy="128016"/>
          </a:xfrm>
          <a:prstGeom prst="rect">
            <a:avLst/>
          </a:prstGeom>
          <a:solidFill>
            <a:srgbClr val="7DAE5C"/>
          </a:solidFill>
          <a:ln w="5080">
            <a:solidFill>
              <a:srgbClr val="BBDBA8"/>
            </a:solidFill>
            <a:prstDash val="solid"/>
          </a:ln>
        </p:spPr>
      </p:sp>
      <p:sp>
        <p:nvSpPr>
          <p:cNvPr id="40" name="Shape 38"/>
          <p:cNvSpPr/>
          <p:nvPr/>
        </p:nvSpPr>
        <p:spPr>
          <a:xfrm>
            <a:off x="658368" y="4462272"/>
            <a:ext cx="128016" cy="128016"/>
          </a:xfrm>
          <a:prstGeom prst="rect">
            <a:avLst/>
          </a:prstGeom>
          <a:solidFill>
            <a:srgbClr val="D5EBC8"/>
          </a:solidFill>
          <a:ln w="5080">
            <a:solidFill>
              <a:srgbClr val="BBDBA8"/>
            </a:solidFill>
            <a:prstDash val="solid"/>
          </a:ln>
        </p:spPr>
      </p:sp>
      <p:sp>
        <p:nvSpPr>
          <p:cNvPr id="41" name="Shape 39"/>
          <p:cNvSpPr/>
          <p:nvPr/>
        </p:nvSpPr>
        <p:spPr>
          <a:xfrm>
            <a:off x="795528" y="4462272"/>
            <a:ext cx="128016" cy="128016"/>
          </a:xfrm>
          <a:prstGeom prst="rect">
            <a:avLst/>
          </a:prstGeom>
          <a:solidFill>
            <a:srgbClr val="7DAE5C"/>
          </a:solidFill>
          <a:ln w="5080">
            <a:solidFill>
              <a:srgbClr val="BBDBA8"/>
            </a:solidFill>
            <a:prstDash val="solid"/>
          </a:ln>
        </p:spPr>
      </p:sp>
      <p:sp>
        <p:nvSpPr>
          <p:cNvPr id="42" name="Shape 40"/>
          <p:cNvSpPr/>
          <p:nvPr/>
        </p:nvSpPr>
        <p:spPr>
          <a:xfrm>
            <a:off x="932688" y="4462272"/>
            <a:ext cx="128016" cy="128016"/>
          </a:xfrm>
          <a:prstGeom prst="rect">
            <a:avLst/>
          </a:prstGeom>
          <a:solidFill>
            <a:srgbClr val="7DAE5C"/>
          </a:solidFill>
          <a:ln w="5080">
            <a:solidFill>
              <a:srgbClr val="BBDBA8"/>
            </a:solidFill>
            <a:prstDash val="solid"/>
          </a:ln>
        </p:spPr>
      </p:sp>
      <p:sp>
        <p:nvSpPr>
          <p:cNvPr id="43" name="Shape 41"/>
          <p:cNvSpPr/>
          <p:nvPr/>
        </p:nvSpPr>
        <p:spPr>
          <a:xfrm>
            <a:off x="1069848" y="4462272"/>
            <a:ext cx="128016" cy="128016"/>
          </a:xfrm>
          <a:prstGeom prst="rect">
            <a:avLst/>
          </a:prstGeom>
          <a:solidFill>
            <a:srgbClr val="D5EBC8"/>
          </a:solidFill>
          <a:ln w="5080">
            <a:solidFill>
              <a:srgbClr val="BBDBA8"/>
            </a:solidFill>
            <a:prstDash val="solid"/>
          </a:ln>
        </p:spPr>
      </p:sp>
      <p:sp>
        <p:nvSpPr>
          <p:cNvPr id="44" name="Shape 42"/>
          <p:cNvSpPr/>
          <p:nvPr/>
        </p:nvSpPr>
        <p:spPr>
          <a:xfrm>
            <a:off x="1207008" y="4462272"/>
            <a:ext cx="128016" cy="128016"/>
          </a:xfrm>
          <a:prstGeom prst="rect">
            <a:avLst/>
          </a:prstGeom>
          <a:solidFill>
            <a:srgbClr val="7DAE5C"/>
          </a:solidFill>
          <a:ln w="5080">
            <a:solidFill>
              <a:srgbClr val="BBDBA8"/>
            </a:solidFill>
            <a:prstDash val="solid"/>
          </a:ln>
        </p:spPr>
      </p:sp>
      <p:sp>
        <p:nvSpPr>
          <p:cNvPr id="45" name="Shape 43"/>
          <p:cNvSpPr/>
          <p:nvPr/>
        </p:nvSpPr>
        <p:spPr>
          <a:xfrm>
            <a:off x="1344168" y="4462272"/>
            <a:ext cx="128016" cy="128016"/>
          </a:xfrm>
          <a:prstGeom prst="rect">
            <a:avLst/>
          </a:prstGeom>
          <a:solidFill>
            <a:srgbClr val="7DAE5C"/>
          </a:solidFill>
          <a:ln w="5080">
            <a:solidFill>
              <a:srgbClr val="BBDBA8"/>
            </a:solidFill>
            <a:prstDash val="solid"/>
          </a:ln>
        </p:spPr>
      </p:sp>
      <p:sp>
        <p:nvSpPr>
          <p:cNvPr id="46" name="Shape 44"/>
          <p:cNvSpPr/>
          <p:nvPr/>
        </p:nvSpPr>
        <p:spPr>
          <a:xfrm>
            <a:off x="384048" y="4599432"/>
            <a:ext cx="128016" cy="128016"/>
          </a:xfrm>
          <a:prstGeom prst="rect">
            <a:avLst/>
          </a:prstGeom>
          <a:solidFill>
            <a:srgbClr val="7DAE5C"/>
          </a:solidFill>
          <a:ln w="5080">
            <a:solidFill>
              <a:srgbClr val="BBDBA8"/>
            </a:solidFill>
            <a:prstDash val="solid"/>
          </a:ln>
        </p:spPr>
      </p:sp>
      <p:sp>
        <p:nvSpPr>
          <p:cNvPr id="47" name="Shape 45"/>
          <p:cNvSpPr/>
          <p:nvPr/>
        </p:nvSpPr>
        <p:spPr>
          <a:xfrm>
            <a:off x="521208" y="4599432"/>
            <a:ext cx="128016" cy="128016"/>
          </a:xfrm>
          <a:prstGeom prst="rect">
            <a:avLst/>
          </a:prstGeom>
          <a:solidFill>
            <a:srgbClr val="7DAE5C"/>
          </a:solidFill>
          <a:ln w="5080">
            <a:solidFill>
              <a:srgbClr val="BBDBA8"/>
            </a:solidFill>
            <a:prstDash val="solid"/>
          </a:ln>
        </p:spPr>
      </p:sp>
      <p:sp>
        <p:nvSpPr>
          <p:cNvPr id="48" name="Shape 46"/>
          <p:cNvSpPr/>
          <p:nvPr/>
        </p:nvSpPr>
        <p:spPr>
          <a:xfrm>
            <a:off x="658368" y="4599432"/>
            <a:ext cx="128016" cy="128016"/>
          </a:xfrm>
          <a:prstGeom prst="rect">
            <a:avLst/>
          </a:prstGeom>
          <a:solidFill>
            <a:srgbClr val="7DAE5C"/>
          </a:solidFill>
          <a:ln w="5080">
            <a:solidFill>
              <a:srgbClr val="BBDBA8"/>
            </a:solidFill>
            <a:prstDash val="solid"/>
          </a:ln>
        </p:spPr>
      </p:sp>
      <p:sp>
        <p:nvSpPr>
          <p:cNvPr id="49" name="Shape 47"/>
          <p:cNvSpPr/>
          <p:nvPr/>
        </p:nvSpPr>
        <p:spPr>
          <a:xfrm>
            <a:off x="795528" y="4599432"/>
            <a:ext cx="128016" cy="128016"/>
          </a:xfrm>
          <a:prstGeom prst="rect">
            <a:avLst/>
          </a:prstGeom>
          <a:solidFill>
            <a:srgbClr val="D5EBC8"/>
          </a:solidFill>
          <a:ln w="5080">
            <a:solidFill>
              <a:srgbClr val="BBDBA8"/>
            </a:solidFill>
            <a:prstDash val="solid"/>
          </a:ln>
        </p:spPr>
      </p:sp>
      <p:sp>
        <p:nvSpPr>
          <p:cNvPr id="50" name="Shape 48"/>
          <p:cNvSpPr/>
          <p:nvPr/>
        </p:nvSpPr>
        <p:spPr>
          <a:xfrm>
            <a:off x="932688" y="4599432"/>
            <a:ext cx="128016" cy="128016"/>
          </a:xfrm>
          <a:prstGeom prst="rect">
            <a:avLst/>
          </a:prstGeom>
          <a:solidFill>
            <a:srgbClr val="D5EBC8"/>
          </a:solidFill>
          <a:ln w="5080">
            <a:solidFill>
              <a:srgbClr val="BBDBA8"/>
            </a:solidFill>
            <a:prstDash val="solid"/>
          </a:ln>
        </p:spPr>
      </p:sp>
      <p:sp>
        <p:nvSpPr>
          <p:cNvPr id="51" name="Shape 49"/>
          <p:cNvSpPr/>
          <p:nvPr/>
        </p:nvSpPr>
        <p:spPr>
          <a:xfrm>
            <a:off x="1069848" y="4599432"/>
            <a:ext cx="128016" cy="128016"/>
          </a:xfrm>
          <a:prstGeom prst="rect">
            <a:avLst/>
          </a:prstGeom>
          <a:solidFill>
            <a:srgbClr val="7DAE5C"/>
          </a:solidFill>
          <a:ln w="5080">
            <a:solidFill>
              <a:srgbClr val="BBDBA8"/>
            </a:solidFill>
            <a:prstDash val="solid"/>
          </a:ln>
        </p:spPr>
      </p:sp>
      <p:sp>
        <p:nvSpPr>
          <p:cNvPr id="52" name="Shape 50"/>
          <p:cNvSpPr/>
          <p:nvPr/>
        </p:nvSpPr>
        <p:spPr>
          <a:xfrm>
            <a:off x="1207008" y="4599432"/>
            <a:ext cx="128016" cy="128016"/>
          </a:xfrm>
          <a:prstGeom prst="rect">
            <a:avLst/>
          </a:prstGeom>
          <a:solidFill>
            <a:srgbClr val="7DAE5C"/>
          </a:solidFill>
          <a:ln w="5080">
            <a:solidFill>
              <a:srgbClr val="BBDBA8"/>
            </a:solidFill>
            <a:prstDash val="solid"/>
          </a:ln>
        </p:spPr>
      </p:sp>
      <p:sp>
        <p:nvSpPr>
          <p:cNvPr id="53" name="Shape 51"/>
          <p:cNvSpPr/>
          <p:nvPr/>
        </p:nvSpPr>
        <p:spPr>
          <a:xfrm>
            <a:off x="1344168" y="4599432"/>
            <a:ext cx="128016" cy="128016"/>
          </a:xfrm>
          <a:prstGeom prst="rect">
            <a:avLst/>
          </a:prstGeom>
          <a:solidFill>
            <a:srgbClr val="7DAE5C"/>
          </a:solidFill>
          <a:ln w="5080">
            <a:solidFill>
              <a:srgbClr val="BBDBA8"/>
            </a:solidFill>
            <a:prstDash val="solid"/>
          </a:ln>
        </p:spPr>
      </p:sp>
      <p:sp>
        <p:nvSpPr>
          <p:cNvPr id="54" name="Shape 52"/>
          <p:cNvSpPr/>
          <p:nvPr/>
        </p:nvSpPr>
        <p:spPr>
          <a:xfrm>
            <a:off x="384048" y="4736592"/>
            <a:ext cx="128016" cy="128016"/>
          </a:xfrm>
          <a:prstGeom prst="rect">
            <a:avLst/>
          </a:prstGeom>
          <a:solidFill>
            <a:srgbClr val="D5EBC8"/>
          </a:solidFill>
          <a:ln w="5080">
            <a:solidFill>
              <a:srgbClr val="BBDBA8"/>
            </a:solidFill>
            <a:prstDash val="solid"/>
          </a:ln>
        </p:spPr>
      </p:sp>
      <p:sp>
        <p:nvSpPr>
          <p:cNvPr id="55" name="Shape 53"/>
          <p:cNvSpPr/>
          <p:nvPr/>
        </p:nvSpPr>
        <p:spPr>
          <a:xfrm>
            <a:off x="521208" y="4736592"/>
            <a:ext cx="128016" cy="128016"/>
          </a:xfrm>
          <a:prstGeom prst="rect">
            <a:avLst/>
          </a:prstGeom>
          <a:solidFill>
            <a:srgbClr val="7DAE5C"/>
          </a:solidFill>
          <a:ln w="5080">
            <a:solidFill>
              <a:srgbClr val="BBDBA8"/>
            </a:solidFill>
            <a:prstDash val="solid"/>
          </a:ln>
        </p:spPr>
      </p:sp>
      <p:sp>
        <p:nvSpPr>
          <p:cNvPr id="56" name="Shape 54"/>
          <p:cNvSpPr/>
          <p:nvPr/>
        </p:nvSpPr>
        <p:spPr>
          <a:xfrm>
            <a:off x="658368" y="4736592"/>
            <a:ext cx="128016" cy="128016"/>
          </a:xfrm>
          <a:prstGeom prst="rect">
            <a:avLst/>
          </a:prstGeom>
          <a:solidFill>
            <a:srgbClr val="7DAE5C"/>
          </a:solidFill>
          <a:ln w="5080">
            <a:solidFill>
              <a:srgbClr val="BBDBA8"/>
            </a:solidFill>
            <a:prstDash val="solid"/>
          </a:ln>
        </p:spPr>
      </p:sp>
      <p:sp>
        <p:nvSpPr>
          <p:cNvPr id="57" name="Shape 55"/>
          <p:cNvSpPr/>
          <p:nvPr/>
        </p:nvSpPr>
        <p:spPr>
          <a:xfrm>
            <a:off x="795528" y="4736592"/>
            <a:ext cx="128016" cy="128016"/>
          </a:xfrm>
          <a:prstGeom prst="rect">
            <a:avLst/>
          </a:prstGeom>
          <a:solidFill>
            <a:srgbClr val="7DAE5C"/>
          </a:solidFill>
          <a:ln w="5080">
            <a:solidFill>
              <a:srgbClr val="BBDBA8"/>
            </a:solidFill>
            <a:prstDash val="solid"/>
          </a:ln>
        </p:spPr>
      </p:sp>
      <p:sp>
        <p:nvSpPr>
          <p:cNvPr id="58" name="Shape 56"/>
          <p:cNvSpPr/>
          <p:nvPr/>
        </p:nvSpPr>
        <p:spPr>
          <a:xfrm>
            <a:off x="932688" y="4736592"/>
            <a:ext cx="128016" cy="128016"/>
          </a:xfrm>
          <a:prstGeom prst="rect">
            <a:avLst/>
          </a:prstGeom>
          <a:solidFill>
            <a:srgbClr val="7DAE5C"/>
          </a:solidFill>
          <a:ln w="5080">
            <a:solidFill>
              <a:srgbClr val="BBDBA8"/>
            </a:solidFill>
            <a:prstDash val="solid"/>
          </a:ln>
        </p:spPr>
      </p:sp>
      <p:sp>
        <p:nvSpPr>
          <p:cNvPr id="59" name="Shape 57"/>
          <p:cNvSpPr/>
          <p:nvPr/>
        </p:nvSpPr>
        <p:spPr>
          <a:xfrm>
            <a:off x="1069848" y="4736592"/>
            <a:ext cx="128016" cy="128016"/>
          </a:xfrm>
          <a:prstGeom prst="rect">
            <a:avLst/>
          </a:prstGeom>
          <a:solidFill>
            <a:srgbClr val="7DAE5C"/>
          </a:solidFill>
          <a:ln w="5080">
            <a:solidFill>
              <a:srgbClr val="BBDBA8"/>
            </a:solidFill>
            <a:prstDash val="solid"/>
          </a:ln>
        </p:spPr>
      </p:sp>
      <p:sp>
        <p:nvSpPr>
          <p:cNvPr id="60" name="Shape 58"/>
          <p:cNvSpPr/>
          <p:nvPr/>
        </p:nvSpPr>
        <p:spPr>
          <a:xfrm>
            <a:off x="1207008" y="4736592"/>
            <a:ext cx="128016" cy="128016"/>
          </a:xfrm>
          <a:prstGeom prst="rect">
            <a:avLst/>
          </a:prstGeom>
          <a:solidFill>
            <a:srgbClr val="7DAE5C"/>
          </a:solidFill>
          <a:ln w="5080">
            <a:solidFill>
              <a:srgbClr val="BBDBA8"/>
            </a:solidFill>
            <a:prstDash val="solid"/>
          </a:ln>
        </p:spPr>
      </p:sp>
      <p:sp>
        <p:nvSpPr>
          <p:cNvPr id="61" name="Shape 59"/>
          <p:cNvSpPr/>
          <p:nvPr/>
        </p:nvSpPr>
        <p:spPr>
          <a:xfrm>
            <a:off x="1344168" y="4736592"/>
            <a:ext cx="128016" cy="128016"/>
          </a:xfrm>
          <a:prstGeom prst="rect">
            <a:avLst/>
          </a:prstGeom>
          <a:solidFill>
            <a:srgbClr val="D5EBC8"/>
          </a:solidFill>
          <a:ln w="5080">
            <a:solidFill>
              <a:srgbClr val="BBDBA8"/>
            </a:solidFill>
            <a:prstDash val="solid"/>
          </a:ln>
        </p:spPr>
      </p:sp>
      <p:sp>
        <p:nvSpPr>
          <p:cNvPr id="62" name="Shape 60"/>
          <p:cNvSpPr/>
          <p:nvPr/>
        </p:nvSpPr>
        <p:spPr>
          <a:xfrm>
            <a:off x="384048" y="4873752"/>
            <a:ext cx="128016" cy="128016"/>
          </a:xfrm>
          <a:prstGeom prst="rect">
            <a:avLst/>
          </a:prstGeom>
          <a:solidFill>
            <a:srgbClr val="D5EBC8"/>
          </a:solidFill>
          <a:ln w="5080">
            <a:solidFill>
              <a:srgbClr val="BBDBA8"/>
            </a:solidFill>
            <a:prstDash val="solid"/>
          </a:ln>
        </p:spPr>
      </p:sp>
      <p:sp>
        <p:nvSpPr>
          <p:cNvPr id="63" name="Shape 61"/>
          <p:cNvSpPr/>
          <p:nvPr/>
        </p:nvSpPr>
        <p:spPr>
          <a:xfrm>
            <a:off x="521208" y="4873752"/>
            <a:ext cx="128016" cy="128016"/>
          </a:xfrm>
          <a:prstGeom prst="rect">
            <a:avLst/>
          </a:prstGeom>
          <a:solidFill>
            <a:srgbClr val="D5EBC8"/>
          </a:solidFill>
          <a:ln w="5080">
            <a:solidFill>
              <a:srgbClr val="BBDBA8"/>
            </a:solidFill>
            <a:prstDash val="solid"/>
          </a:ln>
        </p:spPr>
      </p:sp>
      <p:sp>
        <p:nvSpPr>
          <p:cNvPr id="64" name="Shape 62"/>
          <p:cNvSpPr/>
          <p:nvPr/>
        </p:nvSpPr>
        <p:spPr>
          <a:xfrm>
            <a:off x="658368" y="4873752"/>
            <a:ext cx="128016" cy="128016"/>
          </a:xfrm>
          <a:prstGeom prst="rect">
            <a:avLst/>
          </a:prstGeom>
          <a:solidFill>
            <a:srgbClr val="7DAE5C"/>
          </a:solidFill>
          <a:ln w="5080">
            <a:solidFill>
              <a:srgbClr val="BBDBA8"/>
            </a:solidFill>
            <a:prstDash val="solid"/>
          </a:ln>
        </p:spPr>
      </p:sp>
      <p:sp>
        <p:nvSpPr>
          <p:cNvPr id="65" name="Shape 63"/>
          <p:cNvSpPr/>
          <p:nvPr/>
        </p:nvSpPr>
        <p:spPr>
          <a:xfrm>
            <a:off x="795528" y="4873752"/>
            <a:ext cx="128016" cy="128016"/>
          </a:xfrm>
          <a:prstGeom prst="rect">
            <a:avLst/>
          </a:prstGeom>
          <a:solidFill>
            <a:srgbClr val="7DAE5C"/>
          </a:solidFill>
          <a:ln w="5080">
            <a:solidFill>
              <a:srgbClr val="BBDBA8"/>
            </a:solidFill>
            <a:prstDash val="solid"/>
          </a:ln>
        </p:spPr>
      </p:sp>
      <p:sp>
        <p:nvSpPr>
          <p:cNvPr id="66" name="Shape 64"/>
          <p:cNvSpPr/>
          <p:nvPr/>
        </p:nvSpPr>
        <p:spPr>
          <a:xfrm>
            <a:off x="932688" y="4873752"/>
            <a:ext cx="128016" cy="128016"/>
          </a:xfrm>
          <a:prstGeom prst="rect">
            <a:avLst/>
          </a:prstGeom>
          <a:solidFill>
            <a:srgbClr val="7DAE5C"/>
          </a:solidFill>
          <a:ln w="5080">
            <a:solidFill>
              <a:srgbClr val="BBDBA8"/>
            </a:solidFill>
            <a:prstDash val="solid"/>
          </a:ln>
        </p:spPr>
      </p:sp>
      <p:sp>
        <p:nvSpPr>
          <p:cNvPr id="67" name="Shape 65"/>
          <p:cNvSpPr/>
          <p:nvPr/>
        </p:nvSpPr>
        <p:spPr>
          <a:xfrm>
            <a:off x="1069848" y="4873752"/>
            <a:ext cx="128016" cy="128016"/>
          </a:xfrm>
          <a:prstGeom prst="rect">
            <a:avLst/>
          </a:prstGeom>
          <a:solidFill>
            <a:srgbClr val="7DAE5C"/>
          </a:solidFill>
          <a:ln w="5080">
            <a:solidFill>
              <a:srgbClr val="BBDBA8"/>
            </a:solidFill>
            <a:prstDash val="solid"/>
          </a:ln>
        </p:spPr>
      </p:sp>
      <p:sp>
        <p:nvSpPr>
          <p:cNvPr id="68" name="Shape 66"/>
          <p:cNvSpPr/>
          <p:nvPr/>
        </p:nvSpPr>
        <p:spPr>
          <a:xfrm>
            <a:off x="1207008" y="4873752"/>
            <a:ext cx="128016" cy="128016"/>
          </a:xfrm>
          <a:prstGeom prst="rect">
            <a:avLst/>
          </a:prstGeom>
          <a:solidFill>
            <a:srgbClr val="D5EBC8"/>
          </a:solidFill>
          <a:ln w="5080">
            <a:solidFill>
              <a:srgbClr val="BBDBA8"/>
            </a:solidFill>
            <a:prstDash val="solid"/>
          </a:ln>
        </p:spPr>
      </p:sp>
      <p:sp>
        <p:nvSpPr>
          <p:cNvPr id="69" name="Shape 67"/>
          <p:cNvSpPr/>
          <p:nvPr/>
        </p:nvSpPr>
        <p:spPr>
          <a:xfrm>
            <a:off x="1344168" y="4873752"/>
            <a:ext cx="128016" cy="128016"/>
          </a:xfrm>
          <a:prstGeom prst="rect">
            <a:avLst/>
          </a:prstGeom>
          <a:solidFill>
            <a:srgbClr val="D5EBC8"/>
          </a:solidFill>
          <a:ln w="5080">
            <a:solidFill>
              <a:srgbClr val="BBDBA8"/>
            </a:solidFill>
            <a:prstDash val="solid"/>
          </a:ln>
        </p:spPr>
      </p:sp>
      <p:sp>
        <p:nvSpPr>
          <p:cNvPr id="70" name="Text 68"/>
          <p:cNvSpPr/>
          <p:nvPr/>
        </p:nvSpPr>
        <p:spPr>
          <a:xfrm>
            <a:off x="384048" y="3712464"/>
            <a:ext cx="1143000" cy="182880"/>
          </a:xfrm>
          <a:prstGeom prst="rect">
            <a:avLst/>
          </a:prstGeom>
          <a:noFill/>
          <a:ln/>
        </p:spPr>
        <p:txBody>
          <a:bodyPr wrap="square" lIns="0" tIns="0" rIns="0" bIns="0" rtlCol="0" anchor="ctr"/>
          <a:lstStyle/>
          <a:p>
            <a:pPr indent="0" marL="0">
              <a:buNone/>
            </a:pPr>
            <a:r>
              <a:rPr lang="en-US" sz="800" dirty="0">
                <a:solidFill>
                  <a:srgbClr val="2D3436"/>
                </a:solidFill>
                <a:latin typeface="Calibri" pitchFamily="34" charset="0"/>
                <a:ea typeface="Calibri" pitchFamily="34" charset="-122"/>
                <a:cs typeface="Calibri" pitchFamily="34" charset="-120"/>
              </a:rPr>
              <a:t>Sample pixel art food sprite</a:t>
            </a:r>
            <a:endParaRPr lang="en-US" sz="800" dirty="0"/>
          </a:p>
        </p:txBody>
      </p:sp>
      <p:sp>
        <p:nvSpPr>
          <p:cNvPr id="71" name="Shape 69"/>
          <p:cNvSpPr/>
          <p:nvPr/>
        </p:nvSpPr>
        <p:spPr>
          <a:xfrm>
            <a:off x="5349240" y="896112"/>
            <a:ext cx="3429000" cy="3657600"/>
          </a:xfrm>
          <a:prstGeom prst="roundRect">
            <a:avLst>
              <a:gd name="adj" fmla="val 2667"/>
            </a:avLst>
          </a:prstGeom>
          <a:solidFill>
            <a:srgbClr val="E8F1E0"/>
          </a:solidFill>
          <a:ln w="19050">
            <a:solidFill>
              <a:srgbClr val="7DAE5C"/>
            </a:solidFill>
            <a:prstDash val="solid"/>
          </a:ln>
          <a:effectLst>
            <a:outerShdw sx="100000" sy="100000" kx="0" ky="0" algn="bl" rotWithShape="0" blurRad="101600" dist="38100" dir="2700000">
              <a:srgbClr val="000000">
                <a:alpha val="12000"/>
              </a:srgbClr>
            </a:outerShdw>
          </a:effectLst>
        </p:spPr>
      </p:sp>
      <p:sp>
        <p:nvSpPr>
          <p:cNvPr id="72" name="Text 70"/>
          <p:cNvSpPr/>
          <p:nvPr/>
        </p:nvSpPr>
        <p:spPr>
          <a:xfrm>
            <a:off x="5440680" y="996696"/>
            <a:ext cx="3246120" cy="274320"/>
          </a:xfrm>
          <a:prstGeom prst="rect">
            <a:avLst/>
          </a:prstGeom>
          <a:noFill/>
          <a:ln/>
        </p:spPr>
        <p:txBody>
          <a:bodyPr wrap="square" lIns="0" tIns="0" rIns="0" bIns="0" rtlCol="0" anchor="ctr"/>
          <a:lstStyle/>
          <a:p>
            <a:pPr algn="ctr" indent="0" marL="0">
              <a:buNone/>
            </a:pPr>
            <a:r>
              <a:rPr lang="en-US" sz="950" b="1" spc="150" kern="0" dirty="0">
                <a:solidFill>
                  <a:srgbClr val="7DAE5C"/>
                </a:solidFill>
                <a:latin typeface="Calibri" pitchFamily="34" charset="0"/>
                <a:ea typeface="Calibri" pitchFamily="34" charset="-122"/>
                <a:cs typeface="Calibri" pitchFamily="34" charset="-120"/>
              </a:rPr>
              <a:t>POTENTIAL PATENT CLAIM</a:t>
            </a:r>
            <a:endParaRPr lang="en-US" sz="950" dirty="0"/>
          </a:p>
        </p:txBody>
      </p:sp>
      <p:sp>
        <p:nvSpPr>
          <p:cNvPr id="73" name="Text 71"/>
          <p:cNvSpPr/>
          <p:nvPr/>
        </p:nvSpPr>
        <p:spPr>
          <a:xfrm>
            <a:off x="5440680" y="1325880"/>
            <a:ext cx="3246120" cy="2148840"/>
          </a:xfrm>
          <a:prstGeom prst="rect">
            <a:avLst/>
          </a:prstGeom>
          <a:noFill/>
          <a:ln/>
        </p:spPr>
        <p:txBody>
          <a:bodyPr wrap="square" lIns="0" tIns="0" rIns="0" bIns="0" rtlCol="0" anchor="ctr"/>
          <a:lstStyle/>
          <a:p>
            <a:pPr indent="0" marL="0">
              <a:buNone/>
            </a:pPr>
            <a:r>
              <a:rPr lang="en-US" sz="1250" i="1" dirty="0">
                <a:solidFill>
                  <a:srgbClr val="2C5F2D"/>
                </a:solidFill>
                <a:latin typeface="Calibri" pitchFamily="34" charset="0"/>
                <a:ea typeface="Calibri" pitchFamily="34" charset="-122"/>
                <a:cs typeface="Calibri" pitchFamily="34" charset="-120"/>
              </a:rPr>
              <a:t>The integration between a pixel art food avatar creator and a real-world retail check-in reward economy within a food discovery application — where physical store visits earn virtual currency redeemable for digital avatar cosmetic items.</a:t>
            </a:r>
            <a:endParaRPr lang="en-US" sz="1250" dirty="0"/>
          </a:p>
          <a:p>
            <a:pPr indent="0" marL="0">
              <a:buNone/>
            </a:pPr>
            <a:endParaRPr lang="en-US" sz="1250" dirty="0"/>
          </a:p>
          <a:p>
            <a:pPr indent="0" marL="0">
              <a:buNone/>
            </a:pPr>
            <a:r>
              <a:rPr lang="en-US" sz="1250" i="1" dirty="0">
                <a:solidFill>
                  <a:srgbClr val="2C5F2D"/>
                </a:solidFill>
                <a:latin typeface="Calibri" pitchFamily="34" charset="0"/>
                <a:ea typeface="Calibri" pitchFamily="34" charset="-122"/>
                <a:cs typeface="Calibri" pitchFamily="34" charset="-120"/>
              </a:rPr>
              <a:t>Also: design patent for the specific pixel art food character visual aesthetic.</a:t>
            </a:r>
            <a:endParaRPr lang="en-US" sz="1250" dirty="0"/>
          </a:p>
        </p:txBody>
      </p:sp>
      <p:sp>
        <p:nvSpPr>
          <p:cNvPr id="74" name="Shape 72"/>
          <p:cNvSpPr/>
          <p:nvPr/>
        </p:nvSpPr>
        <p:spPr>
          <a:xfrm>
            <a:off x="5440680" y="3520440"/>
            <a:ext cx="3246120" cy="822960"/>
          </a:xfrm>
          <a:prstGeom prst="roundRect">
            <a:avLst>
              <a:gd name="adj" fmla="val 8889"/>
            </a:avLst>
          </a:prstGeom>
          <a:solidFill>
            <a:srgbClr val="D4EBC8"/>
          </a:solidFill>
          <a:ln/>
        </p:spPr>
      </p:sp>
      <p:sp>
        <p:nvSpPr>
          <p:cNvPr id="75" name="Text 73"/>
          <p:cNvSpPr/>
          <p:nvPr/>
        </p:nvSpPr>
        <p:spPr>
          <a:xfrm>
            <a:off x="5440680" y="3566160"/>
            <a:ext cx="3246120" cy="731520"/>
          </a:xfrm>
          <a:prstGeom prst="rect">
            <a:avLst/>
          </a:prstGeom>
          <a:noFill/>
          <a:ln/>
        </p:spPr>
        <p:txBody>
          <a:bodyPr wrap="square" lIns="0" tIns="0" rIns="0" bIns="0" rtlCol="0" anchor="ctr"/>
          <a:lstStyle/>
          <a:p>
            <a:pPr algn="ctr" indent="0" marL="0">
              <a:buNone/>
            </a:pPr>
            <a:r>
              <a:rPr lang="en-US" sz="1200" b="1" dirty="0">
                <a:solidFill>
                  <a:srgbClr val="1B2A4A"/>
                </a:solidFill>
                <a:latin typeface="Cambria" pitchFamily="34" charset="0"/>
                <a:ea typeface="Cambria" pitchFamily="34" charset="-122"/>
                <a:cs typeface="Cambria" pitchFamily="34" charset="-120"/>
              </a:rPr>
              <a:t>Ask about design</a:t>
            </a:r>
            <a:endParaRPr lang="en-US" sz="1200" dirty="0"/>
          </a:p>
          <a:p>
            <a:pPr algn="ctr" indent="0" marL="0">
              <a:buNone/>
            </a:pPr>
            <a:r>
              <a:rPr lang="en-US" sz="1200" b="1" dirty="0">
                <a:solidFill>
                  <a:srgbClr val="1B2A4A"/>
                </a:solidFill>
                <a:latin typeface="Cambria" pitchFamily="34" charset="0"/>
                <a:ea typeface="Cambria" pitchFamily="34" charset="-122"/>
                <a:cs typeface="Cambria" pitchFamily="34" charset="-120"/>
              </a:rPr>
              <a:t>patent for visual</a:t>
            </a:r>
            <a:endParaRPr lang="en-US" sz="1200" dirty="0"/>
          </a:p>
          <a:p>
            <a:pPr algn="ctr" indent="0" marL="0">
              <a:buNone/>
            </a:pPr>
            <a:r>
              <a:rPr lang="en-US" sz="1200" b="1" dirty="0">
                <a:solidFill>
                  <a:srgbClr val="1B2A4A"/>
                </a:solidFill>
                <a:latin typeface="Cambria" pitchFamily="34" charset="0"/>
                <a:ea typeface="Cambria" pitchFamily="34" charset="-122"/>
                <a:cs typeface="Cambria" pitchFamily="34" charset="-120"/>
              </a:rPr>
              <a:t>aesthetic</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01168"/>
            <a:ext cx="8412480" cy="512064"/>
          </a:xfrm>
          <a:prstGeom prst="rect">
            <a:avLst/>
          </a:prstGeom>
          <a:noFill/>
          <a:ln/>
        </p:spPr>
        <p:txBody>
          <a:bodyPr wrap="square" lIns="0" tIns="0" rIns="0" bIns="0" rtlCol="0" anchor="ctr"/>
          <a:lstStyle/>
          <a:p>
            <a:pPr indent="0" marL="0">
              <a:buNone/>
            </a:pPr>
            <a:r>
              <a:rPr lang="en-US" sz="3200" b="1" dirty="0">
                <a:solidFill>
                  <a:srgbClr val="1B2A4A"/>
                </a:solidFill>
                <a:latin typeface="Cambria" pitchFamily="34" charset="0"/>
                <a:ea typeface="Cambria" pitchFamily="34" charset="-122"/>
                <a:cs typeface="Cambria" pitchFamily="34" charset="-120"/>
              </a:rPr>
              <a:t>Prior Art Awareness</a:t>
            </a:r>
            <a:endParaRPr lang="en-US" sz="3200" dirty="0"/>
          </a:p>
        </p:txBody>
      </p:sp>
      <p:sp>
        <p:nvSpPr>
          <p:cNvPr id="3" name="Text 1"/>
          <p:cNvSpPr/>
          <p:nvPr/>
        </p:nvSpPr>
        <p:spPr>
          <a:xfrm>
            <a:off x="365760" y="713232"/>
            <a:ext cx="8412480" cy="256032"/>
          </a:xfrm>
          <a:prstGeom prst="rect">
            <a:avLst/>
          </a:prstGeom>
          <a:noFill/>
          <a:ln/>
        </p:spPr>
        <p:txBody>
          <a:bodyPr wrap="square" lIns="0" tIns="0" rIns="0" bIns="0" rtlCol="0" anchor="ctr"/>
          <a:lstStyle/>
          <a:p>
            <a:pPr indent="0" marL="0">
              <a:buNone/>
            </a:pPr>
            <a:r>
              <a:rPr lang="en-US" sz="1350" i="1" dirty="0">
                <a:solidFill>
                  <a:srgbClr val="637074"/>
                </a:solidFill>
                <a:latin typeface="Calibri" pitchFamily="34" charset="0"/>
                <a:ea typeface="Calibri" pitchFamily="34" charset="-122"/>
                <a:cs typeface="Calibri" pitchFamily="34" charset="-120"/>
              </a:rPr>
              <a:t>Overlapping products exist — none combine all five elements or replicate the dual-sided model</a:t>
            </a:r>
            <a:endParaRPr lang="en-US" sz="13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65760" y="1024128"/>
          <a:ext cx="8412480" cy="914400"/>
        </p:xfrm>
        <a:graphic>
          <a:graphicData uri="http://schemas.openxmlformats.org/drawingml/2006/table">
            <a:tbl>
              <a:tblPr/>
              <a:tblGrid>
                <a:gridCol w="1828800"/>
                <a:gridCol w="2286000"/>
                <a:gridCol w="4297680"/>
              </a:tblGrid>
              <a:tr h="420624">
                <a:tc>
                  <a:txBody>
                    <a:bodyPr/>
                    <a:lstStyle/>
                    <a:p>
                      <a:pPr indent="0" marL="0">
                        <a:buNone/>
                      </a:pPr>
                      <a:r>
                        <a:rPr lang="en-US" sz="1150" b="1" dirty="0">
                          <a:solidFill>
                            <a:srgbClr val="FFFFFF"/>
                          </a:solidFill>
                          <a:latin typeface="Cambria" pitchFamily="34" charset="0"/>
                          <a:ea typeface="Cambria" pitchFamily="34" charset="-122"/>
                          <a:cs typeface="Cambria" pitchFamily="34" charset="-120"/>
                        </a:rPr>
                        <a:t>Competitor</a:t>
                      </a:r>
                      <a:endParaRPr lang="en-US" sz="1150" dirty="0">
                        <a:latin typeface="Cambria" charset="0"/>
                        <a:ea typeface="Cambria" charset="0"/>
                        <a:cs typeface="Cambria"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A"/>
                    </a:solidFill>
                  </a:tcPr>
                </a:tc>
                <a:tc>
                  <a:txBody>
                    <a:bodyPr/>
                    <a:lstStyle/>
                    <a:p>
                      <a:pPr indent="0" marL="0">
                        <a:buNone/>
                      </a:pPr>
                      <a:r>
                        <a:rPr lang="en-US" sz="1150" b="1" dirty="0">
                          <a:solidFill>
                            <a:srgbClr val="FFFFFF"/>
                          </a:solidFill>
                          <a:latin typeface="Cambria" pitchFamily="34" charset="0"/>
                          <a:ea typeface="Cambria" pitchFamily="34" charset="-122"/>
                          <a:cs typeface="Cambria" pitchFamily="34" charset="-120"/>
                        </a:rPr>
                        <a:t>Overlap</a:t>
                      </a:r>
                      <a:endParaRPr lang="en-US" sz="1150" dirty="0">
                        <a:latin typeface="Cambria" charset="0"/>
                        <a:ea typeface="Cambria" charset="0"/>
                        <a:cs typeface="Cambria"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A"/>
                    </a:solidFill>
                  </a:tcPr>
                </a:tc>
                <a:tc>
                  <a:txBody>
                    <a:bodyPr/>
                    <a:lstStyle/>
                    <a:p>
                      <a:pPr indent="0" marL="0">
                        <a:buNone/>
                      </a:pPr>
                      <a:r>
                        <a:rPr lang="en-US" sz="1150" b="1" dirty="0">
                          <a:solidFill>
                            <a:srgbClr val="FFFFFF"/>
                          </a:solidFill>
                          <a:latin typeface="Cambria" pitchFamily="34" charset="0"/>
                          <a:ea typeface="Cambria" pitchFamily="34" charset="-122"/>
                          <a:cs typeface="Cambria" pitchFamily="34" charset="-120"/>
                        </a:rPr>
                        <a:t>Key Difference — Why Dig In's IP Is Distinct</a:t>
                      </a:r>
                      <a:endParaRPr lang="en-US" sz="1150" dirty="0">
                        <a:latin typeface="Cambria" charset="0"/>
                        <a:ea typeface="Cambria" charset="0"/>
                        <a:cs typeface="Cambria"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A"/>
                    </a:solidFill>
                  </a:tcPr>
                </a:tc>
              </a:tr>
              <a:tr h="420624">
                <a:tc>
                  <a:txBody>
                    <a:bodyPr/>
                    <a:lstStyle/>
                    <a:p>
                      <a:pPr indent="0" marL="0">
                        <a:buNone/>
                      </a:pPr>
                      <a:r>
                        <a:rPr lang="en-US" sz="1100" dirty="0">
                          <a:solidFill>
                            <a:srgbClr val="2D3436"/>
                          </a:solidFill>
                          <a:latin typeface="Calibri" pitchFamily="34" charset="0"/>
                          <a:ea typeface="Calibri" pitchFamily="34" charset="-122"/>
                          <a:cs typeface="Calibri" pitchFamily="34" charset="-120"/>
                        </a:rPr>
                        <a:t>Foursquare / Swarm</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D3436"/>
                          </a:solidFill>
                          <a:latin typeface="Calibri" pitchFamily="34" charset="0"/>
                          <a:ea typeface="Calibri" pitchFamily="34" charset="-122"/>
                          <a:cs typeface="Calibri" pitchFamily="34" charset="-120"/>
                        </a:rPr>
                        <a:t>Location check-ins, badges, gamification</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D3436"/>
                          </a:solidFill>
                          <a:latin typeface="Calibri" pitchFamily="34" charset="0"/>
                          <a:ea typeface="Calibri" pitchFamily="34" charset="-122"/>
                          <a:cs typeface="Calibri" pitchFamily="34" charset="-120"/>
                        </a:rPr>
                        <a:t>No food data, no B2B retail intelligence, no recipes, no avatar creator</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20624">
                <a:tc>
                  <a:txBody>
                    <a:bodyPr/>
                    <a:lstStyle/>
                    <a:p>
                      <a:pPr indent="0" marL="0">
                        <a:buNone/>
                      </a:pPr>
                      <a:r>
                        <a:rPr lang="en-US" sz="1100" dirty="0">
                          <a:solidFill>
                            <a:srgbClr val="2D3436"/>
                          </a:solidFill>
                          <a:latin typeface="Calibri" pitchFamily="34" charset="0"/>
                          <a:ea typeface="Calibri" pitchFamily="34" charset="-122"/>
                          <a:cs typeface="Calibri" pitchFamily="34" charset="-120"/>
                        </a:rPr>
                        <a:t>Yummly</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100" dirty="0">
                          <a:solidFill>
                            <a:srgbClr val="2D3436"/>
                          </a:solidFill>
                          <a:latin typeface="Calibri" pitchFamily="34" charset="0"/>
                          <a:ea typeface="Calibri" pitchFamily="34" charset="-122"/>
                          <a:cs typeface="Calibri" pitchFamily="34" charset="-120"/>
                        </a:rPr>
                        <a:t>Recipe database, personalization</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100" dirty="0">
                          <a:solidFill>
                            <a:srgbClr val="2D3436"/>
                          </a:solidFill>
                          <a:latin typeface="Calibri" pitchFamily="34" charset="0"/>
                          <a:ea typeface="Calibri" pitchFamily="34" charset="-122"/>
                          <a:cs typeface="Calibri" pitchFamily="34" charset="-120"/>
                        </a:rPr>
                        <a:t>No check-ins, no B2B data layer, no avatar creator, no store map</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8FAFC"/>
                    </a:solidFill>
                  </a:tcPr>
                </a:tc>
              </a:tr>
              <a:tr h="420624">
                <a:tc>
                  <a:txBody>
                    <a:bodyPr/>
                    <a:lstStyle/>
                    <a:p>
                      <a:pPr indent="0" marL="0">
                        <a:buNone/>
                      </a:pPr>
                      <a:r>
                        <a:rPr lang="en-US" sz="1100" dirty="0">
                          <a:solidFill>
                            <a:srgbClr val="2D3436"/>
                          </a:solidFill>
                          <a:latin typeface="Calibri" pitchFamily="34" charset="0"/>
                          <a:ea typeface="Calibri" pitchFamily="34" charset="-122"/>
                          <a:cs typeface="Calibri" pitchFamily="34" charset="-120"/>
                        </a:rPr>
                        <a:t>Numerator</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D3436"/>
                          </a:solidFill>
                          <a:latin typeface="Calibri" pitchFamily="34" charset="0"/>
                          <a:ea typeface="Calibri" pitchFamily="34" charset="-122"/>
                          <a:cs typeface="Calibri" pitchFamily="34" charset="-120"/>
                        </a:rPr>
                        <a:t>Retail behavioral data collection</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D3436"/>
                          </a:solidFill>
                          <a:latin typeface="Calibri" pitchFamily="34" charset="0"/>
                          <a:ea typeface="Calibri" pitchFamily="34" charset="-122"/>
                          <a:cs typeface="Calibri" pitchFamily="34" charset="-120"/>
                        </a:rPr>
                        <a:t>Passive receipt scanning only — no consumer engagement, no gamification, no IP moat</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20624">
                <a:tc>
                  <a:txBody>
                    <a:bodyPr/>
                    <a:lstStyle/>
                    <a:p>
                      <a:pPr indent="0" marL="0">
                        <a:buNone/>
                      </a:pPr>
                      <a:r>
                        <a:rPr lang="en-US" sz="1100" dirty="0">
                          <a:solidFill>
                            <a:srgbClr val="2D3436"/>
                          </a:solidFill>
                          <a:latin typeface="Calibri" pitchFamily="34" charset="0"/>
                          <a:ea typeface="Calibri" pitchFamily="34" charset="-122"/>
                          <a:cs typeface="Calibri" pitchFamily="34" charset="-120"/>
                        </a:rPr>
                        <a:t>Instacart</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100" dirty="0">
                          <a:solidFill>
                            <a:srgbClr val="2D3436"/>
                          </a:solidFill>
                          <a:latin typeface="Calibri" pitchFamily="34" charset="0"/>
                          <a:ea typeface="Calibri" pitchFamily="34" charset="-122"/>
                          <a:cs typeface="Calibri" pitchFamily="34" charset="-120"/>
                        </a:rPr>
                        <a:t>Grocery discovery, ingredient lists</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100" dirty="0">
                          <a:solidFill>
                            <a:srgbClr val="2D3436"/>
                          </a:solidFill>
                          <a:latin typeface="Calibri" pitchFamily="34" charset="0"/>
                          <a:ea typeface="Calibri" pitchFamily="34" charset="-122"/>
                          <a:cs typeface="Calibri" pitchFamily="34" charset="-120"/>
                        </a:rPr>
                        <a:t>Online orders only, no gamification, no B2B cross-retailer intelligence, no recipes</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8FAFC"/>
                    </a:solidFill>
                  </a:tcPr>
                </a:tc>
              </a:tr>
              <a:tr h="420624">
                <a:tc>
                  <a:txBody>
                    <a:bodyPr/>
                    <a:lstStyle/>
                    <a:p>
                      <a:pPr indent="0" marL="0">
                        <a:buNone/>
                      </a:pPr>
                      <a:r>
                        <a:rPr lang="en-US" sz="1100" dirty="0">
                          <a:solidFill>
                            <a:srgbClr val="2D3436"/>
                          </a:solidFill>
                          <a:latin typeface="Calibri" pitchFamily="34" charset="0"/>
                          <a:ea typeface="Calibri" pitchFamily="34" charset="-122"/>
                          <a:cs typeface="Calibri" pitchFamily="34" charset="-120"/>
                        </a:rPr>
                        <a:t>Kroger / Safeway Loyalty</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D3436"/>
                          </a:solidFill>
                          <a:latin typeface="Calibri" pitchFamily="34" charset="0"/>
                          <a:ea typeface="Calibri" pitchFamily="34" charset="-122"/>
                          <a:cs typeface="Calibri" pitchFamily="34" charset="-120"/>
                        </a:rPr>
                        <a:t>Store loyalty + behavioral data</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D3436"/>
                          </a:solidFill>
                          <a:latin typeface="Calibri" pitchFamily="34" charset="0"/>
                          <a:ea typeface="Calibri" pitchFamily="34" charset="-122"/>
                          <a:cs typeface="Calibri" pitchFamily="34" charset="-120"/>
                        </a:rPr>
                        <a:t>Single-chain only — no cross-retailer intelligence, no consumer app IP</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20624">
                <a:tc>
                  <a:txBody>
                    <a:bodyPr/>
                    <a:lstStyle/>
                    <a:p>
                      <a:pPr indent="0" marL="0">
                        <a:buNone/>
                      </a:pPr>
                      <a:r>
                        <a:rPr lang="en-US" sz="1100" dirty="0">
                          <a:solidFill>
                            <a:srgbClr val="2D3436"/>
                          </a:solidFill>
                          <a:latin typeface="Calibri" pitchFamily="34" charset="0"/>
                          <a:ea typeface="Calibri" pitchFamily="34" charset="-122"/>
                          <a:cs typeface="Calibri" pitchFamily="34" charset="-120"/>
                        </a:rPr>
                        <a:t>Google Maps / Yelp</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100" dirty="0">
                          <a:solidFill>
                            <a:srgbClr val="2D3436"/>
                          </a:solidFill>
                          <a:latin typeface="Calibri" pitchFamily="34" charset="0"/>
                          <a:ea typeface="Calibri" pitchFamily="34" charset="-122"/>
                          <a:cs typeface="Calibri" pitchFamily="34" charset="-120"/>
                        </a:rPr>
                        <a:t>Store locations, check-ins, reviews</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100" dirty="0">
                          <a:solidFill>
                            <a:srgbClr val="2D3436"/>
                          </a:solidFill>
                          <a:latin typeface="Calibri" pitchFamily="34" charset="0"/>
                          <a:ea typeface="Calibri" pitchFamily="34" charset="-122"/>
                          <a:cs typeface="Calibri" pitchFamily="34" charset="-120"/>
                        </a:rPr>
                        <a:t>No food recipes, no coin economy, no B2B reports sold to stores, no avatar creator</a:t>
                      </a:r>
                      <a:endParaRPr lang="en-US" sz="11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8FAFC"/>
                    </a:solidFill>
                  </a:tcPr>
                </a:tc>
              </a:tr>
            </a:tbl>
          </a:graphicData>
        </a:graphic>
      </p:graphicFrame>
      <p:sp>
        <p:nvSpPr>
          <p:cNvPr id="5" name="Shape 2"/>
          <p:cNvSpPr/>
          <p:nvPr/>
        </p:nvSpPr>
        <p:spPr>
          <a:xfrm>
            <a:off x="365760" y="4507992"/>
            <a:ext cx="8412480" cy="512064"/>
          </a:xfrm>
          <a:prstGeom prst="roundRect">
            <a:avLst>
              <a:gd name="adj" fmla="val 10714"/>
            </a:avLst>
          </a:prstGeom>
          <a:solidFill>
            <a:srgbClr val="E8F1E0"/>
          </a:solidFill>
          <a:ln w="12700">
            <a:solidFill>
              <a:srgbClr val="7DAE5C"/>
            </a:solidFill>
            <a:prstDash val="solid"/>
          </a:ln>
        </p:spPr>
      </p:sp>
      <p:sp>
        <p:nvSpPr>
          <p:cNvPr id="6" name="Text 3"/>
          <p:cNvSpPr/>
          <p:nvPr/>
        </p:nvSpPr>
        <p:spPr>
          <a:xfrm>
            <a:off x="502920" y="4535424"/>
            <a:ext cx="8229600" cy="420624"/>
          </a:xfrm>
          <a:prstGeom prst="rect">
            <a:avLst/>
          </a:prstGeom>
          <a:noFill/>
          <a:ln/>
        </p:spPr>
        <p:txBody>
          <a:bodyPr wrap="square" lIns="0" tIns="0" rIns="0" bIns="0" rtlCol="0" anchor="ctr"/>
          <a:lstStyle/>
          <a:p>
            <a:pPr algn="ctr" indent="0" marL="0">
              <a:buNone/>
            </a:pPr>
            <a:r>
              <a:rPr lang="en-US" sz="1250" b="1" dirty="0">
                <a:solidFill>
                  <a:srgbClr val="2C5F2D"/>
                </a:solidFill>
                <a:latin typeface="Cambria" pitchFamily="34" charset="0"/>
                <a:ea typeface="Cambria" pitchFamily="34" charset="-122"/>
                <a:cs typeface="Cambria" pitchFamily="34" charset="-120"/>
              </a:rPr>
              <a:t>No existing product combines: gamified check-ins + food recipes + B2B retail intelligence + pixel art avatar creator</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365760" y="182880"/>
            <a:ext cx="841248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Why This IP Creates an Unbreakable Moat</a:t>
            </a:r>
            <a:endParaRPr lang="en-US" sz="3200" dirty="0"/>
          </a:p>
        </p:txBody>
      </p:sp>
      <p:sp>
        <p:nvSpPr>
          <p:cNvPr id="3" name="Text 1"/>
          <p:cNvSpPr/>
          <p:nvPr/>
        </p:nvSpPr>
        <p:spPr>
          <a:xfrm>
            <a:off x="365760" y="731520"/>
            <a:ext cx="8412480" cy="256032"/>
          </a:xfrm>
          <a:prstGeom prst="rect">
            <a:avLst/>
          </a:prstGeom>
          <a:noFill/>
          <a:ln/>
        </p:spPr>
        <p:txBody>
          <a:bodyPr wrap="square" lIns="0" tIns="0" rIns="0" bIns="0" rtlCol="0" anchor="ctr"/>
          <a:lstStyle/>
          <a:p>
            <a:pPr indent="0" marL="0">
              <a:buNone/>
            </a:pPr>
            <a:r>
              <a:rPr lang="en-US" sz="1300" i="1" dirty="0">
                <a:solidFill>
                  <a:srgbClr val="8EB4E3"/>
                </a:solidFill>
                <a:latin typeface="Calibri" pitchFamily="34" charset="0"/>
                <a:ea typeface="Calibri" pitchFamily="34" charset="-122"/>
                <a:cs typeface="Calibri" pitchFamily="34" charset="-120"/>
              </a:rPr>
              <a:t>If this IP is protected, well-funded competitors cannot replicate it fast enough to catch up</a:t>
            </a:r>
            <a:endParaRPr lang="en-US" sz="1300" dirty="0"/>
          </a:p>
        </p:txBody>
      </p:sp>
      <p:sp>
        <p:nvSpPr>
          <p:cNvPr id="4" name="Shape 2"/>
          <p:cNvSpPr/>
          <p:nvPr/>
        </p:nvSpPr>
        <p:spPr>
          <a:xfrm>
            <a:off x="320040" y="1097280"/>
            <a:ext cx="4160520" cy="1691640"/>
          </a:xfrm>
          <a:prstGeom prst="roundRect">
            <a:avLst>
              <a:gd name="adj" fmla="val 5405"/>
            </a:avLst>
          </a:prstGeom>
          <a:solidFill>
            <a:srgbClr val="243A5E"/>
          </a:solidFill>
          <a:ln w="15240">
            <a:solidFill>
              <a:srgbClr val="7DAE5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429768" y="1188720"/>
            <a:ext cx="384048" cy="384048"/>
          </a:xfrm>
          <a:prstGeom prst="rect">
            <a:avLst/>
          </a:prstGeom>
          <a:noFill/>
          <a:ln/>
        </p:spPr>
        <p:txBody>
          <a:bodyPr wrap="square" lIns="0" tIns="0" rIns="0" bIns="0" rtlCol="0" anchor="ctr"/>
          <a:lstStyle/>
          <a:p>
            <a:pPr indent="0" marL="0">
              <a:buNone/>
            </a:pPr>
            <a:r>
              <a:rPr lang="en-US" sz="2000" b="1" dirty="0">
                <a:solidFill>
                  <a:srgbClr val="7DAE5C"/>
                </a:solidFill>
                <a:latin typeface="Cambria" pitchFamily="34" charset="0"/>
                <a:ea typeface="Cambria" pitchFamily="34" charset="-122"/>
                <a:cs typeface="Cambria" pitchFamily="34" charset="-120"/>
              </a:rPr>
              <a:t>1</a:t>
            </a:r>
            <a:endParaRPr lang="en-US" sz="2000" dirty="0"/>
          </a:p>
        </p:txBody>
      </p:sp>
      <p:sp>
        <p:nvSpPr>
          <p:cNvPr id="6" name="Text 4"/>
          <p:cNvSpPr/>
          <p:nvPr/>
        </p:nvSpPr>
        <p:spPr>
          <a:xfrm>
            <a:off x="850392" y="1188720"/>
            <a:ext cx="3502152" cy="38404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Data Density Advantage</a:t>
            </a:r>
            <a:endParaRPr lang="en-US" sz="1300" dirty="0"/>
          </a:p>
        </p:txBody>
      </p:sp>
      <p:sp>
        <p:nvSpPr>
          <p:cNvPr id="7" name="Text 5"/>
          <p:cNvSpPr/>
          <p:nvPr/>
        </p:nvSpPr>
        <p:spPr>
          <a:xfrm>
            <a:off x="429768" y="1645920"/>
            <a:ext cx="3959352" cy="1051560"/>
          </a:xfrm>
          <a:prstGeom prst="rect">
            <a:avLst/>
          </a:prstGeom>
          <a:noFill/>
          <a:ln/>
        </p:spPr>
        <p:txBody>
          <a:bodyPr wrap="square" lIns="0" tIns="0" rIns="0" bIns="0" rtlCol="0" anchor="ctr"/>
          <a:lstStyle/>
          <a:p>
            <a:pPr indent="0" marL="0">
              <a:buNone/>
            </a:pPr>
            <a:r>
              <a:rPr lang="en-US" sz="1100" dirty="0">
                <a:solidFill>
                  <a:srgbClr val="8EB4E3"/>
                </a:solidFill>
                <a:latin typeface="Calibri" pitchFamily="34" charset="0"/>
                <a:ea typeface="Calibri" pitchFamily="34" charset="-122"/>
                <a:cs typeface="Calibri" pitchFamily="34" charset="-120"/>
              </a:rPr>
              <a:t>The B2B reports require hundreds of active monthly users per zip code to be statistically meaningful. A competitor starting from zero today cannot catch up — Dig In will have 12–18 months of behavioral data in key markets before they have any. That data backlog is the moat.</a:t>
            </a:r>
            <a:endParaRPr lang="en-US" sz="1100" dirty="0"/>
          </a:p>
        </p:txBody>
      </p:sp>
      <p:sp>
        <p:nvSpPr>
          <p:cNvPr id="8" name="Shape 6"/>
          <p:cNvSpPr/>
          <p:nvPr/>
        </p:nvSpPr>
        <p:spPr>
          <a:xfrm>
            <a:off x="4663440" y="1097280"/>
            <a:ext cx="4160520" cy="1691640"/>
          </a:xfrm>
          <a:prstGeom prst="roundRect">
            <a:avLst>
              <a:gd name="adj" fmla="val 5405"/>
            </a:avLst>
          </a:prstGeom>
          <a:solidFill>
            <a:srgbClr val="243A5E"/>
          </a:solidFill>
          <a:ln w="15240">
            <a:solidFill>
              <a:srgbClr val="7DAE5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4773168" y="1188720"/>
            <a:ext cx="384048" cy="384048"/>
          </a:xfrm>
          <a:prstGeom prst="rect">
            <a:avLst/>
          </a:prstGeom>
          <a:noFill/>
          <a:ln/>
        </p:spPr>
        <p:txBody>
          <a:bodyPr wrap="square" lIns="0" tIns="0" rIns="0" bIns="0" rtlCol="0" anchor="ctr"/>
          <a:lstStyle/>
          <a:p>
            <a:pPr indent="0" marL="0">
              <a:buNone/>
            </a:pPr>
            <a:r>
              <a:rPr lang="en-US" sz="2000" b="1" dirty="0">
                <a:solidFill>
                  <a:srgbClr val="7DAE5C"/>
                </a:solidFill>
                <a:latin typeface="Cambria" pitchFamily="34" charset="0"/>
                <a:ea typeface="Cambria" pitchFamily="34" charset="-122"/>
                <a:cs typeface="Cambria" pitchFamily="34" charset="-120"/>
              </a:rPr>
              <a:t>2</a:t>
            </a:r>
            <a:endParaRPr lang="en-US" sz="2000" dirty="0"/>
          </a:p>
        </p:txBody>
      </p:sp>
      <p:sp>
        <p:nvSpPr>
          <p:cNvPr id="10" name="Text 8"/>
          <p:cNvSpPr/>
          <p:nvPr/>
        </p:nvSpPr>
        <p:spPr>
          <a:xfrm>
            <a:off x="5193792" y="1188720"/>
            <a:ext cx="3502152" cy="38404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Coin Economy Switching Cost</a:t>
            </a:r>
            <a:endParaRPr lang="en-US" sz="1300" dirty="0"/>
          </a:p>
        </p:txBody>
      </p:sp>
      <p:sp>
        <p:nvSpPr>
          <p:cNvPr id="11" name="Text 9"/>
          <p:cNvSpPr/>
          <p:nvPr/>
        </p:nvSpPr>
        <p:spPr>
          <a:xfrm>
            <a:off x="4773168" y="1645920"/>
            <a:ext cx="3959352" cy="1051560"/>
          </a:xfrm>
          <a:prstGeom prst="rect">
            <a:avLst/>
          </a:prstGeom>
          <a:noFill/>
          <a:ln/>
        </p:spPr>
        <p:txBody>
          <a:bodyPr wrap="square" lIns="0" tIns="0" rIns="0" bIns="0" rtlCol="0" anchor="ctr"/>
          <a:lstStyle/>
          <a:p>
            <a:pPr indent="0" marL="0">
              <a:buNone/>
            </a:pPr>
            <a:r>
              <a:rPr lang="en-US" sz="1100" dirty="0">
                <a:solidFill>
                  <a:srgbClr val="8EB4E3"/>
                </a:solidFill>
                <a:latin typeface="Calibri" pitchFamily="34" charset="0"/>
                <a:ea typeface="Calibri" pitchFamily="34" charset="-122"/>
                <a:cs typeface="Calibri" pitchFamily="34" charset="-120"/>
              </a:rPr>
              <a:t>A user with 2,000 coins, 15 pixel art items, and a 90-day check-in streak does not leave. Every day they use Dig In, switching to a competitor costs them real accumulated value. This is the same mechanic that keeps players in Pokémon GO — switching cost is the retention floor.</a:t>
            </a:r>
            <a:endParaRPr lang="en-US" sz="1100" dirty="0"/>
          </a:p>
        </p:txBody>
      </p:sp>
      <p:sp>
        <p:nvSpPr>
          <p:cNvPr id="12" name="Shape 10"/>
          <p:cNvSpPr/>
          <p:nvPr/>
        </p:nvSpPr>
        <p:spPr>
          <a:xfrm>
            <a:off x="320040" y="3063240"/>
            <a:ext cx="4160520" cy="1691640"/>
          </a:xfrm>
          <a:prstGeom prst="roundRect">
            <a:avLst>
              <a:gd name="adj" fmla="val 5405"/>
            </a:avLst>
          </a:prstGeom>
          <a:solidFill>
            <a:srgbClr val="243A5E"/>
          </a:solidFill>
          <a:ln w="15240">
            <a:solidFill>
              <a:srgbClr val="7DAE5C"/>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429768" y="3154680"/>
            <a:ext cx="384048" cy="384048"/>
          </a:xfrm>
          <a:prstGeom prst="rect">
            <a:avLst/>
          </a:prstGeom>
          <a:noFill/>
          <a:ln/>
        </p:spPr>
        <p:txBody>
          <a:bodyPr wrap="square" lIns="0" tIns="0" rIns="0" bIns="0" rtlCol="0" anchor="ctr"/>
          <a:lstStyle/>
          <a:p>
            <a:pPr indent="0" marL="0">
              <a:buNone/>
            </a:pPr>
            <a:r>
              <a:rPr lang="en-US" sz="2000" b="1" dirty="0">
                <a:solidFill>
                  <a:srgbClr val="7DAE5C"/>
                </a:solidFill>
                <a:latin typeface="Cambria" pitchFamily="34" charset="0"/>
                <a:ea typeface="Cambria" pitchFamily="34" charset="-122"/>
                <a:cs typeface="Cambria" pitchFamily="34" charset="-120"/>
              </a:rPr>
              <a:t>3</a:t>
            </a:r>
            <a:endParaRPr lang="en-US" sz="2000" dirty="0"/>
          </a:p>
        </p:txBody>
      </p:sp>
      <p:sp>
        <p:nvSpPr>
          <p:cNvPr id="14" name="Text 12"/>
          <p:cNvSpPr/>
          <p:nvPr/>
        </p:nvSpPr>
        <p:spPr>
          <a:xfrm>
            <a:off x="850392" y="3154680"/>
            <a:ext cx="3502152" cy="38404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First-Mover B2B Relationships</a:t>
            </a:r>
            <a:endParaRPr lang="en-US" sz="1300" dirty="0"/>
          </a:p>
        </p:txBody>
      </p:sp>
      <p:sp>
        <p:nvSpPr>
          <p:cNvPr id="15" name="Text 13"/>
          <p:cNvSpPr/>
          <p:nvPr/>
        </p:nvSpPr>
        <p:spPr>
          <a:xfrm>
            <a:off x="429768" y="3611880"/>
            <a:ext cx="3959352" cy="1051560"/>
          </a:xfrm>
          <a:prstGeom prst="rect">
            <a:avLst/>
          </a:prstGeom>
          <a:noFill/>
          <a:ln/>
        </p:spPr>
        <p:txBody>
          <a:bodyPr wrap="square" lIns="0" tIns="0" rIns="0" bIns="0" rtlCol="0" anchor="ctr"/>
          <a:lstStyle/>
          <a:p>
            <a:pPr indent="0" marL="0">
              <a:buNone/>
            </a:pPr>
            <a:r>
              <a:rPr lang="en-US" sz="1100" dirty="0">
                <a:solidFill>
                  <a:srgbClr val="8EB4E3"/>
                </a:solidFill>
                <a:latin typeface="Calibri" pitchFamily="34" charset="0"/>
                <a:ea typeface="Calibri" pitchFamily="34" charset="-122"/>
                <a:cs typeface="Calibri" pitchFamily="34" charset="-120"/>
              </a:rPr>
              <a:t>The first grocery store to sign with Dig In becomes a case study, a reference, and a QR code distributor (in-store signage drives downloads). Each B2B client makes the consumer product stronger. A competitor with no B2B clients has no in-store distribution.</a:t>
            </a:r>
            <a:endParaRPr lang="en-US" sz="1100" dirty="0"/>
          </a:p>
        </p:txBody>
      </p:sp>
      <p:sp>
        <p:nvSpPr>
          <p:cNvPr id="16" name="Shape 14"/>
          <p:cNvSpPr/>
          <p:nvPr/>
        </p:nvSpPr>
        <p:spPr>
          <a:xfrm>
            <a:off x="4663440" y="3063240"/>
            <a:ext cx="4160520" cy="1691640"/>
          </a:xfrm>
          <a:prstGeom prst="roundRect">
            <a:avLst>
              <a:gd name="adj" fmla="val 5405"/>
            </a:avLst>
          </a:prstGeom>
          <a:solidFill>
            <a:srgbClr val="243A5E"/>
          </a:solidFill>
          <a:ln w="15240">
            <a:solidFill>
              <a:srgbClr val="7DAE5C"/>
            </a:solidFill>
            <a:prstDash val="solid"/>
          </a:ln>
          <a:effectLst>
            <a:outerShdw sx="100000" sy="100000" kx="0" ky="0" algn="bl" rotWithShape="0" blurRad="101600" dist="38100" dir="2700000">
              <a:srgbClr val="000000">
                <a:alpha val="12000"/>
              </a:srgbClr>
            </a:outerShdw>
          </a:effectLst>
        </p:spPr>
      </p:sp>
      <p:sp>
        <p:nvSpPr>
          <p:cNvPr id="17" name="Text 15"/>
          <p:cNvSpPr/>
          <p:nvPr/>
        </p:nvSpPr>
        <p:spPr>
          <a:xfrm>
            <a:off x="4773168" y="3154680"/>
            <a:ext cx="384048" cy="384048"/>
          </a:xfrm>
          <a:prstGeom prst="rect">
            <a:avLst/>
          </a:prstGeom>
          <a:noFill/>
          <a:ln/>
        </p:spPr>
        <p:txBody>
          <a:bodyPr wrap="square" lIns="0" tIns="0" rIns="0" bIns="0" rtlCol="0" anchor="ctr"/>
          <a:lstStyle/>
          <a:p>
            <a:pPr indent="0" marL="0">
              <a:buNone/>
            </a:pPr>
            <a:r>
              <a:rPr lang="en-US" sz="2000" b="1" dirty="0">
                <a:solidFill>
                  <a:srgbClr val="7DAE5C"/>
                </a:solidFill>
                <a:latin typeface="Cambria" pitchFamily="34" charset="0"/>
                <a:ea typeface="Cambria" pitchFamily="34" charset="-122"/>
                <a:cs typeface="Cambria" pitchFamily="34" charset="-120"/>
              </a:rPr>
              <a:t>4</a:t>
            </a:r>
            <a:endParaRPr lang="en-US" sz="2000" dirty="0"/>
          </a:p>
        </p:txBody>
      </p:sp>
      <p:sp>
        <p:nvSpPr>
          <p:cNvPr id="18" name="Text 16"/>
          <p:cNvSpPr/>
          <p:nvPr/>
        </p:nvSpPr>
        <p:spPr>
          <a:xfrm>
            <a:off x="5193792" y="3154680"/>
            <a:ext cx="3502152" cy="38404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Brand Ownership of Pixel Food Culture</a:t>
            </a:r>
            <a:endParaRPr lang="en-US" sz="1300" dirty="0"/>
          </a:p>
        </p:txBody>
      </p:sp>
      <p:sp>
        <p:nvSpPr>
          <p:cNvPr id="19" name="Text 17"/>
          <p:cNvSpPr/>
          <p:nvPr/>
        </p:nvSpPr>
        <p:spPr>
          <a:xfrm>
            <a:off x="4773168" y="3611880"/>
            <a:ext cx="3959352" cy="1051560"/>
          </a:xfrm>
          <a:prstGeom prst="rect">
            <a:avLst/>
          </a:prstGeom>
          <a:noFill/>
          <a:ln/>
        </p:spPr>
        <p:txBody>
          <a:bodyPr wrap="square" lIns="0" tIns="0" rIns="0" bIns="0" rtlCol="0" anchor="ctr"/>
          <a:lstStyle/>
          <a:p>
            <a:pPr indent="0" marL="0">
              <a:buNone/>
            </a:pPr>
            <a:r>
              <a:rPr lang="en-US" sz="1100" dirty="0">
                <a:solidFill>
                  <a:srgbClr val="8EB4E3"/>
                </a:solidFill>
                <a:latin typeface="Calibri" pitchFamily="34" charset="0"/>
                <a:ea typeface="Calibri" pitchFamily="34" charset="-122"/>
                <a:cs typeface="Calibri" pitchFamily="34" charset="-120"/>
              </a:rPr>
              <a:t>Pixel food is an aesthetic no competitor owns. As Dig In grows, 'pixel food' becomes synonymous with Dig In the way 'googling' became synonymous with searching. Culture compounds — it is the hardest moat of all to copy.</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82880"/>
            <a:ext cx="8412480" cy="512064"/>
          </a:xfrm>
          <a:prstGeom prst="rect">
            <a:avLst/>
          </a:prstGeom>
          <a:noFill/>
          <a:ln/>
        </p:spPr>
        <p:txBody>
          <a:bodyPr wrap="square" lIns="0" tIns="0" rIns="0" bIns="0" rtlCol="0" anchor="ctr"/>
          <a:lstStyle/>
          <a:p>
            <a:pPr indent="0" marL="0">
              <a:buNone/>
            </a:pPr>
            <a:r>
              <a:rPr lang="en-US" sz="3200" b="1" dirty="0">
                <a:solidFill>
                  <a:srgbClr val="1B2A4A"/>
                </a:solidFill>
                <a:latin typeface="Cambria" pitchFamily="34" charset="0"/>
                <a:ea typeface="Cambria" pitchFamily="34" charset="-122"/>
                <a:cs typeface="Cambria" pitchFamily="34" charset="-120"/>
              </a:rPr>
              <a:t>National Expansion — IP Strategy at Scale</a:t>
            </a:r>
            <a:endParaRPr lang="en-US" sz="3200" dirty="0"/>
          </a:p>
        </p:txBody>
      </p:sp>
      <p:sp>
        <p:nvSpPr>
          <p:cNvPr id="3" name="Text 1"/>
          <p:cNvSpPr/>
          <p:nvPr/>
        </p:nvSpPr>
        <p:spPr>
          <a:xfrm>
            <a:off x="365760" y="694944"/>
            <a:ext cx="8412480" cy="274320"/>
          </a:xfrm>
          <a:prstGeom prst="rect">
            <a:avLst/>
          </a:prstGeom>
          <a:noFill/>
          <a:ln/>
        </p:spPr>
        <p:txBody>
          <a:bodyPr wrap="square" lIns="0" tIns="0" rIns="0" bIns="0" rtlCol="0" anchor="ctr"/>
          <a:lstStyle/>
          <a:p>
            <a:pPr indent="0" marL="0">
              <a:buNone/>
            </a:pPr>
            <a:r>
              <a:rPr lang="en-US" sz="1350" i="1" dirty="0">
                <a:solidFill>
                  <a:srgbClr val="637074"/>
                </a:solidFill>
                <a:latin typeface="Calibri" pitchFamily="34" charset="0"/>
                <a:ea typeface="Calibri" pitchFamily="34" charset="-122"/>
                <a:cs typeface="Calibri" pitchFamily="34" charset="-120"/>
              </a:rPr>
              <a:t>Expanding to all 50 states changes the scope of protection we need to discuss today</a:t>
            </a:r>
            <a:endParaRPr lang="en-US" sz="1350" dirty="0"/>
          </a:p>
        </p:txBody>
      </p:sp>
      <p:sp>
        <p:nvSpPr>
          <p:cNvPr id="4" name="Text 2"/>
          <p:cNvSpPr/>
          <p:nvPr/>
        </p:nvSpPr>
        <p:spPr>
          <a:xfrm>
            <a:off x="365760" y="1078992"/>
            <a:ext cx="4297680" cy="310896"/>
          </a:xfrm>
          <a:prstGeom prst="rect">
            <a:avLst/>
          </a:prstGeom>
          <a:noFill/>
          <a:ln/>
        </p:spPr>
        <p:txBody>
          <a:bodyPr wrap="square" lIns="0" tIns="0" rIns="0" bIns="0" rtlCol="0" anchor="ctr"/>
          <a:lstStyle/>
          <a:p>
            <a:pPr indent="0" marL="0">
              <a:buNone/>
            </a:pPr>
            <a:r>
              <a:rPr lang="en-US" sz="1450" b="1" dirty="0">
                <a:solidFill>
                  <a:srgbClr val="1B2A4A"/>
                </a:solidFill>
                <a:latin typeface="Cambria" pitchFamily="34" charset="0"/>
                <a:ea typeface="Cambria" pitchFamily="34" charset="-122"/>
                <a:cs typeface="Cambria" pitchFamily="34" charset="-120"/>
              </a:rPr>
              <a:t>The Scale We're Building Toward</a:t>
            </a:r>
            <a:endParaRPr lang="en-US" sz="1450" dirty="0"/>
          </a:p>
        </p:txBody>
      </p:sp>
      <p:sp>
        <p:nvSpPr>
          <p:cNvPr id="5" name="Shape 3"/>
          <p:cNvSpPr/>
          <p:nvPr/>
        </p:nvSpPr>
        <p:spPr>
          <a:xfrm>
            <a:off x="365760" y="1508760"/>
            <a:ext cx="4206240" cy="694944"/>
          </a:xfrm>
          <a:prstGeom prst="roundRect">
            <a:avLst>
              <a:gd name="adj" fmla="val 10526"/>
            </a:avLst>
          </a:prstGeom>
          <a:solidFill>
            <a:srgbClr val="F0F4F8"/>
          </a:solidFill>
          <a:ln/>
          <a:effectLst>
            <a:outerShdw sx="100000" sy="100000" kx="0" ky="0" algn="bl" rotWithShape="0" blurRad="101600" dist="38100" dir="2700000">
              <a:srgbClr val="000000">
                <a:alpha val="12000"/>
              </a:srgbClr>
            </a:outerShdw>
          </a:effectLst>
        </p:spPr>
      </p:sp>
      <p:sp>
        <p:nvSpPr>
          <p:cNvPr id="6" name="Text 4"/>
          <p:cNvSpPr/>
          <p:nvPr/>
        </p:nvSpPr>
        <p:spPr>
          <a:xfrm>
            <a:off x="502920" y="1572768"/>
            <a:ext cx="1280160" cy="502920"/>
          </a:xfrm>
          <a:prstGeom prst="rect">
            <a:avLst/>
          </a:prstGeom>
          <a:noFill/>
          <a:ln/>
        </p:spPr>
        <p:txBody>
          <a:bodyPr wrap="square" lIns="0" tIns="0" rIns="0" bIns="0" rtlCol="0" anchor="ctr"/>
          <a:lstStyle/>
          <a:p>
            <a:pPr indent="0" marL="0">
              <a:buNone/>
            </a:pPr>
            <a:r>
              <a:rPr lang="en-US" sz="2000" b="1" dirty="0">
                <a:solidFill>
                  <a:srgbClr val="1B2A4A"/>
                </a:solidFill>
                <a:latin typeface="Cambria" pitchFamily="34" charset="0"/>
                <a:ea typeface="Cambria" pitchFamily="34" charset="-122"/>
                <a:cs typeface="Cambria" pitchFamily="34" charset="-120"/>
              </a:rPr>
              <a:t>~63,000</a:t>
            </a:r>
            <a:endParaRPr lang="en-US" sz="2000" dirty="0"/>
          </a:p>
        </p:txBody>
      </p:sp>
      <p:sp>
        <p:nvSpPr>
          <p:cNvPr id="7" name="Text 5"/>
          <p:cNvSpPr/>
          <p:nvPr/>
        </p:nvSpPr>
        <p:spPr>
          <a:xfrm>
            <a:off x="1874520" y="1645920"/>
            <a:ext cx="2560320" cy="384048"/>
          </a:xfrm>
          <a:prstGeom prst="rect">
            <a:avLst/>
          </a:prstGeom>
          <a:noFill/>
          <a:ln/>
        </p:spPr>
        <p:txBody>
          <a:bodyPr wrap="square" lIns="0" tIns="0" rIns="0" bIns="0" rtlCol="0" anchor="ctr"/>
          <a:lstStyle/>
          <a:p>
            <a:pPr indent="0" marL="0">
              <a:buNone/>
            </a:pPr>
            <a:r>
              <a:rPr lang="en-US" sz="1150" dirty="0">
                <a:solidFill>
                  <a:srgbClr val="637074"/>
                </a:solidFill>
                <a:latin typeface="Calibri" pitchFamily="34" charset="0"/>
                <a:ea typeface="Calibri" pitchFamily="34" charset="-122"/>
                <a:cs typeface="Calibri" pitchFamily="34" charset="-120"/>
              </a:rPr>
              <a:t>U.S. grocery stores — the B2B addressable market</a:t>
            </a:r>
            <a:endParaRPr lang="en-US" sz="1150" dirty="0"/>
          </a:p>
        </p:txBody>
      </p:sp>
      <p:sp>
        <p:nvSpPr>
          <p:cNvPr id="8" name="Shape 6"/>
          <p:cNvSpPr/>
          <p:nvPr/>
        </p:nvSpPr>
        <p:spPr>
          <a:xfrm>
            <a:off x="365760" y="2313432"/>
            <a:ext cx="4206240" cy="694944"/>
          </a:xfrm>
          <a:prstGeom prst="roundRect">
            <a:avLst>
              <a:gd name="adj" fmla="val 10526"/>
            </a:avLst>
          </a:prstGeom>
          <a:solidFill>
            <a:srgbClr val="F0F4F8"/>
          </a:solidFill>
          <a:ln/>
          <a:effectLst>
            <a:outerShdw sx="100000" sy="100000" kx="0" ky="0" algn="bl" rotWithShape="0" blurRad="101600" dist="38100" dir="2700000">
              <a:srgbClr val="000000">
                <a:alpha val="12000"/>
              </a:srgbClr>
            </a:outerShdw>
          </a:effectLst>
        </p:spPr>
      </p:sp>
      <p:sp>
        <p:nvSpPr>
          <p:cNvPr id="9" name="Text 7"/>
          <p:cNvSpPr/>
          <p:nvPr/>
        </p:nvSpPr>
        <p:spPr>
          <a:xfrm>
            <a:off x="502920" y="2377440"/>
            <a:ext cx="1280160" cy="502920"/>
          </a:xfrm>
          <a:prstGeom prst="rect">
            <a:avLst/>
          </a:prstGeom>
          <a:noFill/>
          <a:ln/>
        </p:spPr>
        <p:txBody>
          <a:bodyPr wrap="square" lIns="0" tIns="0" rIns="0" bIns="0" rtlCol="0" anchor="ctr"/>
          <a:lstStyle/>
          <a:p>
            <a:pPr indent="0" marL="0">
              <a:buNone/>
            </a:pPr>
            <a:r>
              <a:rPr lang="en-US" sz="2000" b="1" dirty="0">
                <a:solidFill>
                  <a:srgbClr val="1B2A4A"/>
                </a:solidFill>
                <a:latin typeface="Cambria" pitchFamily="34" charset="0"/>
                <a:ea typeface="Cambria" pitchFamily="34" charset="-122"/>
                <a:cs typeface="Cambria" pitchFamily="34" charset="-120"/>
              </a:rPr>
              <a:t>50 states</a:t>
            </a:r>
            <a:endParaRPr lang="en-US" sz="2000" dirty="0"/>
          </a:p>
        </p:txBody>
      </p:sp>
      <p:sp>
        <p:nvSpPr>
          <p:cNvPr id="10" name="Text 8"/>
          <p:cNvSpPr/>
          <p:nvPr/>
        </p:nvSpPr>
        <p:spPr>
          <a:xfrm>
            <a:off x="1874520" y="2450592"/>
            <a:ext cx="2560320" cy="384048"/>
          </a:xfrm>
          <a:prstGeom prst="rect">
            <a:avLst/>
          </a:prstGeom>
          <a:noFill/>
          <a:ln/>
        </p:spPr>
        <p:txBody>
          <a:bodyPr wrap="square" lIns="0" tIns="0" rIns="0" bIns="0" rtlCol="0" anchor="ctr"/>
          <a:lstStyle/>
          <a:p>
            <a:pPr indent="0" marL="0">
              <a:buNone/>
            </a:pPr>
            <a:r>
              <a:rPr lang="en-US" sz="1150" dirty="0">
                <a:solidFill>
                  <a:srgbClr val="637074"/>
                </a:solidFill>
                <a:latin typeface="Calibri" pitchFamily="34" charset="0"/>
                <a:ea typeface="Calibri" pitchFamily="34" charset="-122"/>
                <a:cs typeface="Calibri" pitchFamily="34" charset="-120"/>
              </a:rPr>
              <a:t>Target coverage for behavioral data density</a:t>
            </a:r>
            <a:endParaRPr lang="en-US" sz="1150" dirty="0"/>
          </a:p>
        </p:txBody>
      </p:sp>
      <p:sp>
        <p:nvSpPr>
          <p:cNvPr id="11" name="Shape 9"/>
          <p:cNvSpPr/>
          <p:nvPr/>
        </p:nvSpPr>
        <p:spPr>
          <a:xfrm>
            <a:off x="365760" y="3118104"/>
            <a:ext cx="4206240" cy="694944"/>
          </a:xfrm>
          <a:prstGeom prst="roundRect">
            <a:avLst>
              <a:gd name="adj" fmla="val 10526"/>
            </a:avLst>
          </a:prstGeom>
          <a:solidFill>
            <a:srgbClr val="F0F4F8"/>
          </a:solidFill>
          <a:ln/>
          <a:effectLst>
            <a:outerShdw sx="100000" sy="100000" kx="0" ky="0" algn="bl" rotWithShape="0" blurRad="101600" dist="38100" dir="2700000">
              <a:srgbClr val="000000">
                <a:alpha val="12000"/>
              </a:srgbClr>
            </a:outerShdw>
          </a:effectLst>
        </p:spPr>
      </p:sp>
      <p:sp>
        <p:nvSpPr>
          <p:cNvPr id="12" name="Text 10"/>
          <p:cNvSpPr/>
          <p:nvPr/>
        </p:nvSpPr>
        <p:spPr>
          <a:xfrm>
            <a:off x="502920" y="3182112"/>
            <a:ext cx="1280160" cy="502920"/>
          </a:xfrm>
          <a:prstGeom prst="rect">
            <a:avLst/>
          </a:prstGeom>
          <a:noFill/>
          <a:ln/>
        </p:spPr>
        <p:txBody>
          <a:bodyPr wrap="square" lIns="0" tIns="0" rIns="0" bIns="0" rtlCol="0" anchor="ctr"/>
          <a:lstStyle/>
          <a:p>
            <a:pPr indent="0" marL="0">
              <a:buNone/>
            </a:pPr>
            <a:r>
              <a:rPr lang="en-US" sz="2000" b="1" dirty="0">
                <a:solidFill>
                  <a:srgbClr val="1B2A4A"/>
                </a:solidFill>
                <a:latin typeface="Cambria" pitchFamily="34" charset="0"/>
                <a:ea typeface="Cambria" pitchFamily="34" charset="-122"/>
                <a:cs typeface="Cambria" pitchFamily="34" charset="-120"/>
              </a:rPr>
              <a:t>$18.9M ARR</a:t>
            </a:r>
            <a:endParaRPr lang="en-US" sz="2000" dirty="0"/>
          </a:p>
        </p:txBody>
      </p:sp>
      <p:sp>
        <p:nvSpPr>
          <p:cNvPr id="13" name="Text 11"/>
          <p:cNvSpPr/>
          <p:nvPr/>
        </p:nvSpPr>
        <p:spPr>
          <a:xfrm>
            <a:off x="1874520" y="3255264"/>
            <a:ext cx="2560320" cy="384048"/>
          </a:xfrm>
          <a:prstGeom prst="rect">
            <a:avLst/>
          </a:prstGeom>
          <a:noFill/>
          <a:ln/>
        </p:spPr>
        <p:txBody>
          <a:bodyPr wrap="square" lIns="0" tIns="0" rIns="0" bIns="0" rtlCol="0" anchor="ctr"/>
          <a:lstStyle/>
          <a:p>
            <a:pPr indent="0" marL="0">
              <a:buNone/>
            </a:pPr>
            <a:r>
              <a:rPr lang="en-US" sz="1150" dirty="0">
                <a:solidFill>
                  <a:srgbClr val="637074"/>
                </a:solidFill>
                <a:latin typeface="Calibri" pitchFamily="34" charset="0"/>
                <a:ea typeface="Calibri" pitchFamily="34" charset="-122"/>
                <a:cs typeface="Calibri" pitchFamily="34" charset="-120"/>
              </a:rPr>
              <a:t>Potential B2B revenue at 5% penetration ($500/mo avg)</a:t>
            </a:r>
            <a:endParaRPr lang="en-US" sz="1150" dirty="0"/>
          </a:p>
        </p:txBody>
      </p:sp>
      <p:sp>
        <p:nvSpPr>
          <p:cNvPr id="14" name="Shape 12"/>
          <p:cNvSpPr/>
          <p:nvPr/>
        </p:nvSpPr>
        <p:spPr>
          <a:xfrm>
            <a:off x="365760" y="3922776"/>
            <a:ext cx="4206240" cy="694944"/>
          </a:xfrm>
          <a:prstGeom prst="roundRect">
            <a:avLst>
              <a:gd name="adj" fmla="val 10526"/>
            </a:avLst>
          </a:prstGeom>
          <a:solidFill>
            <a:srgbClr val="F0F4F8"/>
          </a:solidFill>
          <a:ln/>
          <a:effectLst>
            <a:outerShdw sx="100000" sy="100000" kx="0" ky="0" algn="bl" rotWithShape="0" blurRad="101600" dist="38100" dir="2700000">
              <a:srgbClr val="000000">
                <a:alpha val="12000"/>
              </a:srgbClr>
            </a:outerShdw>
          </a:effectLst>
        </p:spPr>
      </p:sp>
      <p:sp>
        <p:nvSpPr>
          <p:cNvPr id="15" name="Text 13"/>
          <p:cNvSpPr/>
          <p:nvPr/>
        </p:nvSpPr>
        <p:spPr>
          <a:xfrm>
            <a:off x="502920" y="3986784"/>
            <a:ext cx="1280160" cy="502920"/>
          </a:xfrm>
          <a:prstGeom prst="rect">
            <a:avLst/>
          </a:prstGeom>
          <a:noFill/>
          <a:ln/>
        </p:spPr>
        <p:txBody>
          <a:bodyPr wrap="square" lIns="0" tIns="0" rIns="0" bIns="0" rtlCol="0" anchor="ctr"/>
          <a:lstStyle/>
          <a:p>
            <a:pPr indent="0" marL="0">
              <a:buNone/>
            </a:pPr>
            <a:r>
              <a:rPr lang="en-US" sz="2000" b="1" dirty="0">
                <a:solidFill>
                  <a:srgbClr val="1B2A4A"/>
                </a:solidFill>
                <a:latin typeface="Cambria" pitchFamily="34" charset="0"/>
                <a:ea typeface="Cambria" pitchFamily="34" charset="-122"/>
                <a:cs typeface="Cambria" pitchFamily="34" charset="-120"/>
              </a:rPr>
              <a:t>2–3 years</a:t>
            </a:r>
            <a:endParaRPr lang="en-US" sz="2000" dirty="0"/>
          </a:p>
        </p:txBody>
      </p:sp>
      <p:sp>
        <p:nvSpPr>
          <p:cNvPr id="16" name="Text 14"/>
          <p:cNvSpPr/>
          <p:nvPr/>
        </p:nvSpPr>
        <p:spPr>
          <a:xfrm>
            <a:off x="1874520" y="4059936"/>
            <a:ext cx="2560320" cy="384048"/>
          </a:xfrm>
          <a:prstGeom prst="rect">
            <a:avLst/>
          </a:prstGeom>
          <a:noFill/>
          <a:ln/>
        </p:spPr>
        <p:txBody>
          <a:bodyPr wrap="square" lIns="0" tIns="0" rIns="0" bIns="0" rtlCol="0" anchor="ctr"/>
          <a:lstStyle/>
          <a:p>
            <a:pPr indent="0" marL="0">
              <a:buNone/>
            </a:pPr>
            <a:r>
              <a:rPr lang="en-US" sz="1150" dirty="0">
                <a:solidFill>
                  <a:srgbClr val="637074"/>
                </a:solidFill>
                <a:latin typeface="Calibri" pitchFamily="34" charset="0"/>
                <a:ea typeface="Calibri" pitchFamily="34" charset="-122"/>
                <a:cs typeface="Calibri" pitchFamily="34" charset="-120"/>
              </a:rPr>
              <a:t>Estimated timeline to meaningful national coverage</a:t>
            </a:r>
            <a:endParaRPr lang="en-US" sz="1150" dirty="0"/>
          </a:p>
        </p:txBody>
      </p:sp>
      <p:sp>
        <p:nvSpPr>
          <p:cNvPr id="17" name="Text 15"/>
          <p:cNvSpPr/>
          <p:nvPr/>
        </p:nvSpPr>
        <p:spPr>
          <a:xfrm>
            <a:off x="4800600" y="1078992"/>
            <a:ext cx="3977640" cy="310896"/>
          </a:xfrm>
          <a:prstGeom prst="rect">
            <a:avLst/>
          </a:prstGeom>
          <a:noFill/>
          <a:ln/>
        </p:spPr>
        <p:txBody>
          <a:bodyPr wrap="square" lIns="0" tIns="0" rIns="0" bIns="0" rtlCol="0" anchor="ctr"/>
          <a:lstStyle/>
          <a:p>
            <a:pPr indent="0" marL="0">
              <a:buNone/>
            </a:pPr>
            <a:r>
              <a:rPr lang="en-US" sz="1450" b="1" dirty="0">
                <a:solidFill>
                  <a:srgbClr val="1B2A4A"/>
                </a:solidFill>
                <a:latin typeface="Cambria" pitchFamily="34" charset="0"/>
                <a:ea typeface="Cambria" pitchFamily="34" charset="-122"/>
                <a:cs typeface="Cambria" pitchFamily="34" charset="-120"/>
              </a:rPr>
              <a:t>New IP Questions at National Scale</a:t>
            </a:r>
            <a:endParaRPr lang="en-US" sz="1450" dirty="0"/>
          </a:p>
        </p:txBody>
      </p:sp>
      <p:sp>
        <p:nvSpPr>
          <p:cNvPr id="18" name="Shape 16"/>
          <p:cNvSpPr/>
          <p:nvPr/>
        </p:nvSpPr>
        <p:spPr>
          <a:xfrm>
            <a:off x="4800600" y="1508760"/>
            <a:ext cx="3977640" cy="786384"/>
          </a:xfrm>
          <a:prstGeom prst="roundRect">
            <a:avLst>
              <a:gd name="adj" fmla="val 9302"/>
            </a:avLst>
          </a:prstGeom>
          <a:solidFill>
            <a:srgbClr val="E8F1E0"/>
          </a:solidFill>
          <a:ln w="12700">
            <a:solidFill>
              <a:srgbClr val="7DAE5C"/>
            </a:solidFill>
            <a:prstDash val="solid"/>
          </a:ln>
        </p:spPr>
      </p:sp>
      <p:sp>
        <p:nvSpPr>
          <p:cNvPr id="19" name="Text 17"/>
          <p:cNvSpPr/>
          <p:nvPr/>
        </p:nvSpPr>
        <p:spPr>
          <a:xfrm>
            <a:off x="4919472" y="1572768"/>
            <a:ext cx="3749040" cy="237744"/>
          </a:xfrm>
          <a:prstGeom prst="rect">
            <a:avLst/>
          </a:prstGeom>
          <a:noFill/>
          <a:ln/>
        </p:spPr>
        <p:txBody>
          <a:bodyPr wrap="square" lIns="0" tIns="0" rIns="0" bIns="0" rtlCol="0" anchor="ctr"/>
          <a:lstStyle/>
          <a:p>
            <a:pPr indent="0" marL="0">
              <a:buNone/>
            </a:pPr>
            <a:r>
              <a:rPr lang="en-US" sz="1150" b="1" dirty="0">
                <a:solidFill>
                  <a:srgbClr val="2C5F2D"/>
                </a:solidFill>
                <a:latin typeface="Cambria" pitchFamily="34" charset="0"/>
                <a:ea typeface="Cambria" pitchFamily="34" charset="-122"/>
                <a:cs typeface="Cambria" pitchFamily="34" charset="-120"/>
              </a:rPr>
              <a:t>Trademark protection</a:t>
            </a:r>
            <a:endParaRPr lang="en-US" sz="1150" dirty="0"/>
          </a:p>
        </p:txBody>
      </p:sp>
      <p:sp>
        <p:nvSpPr>
          <p:cNvPr id="20" name="Text 18"/>
          <p:cNvSpPr/>
          <p:nvPr/>
        </p:nvSpPr>
        <p:spPr>
          <a:xfrm>
            <a:off x="4919472" y="1819656"/>
            <a:ext cx="3749040" cy="402336"/>
          </a:xfrm>
          <a:prstGeom prst="rect">
            <a:avLst/>
          </a:prstGeom>
          <a:noFill/>
          <a:ln/>
        </p:spPr>
        <p:txBody>
          <a:bodyPr wrap="square" lIns="0" tIns="0" rIns="0" bIns="0" rtlCol="0" anchor="ctr"/>
          <a:lstStyle/>
          <a:p>
            <a:pPr indent="0" marL="0">
              <a:buNone/>
            </a:pPr>
            <a:r>
              <a:rPr lang="en-US" sz="1000" dirty="0">
                <a:solidFill>
                  <a:srgbClr val="2D3436"/>
                </a:solidFill>
                <a:latin typeface="Calibri" pitchFamily="34" charset="0"/>
                <a:ea typeface="Calibri" pitchFamily="34" charset="-122"/>
                <a:cs typeface="Calibri" pitchFamily="34" charset="-120"/>
              </a:rPr>
              <a:t>Does 'Dig In' need federal registration in Class 42 (software) and Class 43 (food services) to be enforced nationally? Do we file now before expansion?</a:t>
            </a:r>
            <a:endParaRPr lang="en-US" sz="1000" dirty="0"/>
          </a:p>
        </p:txBody>
      </p:sp>
      <p:sp>
        <p:nvSpPr>
          <p:cNvPr id="21" name="Shape 19"/>
          <p:cNvSpPr/>
          <p:nvPr/>
        </p:nvSpPr>
        <p:spPr>
          <a:xfrm>
            <a:off x="4800600" y="2404872"/>
            <a:ext cx="3977640" cy="786384"/>
          </a:xfrm>
          <a:prstGeom prst="roundRect">
            <a:avLst>
              <a:gd name="adj" fmla="val 9302"/>
            </a:avLst>
          </a:prstGeom>
          <a:solidFill>
            <a:srgbClr val="E8F1E0"/>
          </a:solidFill>
          <a:ln w="12700">
            <a:solidFill>
              <a:srgbClr val="7DAE5C"/>
            </a:solidFill>
            <a:prstDash val="solid"/>
          </a:ln>
        </p:spPr>
      </p:sp>
      <p:sp>
        <p:nvSpPr>
          <p:cNvPr id="22" name="Text 20"/>
          <p:cNvSpPr/>
          <p:nvPr/>
        </p:nvSpPr>
        <p:spPr>
          <a:xfrm>
            <a:off x="4919472" y="2468880"/>
            <a:ext cx="3749040" cy="237744"/>
          </a:xfrm>
          <a:prstGeom prst="rect">
            <a:avLst/>
          </a:prstGeom>
          <a:noFill/>
          <a:ln/>
        </p:spPr>
        <p:txBody>
          <a:bodyPr wrap="square" lIns="0" tIns="0" rIns="0" bIns="0" rtlCol="0" anchor="ctr"/>
          <a:lstStyle/>
          <a:p>
            <a:pPr indent="0" marL="0">
              <a:buNone/>
            </a:pPr>
            <a:r>
              <a:rPr lang="en-US" sz="1150" b="1" dirty="0">
                <a:solidFill>
                  <a:srgbClr val="2C5F2D"/>
                </a:solidFill>
                <a:latin typeface="Cambria" pitchFamily="34" charset="0"/>
                <a:ea typeface="Cambria" pitchFamily="34" charset="-122"/>
                <a:cs typeface="Cambria" pitchFamily="34" charset="-120"/>
              </a:rPr>
              <a:t>State-by-state data law</a:t>
            </a:r>
            <a:endParaRPr lang="en-US" sz="1150" dirty="0"/>
          </a:p>
        </p:txBody>
      </p:sp>
      <p:sp>
        <p:nvSpPr>
          <p:cNvPr id="23" name="Text 21"/>
          <p:cNvSpPr/>
          <p:nvPr/>
        </p:nvSpPr>
        <p:spPr>
          <a:xfrm>
            <a:off x="4919472" y="2715768"/>
            <a:ext cx="3749040" cy="402336"/>
          </a:xfrm>
          <a:prstGeom prst="rect">
            <a:avLst/>
          </a:prstGeom>
          <a:noFill/>
          <a:ln/>
        </p:spPr>
        <p:txBody>
          <a:bodyPr wrap="square" lIns="0" tIns="0" rIns="0" bIns="0" rtlCol="0" anchor="ctr"/>
          <a:lstStyle/>
          <a:p>
            <a:pPr indent="0" marL="0">
              <a:buNone/>
            </a:pPr>
            <a:r>
              <a:rPr lang="en-US" sz="1000" dirty="0">
                <a:solidFill>
                  <a:srgbClr val="2D3436"/>
                </a:solidFill>
                <a:latin typeface="Calibri" pitchFamily="34" charset="0"/>
                <a:ea typeface="Calibri" pitchFamily="34" charset="-122"/>
                <a:cs typeface="Calibri" pitchFamily="34" charset="-120"/>
              </a:rPr>
              <a:t>CCPA (California) and other state data privacy laws differ. Does our anonymization architecture satisfy all 50 states' requirements for B2B behavioral data sales?</a:t>
            </a:r>
            <a:endParaRPr lang="en-US" sz="1000" dirty="0"/>
          </a:p>
        </p:txBody>
      </p:sp>
      <p:sp>
        <p:nvSpPr>
          <p:cNvPr id="24" name="Shape 22"/>
          <p:cNvSpPr/>
          <p:nvPr/>
        </p:nvSpPr>
        <p:spPr>
          <a:xfrm>
            <a:off x="4800600" y="3300984"/>
            <a:ext cx="3977640" cy="786384"/>
          </a:xfrm>
          <a:prstGeom prst="roundRect">
            <a:avLst>
              <a:gd name="adj" fmla="val 9302"/>
            </a:avLst>
          </a:prstGeom>
          <a:solidFill>
            <a:srgbClr val="E8F1E0"/>
          </a:solidFill>
          <a:ln w="12700">
            <a:solidFill>
              <a:srgbClr val="7DAE5C"/>
            </a:solidFill>
            <a:prstDash val="solid"/>
          </a:ln>
        </p:spPr>
      </p:sp>
      <p:sp>
        <p:nvSpPr>
          <p:cNvPr id="25" name="Text 23"/>
          <p:cNvSpPr/>
          <p:nvPr/>
        </p:nvSpPr>
        <p:spPr>
          <a:xfrm>
            <a:off x="4919472" y="3364992"/>
            <a:ext cx="3749040" cy="237744"/>
          </a:xfrm>
          <a:prstGeom prst="rect">
            <a:avLst/>
          </a:prstGeom>
          <a:noFill/>
          <a:ln/>
        </p:spPr>
        <p:txBody>
          <a:bodyPr wrap="square" lIns="0" tIns="0" rIns="0" bIns="0" rtlCol="0" anchor="ctr"/>
          <a:lstStyle/>
          <a:p>
            <a:pPr indent="0" marL="0">
              <a:buNone/>
            </a:pPr>
            <a:r>
              <a:rPr lang="en-US" sz="1150" b="1" dirty="0">
                <a:solidFill>
                  <a:srgbClr val="2C5F2D"/>
                </a:solidFill>
                <a:latin typeface="Cambria" pitchFamily="34" charset="0"/>
                <a:ea typeface="Cambria" pitchFamily="34" charset="-122"/>
                <a:cs typeface="Cambria" pitchFamily="34" charset="-120"/>
              </a:rPr>
              <a:t>Patent claim geography</a:t>
            </a:r>
            <a:endParaRPr lang="en-US" sz="1150" dirty="0"/>
          </a:p>
        </p:txBody>
      </p:sp>
      <p:sp>
        <p:nvSpPr>
          <p:cNvPr id="26" name="Text 24"/>
          <p:cNvSpPr/>
          <p:nvPr/>
        </p:nvSpPr>
        <p:spPr>
          <a:xfrm>
            <a:off x="4919472" y="3611880"/>
            <a:ext cx="3749040" cy="402336"/>
          </a:xfrm>
          <a:prstGeom prst="rect">
            <a:avLst/>
          </a:prstGeom>
          <a:noFill/>
          <a:ln/>
        </p:spPr>
        <p:txBody>
          <a:bodyPr wrap="square" lIns="0" tIns="0" rIns="0" bIns="0" rtlCol="0" anchor="ctr"/>
          <a:lstStyle/>
          <a:p>
            <a:pPr indent="0" marL="0">
              <a:buNone/>
            </a:pPr>
            <a:r>
              <a:rPr lang="en-US" sz="1000" dirty="0">
                <a:solidFill>
                  <a:srgbClr val="2D3436"/>
                </a:solidFill>
                <a:latin typeface="Calibri" pitchFamily="34" charset="0"/>
                <a:ea typeface="Calibri" pitchFamily="34" charset="-122"/>
                <a:cs typeface="Calibri" pitchFamily="34" charset="-120"/>
              </a:rPr>
              <a:t>Should utility patent claims be written to explicitly cover the national multi-zip-code aggregation model, or are geography-agnostic claims stronger?</a:t>
            </a:r>
            <a:endParaRPr lang="en-US" sz="1000" dirty="0"/>
          </a:p>
        </p:txBody>
      </p:sp>
      <p:sp>
        <p:nvSpPr>
          <p:cNvPr id="27" name="Shape 25"/>
          <p:cNvSpPr/>
          <p:nvPr/>
        </p:nvSpPr>
        <p:spPr>
          <a:xfrm>
            <a:off x="4800600" y="4197096"/>
            <a:ext cx="3977640" cy="786384"/>
          </a:xfrm>
          <a:prstGeom prst="roundRect">
            <a:avLst>
              <a:gd name="adj" fmla="val 9302"/>
            </a:avLst>
          </a:prstGeom>
          <a:solidFill>
            <a:srgbClr val="E8F1E0"/>
          </a:solidFill>
          <a:ln w="12700">
            <a:solidFill>
              <a:srgbClr val="7DAE5C"/>
            </a:solidFill>
            <a:prstDash val="solid"/>
          </a:ln>
        </p:spPr>
      </p:sp>
      <p:sp>
        <p:nvSpPr>
          <p:cNvPr id="28" name="Text 26"/>
          <p:cNvSpPr/>
          <p:nvPr/>
        </p:nvSpPr>
        <p:spPr>
          <a:xfrm>
            <a:off x="4919472" y="4261104"/>
            <a:ext cx="3749040" cy="237744"/>
          </a:xfrm>
          <a:prstGeom prst="rect">
            <a:avLst/>
          </a:prstGeom>
          <a:noFill/>
          <a:ln/>
        </p:spPr>
        <p:txBody>
          <a:bodyPr wrap="square" lIns="0" tIns="0" rIns="0" bIns="0" rtlCol="0" anchor="ctr"/>
          <a:lstStyle/>
          <a:p>
            <a:pPr indent="0" marL="0">
              <a:buNone/>
            </a:pPr>
            <a:r>
              <a:rPr lang="en-US" sz="1150" b="1" dirty="0">
                <a:solidFill>
                  <a:srgbClr val="2C5F2D"/>
                </a:solidFill>
                <a:latin typeface="Cambria" pitchFamily="34" charset="0"/>
                <a:ea typeface="Cambria" pitchFamily="34" charset="-122"/>
                <a:cs typeface="Cambria" pitchFamily="34" charset="-120"/>
              </a:rPr>
              <a:t>International considerations</a:t>
            </a:r>
            <a:endParaRPr lang="en-US" sz="1150" dirty="0"/>
          </a:p>
        </p:txBody>
      </p:sp>
      <p:sp>
        <p:nvSpPr>
          <p:cNvPr id="29" name="Text 27"/>
          <p:cNvSpPr/>
          <p:nvPr/>
        </p:nvSpPr>
        <p:spPr>
          <a:xfrm>
            <a:off x="4919472" y="4507992"/>
            <a:ext cx="3749040" cy="402336"/>
          </a:xfrm>
          <a:prstGeom prst="rect">
            <a:avLst/>
          </a:prstGeom>
          <a:noFill/>
          <a:ln/>
        </p:spPr>
        <p:txBody>
          <a:bodyPr wrap="square" lIns="0" tIns="0" rIns="0" bIns="0" rtlCol="0" anchor="ctr"/>
          <a:lstStyle/>
          <a:p>
            <a:pPr indent="0" marL="0">
              <a:buNone/>
            </a:pPr>
            <a:r>
              <a:rPr lang="en-US" sz="1000" dirty="0">
                <a:solidFill>
                  <a:srgbClr val="2D3436"/>
                </a:solidFill>
                <a:latin typeface="Calibri" pitchFamily="34" charset="0"/>
                <a:ea typeface="Calibri" pitchFamily="34" charset="-122"/>
                <a:cs typeface="Calibri" pitchFamily="34" charset="-120"/>
              </a:rPr>
              <a:t>If we expand to Canada, UK, or Australia (all have independent grocery markets), do we need PCT (Patent Cooperation Treaty) filings now to preserve those rights?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365760" y="182880"/>
            <a:ext cx="841248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Creation Timeline  &amp;  Priority Date Evidence</a:t>
            </a:r>
            <a:endParaRPr lang="en-US" sz="3200" dirty="0"/>
          </a:p>
        </p:txBody>
      </p:sp>
      <p:sp>
        <p:nvSpPr>
          <p:cNvPr id="3" name="Text 1"/>
          <p:cNvSpPr/>
          <p:nvPr/>
        </p:nvSpPr>
        <p:spPr>
          <a:xfrm>
            <a:off x="365760" y="731520"/>
            <a:ext cx="8412480" cy="256032"/>
          </a:xfrm>
          <a:prstGeom prst="rect">
            <a:avLst/>
          </a:prstGeom>
          <a:noFill/>
          <a:ln/>
        </p:spPr>
        <p:txBody>
          <a:bodyPr wrap="square" lIns="0" tIns="0" rIns="0" bIns="0" rtlCol="0" anchor="ctr"/>
          <a:lstStyle/>
          <a:p>
            <a:pPr indent="0" marL="0">
              <a:buNone/>
            </a:pPr>
            <a:r>
              <a:rPr lang="en-US" sz="1300" i="1" dirty="0">
                <a:solidFill>
                  <a:srgbClr val="8EB4E3"/>
                </a:solidFill>
                <a:latin typeface="Calibri" pitchFamily="34" charset="0"/>
                <a:ea typeface="Calibri" pitchFamily="34" charset="-122"/>
                <a:cs typeface="Calibri" pitchFamily="34" charset="-120"/>
              </a:rPr>
              <a:t>77+ timestamped commits in private GitHub repository — legal evidence of invention dates</a:t>
            </a:r>
            <a:endParaRPr lang="en-US" sz="1300" dirty="0"/>
          </a:p>
        </p:txBody>
      </p:sp>
      <p:sp>
        <p:nvSpPr>
          <p:cNvPr id="4" name="Shape 2"/>
          <p:cNvSpPr/>
          <p:nvPr/>
        </p:nvSpPr>
        <p:spPr>
          <a:xfrm>
            <a:off x="301752" y="1115568"/>
            <a:ext cx="320040" cy="320040"/>
          </a:xfrm>
          <a:prstGeom prst="ellipse">
            <a:avLst/>
          </a:prstGeom>
          <a:solidFill>
            <a:srgbClr val="7DAE5C"/>
          </a:solidFill>
          <a:ln/>
        </p:spPr>
      </p:sp>
      <p:sp>
        <p:nvSpPr>
          <p:cNvPr id="5" name="Shape 3"/>
          <p:cNvSpPr/>
          <p:nvPr/>
        </p:nvSpPr>
        <p:spPr>
          <a:xfrm>
            <a:off x="461772" y="1444752"/>
            <a:ext cx="0" cy="210312"/>
          </a:xfrm>
          <a:prstGeom prst="line">
            <a:avLst/>
          </a:prstGeom>
          <a:noFill/>
          <a:ln w="19050">
            <a:solidFill>
              <a:srgbClr val="7DAE5C"/>
            </a:solidFill>
            <a:prstDash val="dash"/>
          </a:ln>
        </p:spPr>
      </p:sp>
      <p:sp>
        <p:nvSpPr>
          <p:cNvPr id="6" name="Text 4"/>
          <p:cNvSpPr/>
          <p:nvPr/>
        </p:nvSpPr>
        <p:spPr>
          <a:xfrm>
            <a:off x="749808" y="1078992"/>
            <a:ext cx="1097280" cy="393192"/>
          </a:xfrm>
          <a:prstGeom prst="rect">
            <a:avLst/>
          </a:prstGeom>
          <a:noFill/>
          <a:ln/>
        </p:spPr>
        <p:txBody>
          <a:bodyPr wrap="square" lIns="0" tIns="0" rIns="0" bIns="0" rtlCol="0" anchor="ctr"/>
          <a:lstStyle/>
          <a:p>
            <a:pPr indent="0" marL="0">
              <a:buNone/>
            </a:pPr>
            <a:r>
              <a:rPr lang="en-US" sz="1200" b="1" dirty="0">
                <a:solidFill>
                  <a:srgbClr val="7DAE5C"/>
                </a:solidFill>
                <a:latin typeface="Cambria" pitchFamily="34" charset="0"/>
                <a:ea typeface="Cambria" pitchFamily="34" charset="-122"/>
                <a:cs typeface="Cambria" pitchFamily="34" charset="-120"/>
              </a:rPr>
              <a:t>June 3</a:t>
            </a:r>
            <a:endParaRPr lang="en-US" sz="1200" dirty="0"/>
          </a:p>
        </p:txBody>
      </p:sp>
      <p:sp>
        <p:nvSpPr>
          <p:cNvPr id="7" name="Text 5"/>
          <p:cNvSpPr/>
          <p:nvPr/>
        </p:nvSpPr>
        <p:spPr>
          <a:xfrm>
            <a:off x="1938528" y="1078992"/>
            <a:ext cx="2103120" cy="393192"/>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Backend foundation</a:t>
            </a:r>
            <a:endParaRPr lang="en-US" sz="1200" dirty="0"/>
          </a:p>
        </p:txBody>
      </p:sp>
      <p:sp>
        <p:nvSpPr>
          <p:cNvPr id="8" name="Text 6"/>
          <p:cNvSpPr/>
          <p:nvPr/>
        </p:nvSpPr>
        <p:spPr>
          <a:xfrm>
            <a:off x="4133088" y="1078992"/>
            <a:ext cx="4663440" cy="393192"/>
          </a:xfrm>
          <a:prstGeom prst="rect">
            <a:avLst/>
          </a:prstGeom>
          <a:noFill/>
          <a:ln/>
        </p:spPr>
        <p:txBody>
          <a:bodyPr wrap="square" lIns="0" tIns="0" rIns="0" bIns="0" rtlCol="0" anchor="ctr"/>
          <a:lstStyle/>
          <a:p>
            <a:pPr indent="0" marL="0">
              <a:buNone/>
            </a:pPr>
            <a:r>
              <a:rPr lang="en-US" sz="1050" i="1" dirty="0">
                <a:solidFill>
                  <a:srgbClr val="8EB4E3"/>
                </a:solidFill>
                <a:latin typeface="Calibri" pitchFamily="34" charset="0"/>
                <a:ea typeface="Calibri" pitchFamily="34" charset="-122"/>
                <a:cs typeface="Calibri" pitchFamily="34" charset="-120"/>
              </a:rPr>
              <a:t>Python/Flask setup · DataMonetization concept · dual-sided architecture defined</a:t>
            </a:r>
            <a:endParaRPr lang="en-US" sz="1050" dirty="0"/>
          </a:p>
        </p:txBody>
      </p:sp>
      <p:sp>
        <p:nvSpPr>
          <p:cNvPr id="9" name="Shape 7"/>
          <p:cNvSpPr/>
          <p:nvPr/>
        </p:nvSpPr>
        <p:spPr>
          <a:xfrm>
            <a:off x="301752" y="1691640"/>
            <a:ext cx="320040" cy="320040"/>
          </a:xfrm>
          <a:prstGeom prst="ellipse">
            <a:avLst/>
          </a:prstGeom>
          <a:solidFill>
            <a:srgbClr val="7DAE5C"/>
          </a:solidFill>
          <a:ln/>
        </p:spPr>
      </p:sp>
      <p:sp>
        <p:nvSpPr>
          <p:cNvPr id="10" name="Shape 8"/>
          <p:cNvSpPr/>
          <p:nvPr/>
        </p:nvSpPr>
        <p:spPr>
          <a:xfrm>
            <a:off x="461772" y="2020824"/>
            <a:ext cx="0" cy="210312"/>
          </a:xfrm>
          <a:prstGeom prst="line">
            <a:avLst/>
          </a:prstGeom>
          <a:noFill/>
          <a:ln w="19050">
            <a:solidFill>
              <a:srgbClr val="7DAE5C"/>
            </a:solidFill>
            <a:prstDash val="dash"/>
          </a:ln>
        </p:spPr>
      </p:sp>
      <p:sp>
        <p:nvSpPr>
          <p:cNvPr id="11" name="Text 9"/>
          <p:cNvSpPr/>
          <p:nvPr/>
        </p:nvSpPr>
        <p:spPr>
          <a:xfrm>
            <a:off x="749808" y="1655064"/>
            <a:ext cx="1097280" cy="393192"/>
          </a:xfrm>
          <a:prstGeom prst="rect">
            <a:avLst/>
          </a:prstGeom>
          <a:noFill/>
          <a:ln/>
        </p:spPr>
        <p:txBody>
          <a:bodyPr wrap="square" lIns="0" tIns="0" rIns="0" bIns="0" rtlCol="0" anchor="ctr"/>
          <a:lstStyle/>
          <a:p>
            <a:pPr indent="0" marL="0">
              <a:buNone/>
            </a:pPr>
            <a:r>
              <a:rPr lang="en-US" sz="1200" b="1" dirty="0">
                <a:solidFill>
                  <a:srgbClr val="7DAE5C"/>
                </a:solidFill>
                <a:latin typeface="Cambria" pitchFamily="34" charset="0"/>
                <a:ea typeface="Cambria" pitchFamily="34" charset="-122"/>
                <a:cs typeface="Cambria" pitchFamily="34" charset="-120"/>
              </a:rPr>
              <a:t>June 11</a:t>
            </a:r>
            <a:endParaRPr lang="en-US" sz="1200" dirty="0"/>
          </a:p>
        </p:txBody>
      </p:sp>
      <p:sp>
        <p:nvSpPr>
          <p:cNvPr id="12" name="Text 10"/>
          <p:cNvSpPr/>
          <p:nvPr/>
        </p:nvSpPr>
        <p:spPr>
          <a:xfrm>
            <a:off x="1938528" y="1655064"/>
            <a:ext cx="2103120" cy="393192"/>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Frontend launch</a:t>
            </a:r>
            <a:endParaRPr lang="en-US" sz="1200" dirty="0"/>
          </a:p>
        </p:txBody>
      </p:sp>
      <p:sp>
        <p:nvSpPr>
          <p:cNvPr id="13" name="Text 11"/>
          <p:cNvSpPr/>
          <p:nvPr/>
        </p:nvSpPr>
        <p:spPr>
          <a:xfrm>
            <a:off x="4133088" y="1655064"/>
            <a:ext cx="4663440" cy="393192"/>
          </a:xfrm>
          <a:prstGeom prst="rect">
            <a:avLst/>
          </a:prstGeom>
          <a:noFill/>
          <a:ln/>
        </p:spPr>
        <p:txBody>
          <a:bodyPr wrap="square" lIns="0" tIns="0" rIns="0" bIns="0" rtlCol="0" anchor="ctr"/>
          <a:lstStyle/>
          <a:p>
            <a:pPr indent="0" marL="0">
              <a:buNone/>
            </a:pPr>
            <a:r>
              <a:rPr lang="en-US" sz="1050" i="1" dirty="0">
                <a:solidFill>
                  <a:srgbClr val="8EB4E3"/>
                </a:solidFill>
                <a:latin typeface="Calibri" pitchFamily="34" charset="0"/>
                <a:ea typeface="Calibri" pitchFamily="34" charset="-122"/>
                <a:cs typeface="Calibri" pitchFamily="34" charset="-120"/>
              </a:rPr>
              <a:t>Pixel art system · Substitution engine · Barcode scanner · Asian recipe DB</a:t>
            </a:r>
            <a:endParaRPr lang="en-US" sz="1050" dirty="0"/>
          </a:p>
        </p:txBody>
      </p:sp>
      <p:sp>
        <p:nvSpPr>
          <p:cNvPr id="14" name="Shape 12"/>
          <p:cNvSpPr/>
          <p:nvPr/>
        </p:nvSpPr>
        <p:spPr>
          <a:xfrm>
            <a:off x="301752" y="2267712"/>
            <a:ext cx="320040" cy="320040"/>
          </a:xfrm>
          <a:prstGeom prst="ellipse">
            <a:avLst/>
          </a:prstGeom>
          <a:solidFill>
            <a:srgbClr val="7DAE5C"/>
          </a:solidFill>
          <a:ln/>
        </p:spPr>
      </p:sp>
      <p:sp>
        <p:nvSpPr>
          <p:cNvPr id="15" name="Shape 13"/>
          <p:cNvSpPr/>
          <p:nvPr/>
        </p:nvSpPr>
        <p:spPr>
          <a:xfrm>
            <a:off x="461772" y="2596896"/>
            <a:ext cx="0" cy="210312"/>
          </a:xfrm>
          <a:prstGeom prst="line">
            <a:avLst/>
          </a:prstGeom>
          <a:noFill/>
          <a:ln w="19050">
            <a:solidFill>
              <a:srgbClr val="7DAE5C"/>
            </a:solidFill>
            <a:prstDash val="dash"/>
          </a:ln>
        </p:spPr>
      </p:sp>
      <p:sp>
        <p:nvSpPr>
          <p:cNvPr id="16" name="Text 14"/>
          <p:cNvSpPr/>
          <p:nvPr/>
        </p:nvSpPr>
        <p:spPr>
          <a:xfrm>
            <a:off x="749808" y="2231136"/>
            <a:ext cx="1097280" cy="393192"/>
          </a:xfrm>
          <a:prstGeom prst="rect">
            <a:avLst/>
          </a:prstGeom>
          <a:noFill/>
          <a:ln/>
        </p:spPr>
        <p:txBody>
          <a:bodyPr wrap="square" lIns="0" tIns="0" rIns="0" bIns="0" rtlCol="0" anchor="ctr"/>
          <a:lstStyle/>
          <a:p>
            <a:pPr indent="0" marL="0">
              <a:buNone/>
            </a:pPr>
            <a:r>
              <a:rPr lang="en-US" sz="1200" b="1" dirty="0">
                <a:solidFill>
                  <a:srgbClr val="7DAE5C"/>
                </a:solidFill>
                <a:latin typeface="Cambria" pitchFamily="34" charset="0"/>
                <a:ea typeface="Cambria" pitchFamily="34" charset="-122"/>
                <a:cs typeface="Cambria" pitchFamily="34" charset="-120"/>
              </a:rPr>
              <a:t>June 12</a:t>
            </a:r>
            <a:endParaRPr lang="en-US" sz="1200" dirty="0"/>
          </a:p>
        </p:txBody>
      </p:sp>
      <p:sp>
        <p:nvSpPr>
          <p:cNvPr id="17" name="Text 15"/>
          <p:cNvSpPr/>
          <p:nvPr/>
        </p:nvSpPr>
        <p:spPr>
          <a:xfrm>
            <a:off x="1938528" y="2231136"/>
            <a:ext cx="2103120" cy="393192"/>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29 commits (peak day)</a:t>
            </a:r>
            <a:endParaRPr lang="en-US" sz="1200" dirty="0"/>
          </a:p>
        </p:txBody>
      </p:sp>
      <p:sp>
        <p:nvSpPr>
          <p:cNvPr id="18" name="Text 16"/>
          <p:cNvSpPr/>
          <p:nvPr/>
        </p:nvSpPr>
        <p:spPr>
          <a:xfrm>
            <a:off x="4133088" y="2231136"/>
            <a:ext cx="4663440" cy="393192"/>
          </a:xfrm>
          <a:prstGeom prst="rect">
            <a:avLst/>
          </a:prstGeom>
          <a:noFill/>
          <a:ln/>
        </p:spPr>
        <p:txBody>
          <a:bodyPr wrap="square" lIns="0" tIns="0" rIns="0" bIns="0" rtlCol="0" anchor="ctr"/>
          <a:lstStyle/>
          <a:p>
            <a:pPr indent="0" marL="0">
              <a:buNone/>
            </a:pPr>
            <a:r>
              <a:rPr lang="en-US" sz="1050" i="1" dirty="0">
                <a:solidFill>
                  <a:srgbClr val="8EB4E3"/>
                </a:solidFill>
                <a:latin typeface="Calibri" pitchFamily="34" charset="0"/>
                <a:ea typeface="Calibri" pitchFamily="34" charset="-122"/>
                <a:cs typeface="Calibri" pitchFamily="34" charset="-120"/>
              </a:rPr>
              <a:t>Global recipe DB: 43+ countries built in one day · Gamification history reel</a:t>
            </a:r>
            <a:endParaRPr lang="en-US" sz="1050" dirty="0"/>
          </a:p>
        </p:txBody>
      </p:sp>
      <p:sp>
        <p:nvSpPr>
          <p:cNvPr id="19" name="Shape 17"/>
          <p:cNvSpPr/>
          <p:nvPr/>
        </p:nvSpPr>
        <p:spPr>
          <a:xfrm>
            <a:off x="301752" y="2843784"/>
            <a:ext cx="320040" cy="320040"/>
          </a:xfrm>
          <a:prstGeom prst="ellipse">
            <a:avLst/>
          </a:prstGeom>
          <a:solidFill>
            <a:srgbClr val="7DAE5C"/>
          </a:solidFill>
          <a:ln/>
        </p:spPr>
      </p:sp>
      <p:sp>
        <p:nvSpPr>
          <p:cNvPr id="20" name="Shape 18"/>
          <p:cNvSpPr/>
          <p:nvPr/>
        </p:nvSpPr>
        <p:spPr>
          <a:xfrm>
            <a:off x="461772" y="3172968"/>
            <a:ext cx="0" cy="210312"/>
          </a:xfrm>
          <a:prstGeom prst="line">
            <a:avLst/>
          </a:prstGeom>
          <a:noFill/>
          <a:ln w="19050">
            <a:solidFill>
              <a:srgbClr val="7DAE5C"/>
            </a:solidFill>
            <a:prstDash val="dash"/>
          </a:ln>
        </p:spPr>
      </p:sp>
      <p:sp>
        <p:nvSpPr>
          <p:cNvPr id="21" name="Text 19"/>
          <p:cNvSpPr/>
          <p:nvPr/>
        </p:nvSpPr>
        <p:spPr>
          <a:xfrm>
            <a:off x="749808" y="2807208"/>
            <a:ext cx="1097280" cy="393192"/>
          </a:xfrm>
          <a:prstGeom prst="rect">
            <a:avLst/>
          </a:prstGeom>
          <a:noFill/>
          <a:ln/>
        </p:spPr>
        <p:txBody>
          <a:bodyPr wrap="square" lIns="0" tIns="0" rIns="0" bIns="0" rtlCol="0" anchor="ctr"/>
          <a:lstStyle/>
          <a:p>
            <a:pPr indent="0" marL="0">
              <a:buNone/>
            </a:pPr>
            <a:r>
              <a:rPr lang="en-US" sz="1200" b="1" dirty="0">
                <a:solidFill>
                  <a:srgbClr val="7DAE5C"/>
                </a:solidFill>
                <a:latin typeface="Cambria" pitchFamily="34" charset="0"/>
                <a:ea typeface="Cambria" pitchFamily="34" charset="-122"/>
                <a:cs typeface="Cambria" pitchFamily="34" charset="-120"/>
              </a:rPr>
              <a:t>June 17</a:t>
            </a:r>
            <a:endParaRPr lang="en-US" sz="1200" dirty="0"/>
          </a:p>
        </p:txBody>
      </p:sp>
      <p:sp>
        <p:nvSpPr>
          <p:cNvPr id="22" name="Text 20"/>
          <p:cNvSpPr/>
          <p:nvPr/>
        </p:nvSpPr>
        <p:spPr>
          <a:xfrm>
            <a:off x="1938528" y="2807208"/>
            <a:ext cx="2103120" cy="393192"/>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23 commits</a:t>
            </a:r>
            <a:endParaRPr lang="en-US" sz="1200" dirty="0"/>
          </a:p>
        </p:txBody>
      </p:sp>
      <p:sp>
        <p:nvSpPr>
          <p:cNvPr id="23" name="Text 21"/>
          <p:cNvSpPr/>
          <p:nvPr/>
        </p:nvSpPr>
        <p:spPr>
          <a:xfrm>
            <a:off x="4133088" y="2807208"/>
            <a:ext cx="4663440" cy="393192"/>
          </a:xfrm>
          <a:prstGeom prst="rect">
            <a:avLst/>
          </a:prstGeom>
          <a:noFill/>
          <a:ln/>
        </p:spPr>
        <p:txBody>
          <a:bodyPr wrap="square" lIns="0" tIns="0" rIns="0" bIns="0" rtlCol="0" anchor="ctr"/>
          <a:lstStyle/>
          <a:p>
            <a:pPr indent="0" marL="0">
              <a:buNone/>
            </a:pPr>
            <a:r>
              <a:rPr lang="en-US" sz="1050" i="1" dirty="0">
                <a:solidFill>
                  <a:srgbClr val="8EB4E3"/>
                </a:solidFill>
                <a:latin typeface="Calibri" pitchFamily="34" charset="0"/>
                <a:ea typeface="Calibri" pitchFamily="34" charset="-122"/>
                <a:cs typeface="Calibri" pitchFamily="34" charset="-120"/>
              </a:rPr>
              <a:t>Full analytics + B2B data layer · Market metrics system · Barcode AI pairing</a:t>
            </a:r>
            <a:endParaRPr lang="en-US" sz="1050" dirty="0"/>
          </a:p>
        </p:txBody>
      </p:sp>
      <p:sp>
        <p:nvSpPr>
          <p:cNvPr id="24" name="Shape 22"/>
          <p:cNvSpPr/>
          <p:nvPr/>
        </p:nvSpPr>
        <p:spPr>
          <a:xfrm>
            <a:off x="301752" y="3419856"/>
            <a:ext cx="320040" cy="320040"/>
          </a:xfrm>
          <a:prstGeom prst="ellipse">
            <a:avLst/>
          </a:prstGeom>
          <a:solidFill>
            <a:srgbClr val="7DAE5C"/>
          </a:solidFill>
          <a:ln/>
        </p:spPr>
      </p:sp>
      <p:sp>
        <p:nvSpPr>
          <p:cNvPr id="25" name="Shape 23"/>
          <p:cNvSpPr/>
          <p:nvPr/>
        </p:nvSpPr>
        <p:spPr>
          <a:xfrm>
            <a:off x="461772" y="3749040"/>
            <a:ext cx="0" cy="210312"/>
          </a:xfrm>
          <a:prstGeom prst="line">
            <a:avLst/>
          </a:prstGeom>
          <a:noFill/>
          <a:ln w="19050">
            <a:solidFill>
              <a:srgbClr val="7DAE5C"/>
            </a:solidFill>
            <a:prstDash val="dash"/>
          </a:ln>
        </p:spPr>
      </p:sp>
      <p:sp>
        <p:nvSpPr>
          <p:cNvPr id="26" name="Text 24"/>
          <p:cNvSpPr/>
          <p:nvPr/>
        </p:nvSpPr>
        <p:spPr>
          <a:xfrm>
            <a:off x="749808" y="3383280"/>
            <a:ext cx="1097280" cy="393192"/>
          </a:xfrm>
          <a:prstGeom prst="rect">
            <a:avLst/>
          </a:prstGeom>
          <a:noFill/>
          <a:ln/>
        </p:spPr>
        <p:txBody>
          <a:bodyPr wrap="square" lIns="0" tIns="0" rIns="0" bIns="0" rtlCol="0" anchor="ctr"/>
          <a:lstStyle/>
          <a:p>
            <a:pPr indent="0" marL="0">
              <a:buNone/>
            </a:pPr>
            <a:r>
              <a:rPr lang="en-US" sz="1200" b="1" dirty="0">
                <a:solidFill>
                  <a:srgbClr val="7DAE5C"/>
                </a:solidFill>
                <a:latin typeface="Cambria" pitchFamily="34" charset="0"/>
                <a:ea typeface="Cambria" pitchFamily="34" charset="-122"/>
                <a:cs typeface="Cambria" pitchFamily="34" charset="-120"/>
              </a:rPr>
              <a:t>June 18</a:t>
            </a:r>
            <a:endParaRPr lang="en-US" sz="1200" dirty="0"/>
          </a:p>
        </p:txBody>
      </p:sp>
      <p:sp>
        <p:nvSpPr>
          <p:cNvPr id="27" name="Text 25"/>
          <p:cNvSpPr/>
          <p:nvPr/>
        </p:nvSpPr>
        <p:spPr>
          <a:xfrm>
            <a:off x="1938528" y="3383280"/>
            <a:ext cx="2103120" cy="393192"/>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B2B layer complete</a:t>
            </a:r>
            <a:endParaRPr lang="en-US" sz="1200" dirty="0"/>
          </a:p>
        </p:txBody>
      </p:sp>
      <p:sp>
        <p:nvSpPr>
          <p:cNvPr id="28" name="Text 26"/>
          <p:cNvSpPr/>
          <p:nvPr/>
        </p:nvSpPr>
        <p:spPr>
          <a:xfrm>
            <a:off x="4133088" y="3383280"/>
            <a:ext cx="4663440" cy="393192"/>
          </a:xfrm>
          <a:prstGeom prst="rect">
            <a:avLst/>
          </a:prstGeom>
          <a:noFill/>
          <a:ln/>
        </p:spPr>
        <p:txBody>
          <a:bodyPr wrap="square" lIns="0" tIns="0" rIns="0" bIns="0" rtlCol="0" anchor="ctr"/>
          <a:lstStyle/>
          <a:p>
            <a:pPr indent="0" marL="0">
              <a:buNone/>
            </a:pPr>
            <a:r>
              <a:rPr lang="en-US" sz="1050" i="1" dirty="0">
                <a:solidFill>
                  <a:srgbClr val="8EB4E3"/>
                </a:solidFill>
                <a:latin typeface="Calibri" pitchFamily="34" charset="0"/>
                <a:ea typeface="Calibri" pitchFamily="34" charset="-122"/>
                <a:cs typeface="Calibri" pitchFamily="34" charset="-120"/>
              </a:rPr>
              <a:t>Market intelligence · Flavor intelligence · Recipe Remix Engine · Dietary Swap</a:t>
            </a:r>
            <a:endParaRPr lang="en-US" sz="1050" dirty="0"/>
          </a:p>
        </p:txBody>
      </p:sp>
      <p:sp>
        <p:nvSpPr>
          <p:cNvPr id="29" name="Shape 27"/>
          <p:cNvSpPr/>
          <p:nvPr/>
        </p:nvSpPr>
        <p:spPr>
          <a:xfrm>
            <a:off x="301752" y="3995928"/>
            <a:ext cx="320040" cy="320040"/>
          </a:xfrm>
          <a:prstGeom prst="ellipse">
            <a:avLst/>
          </a:prstGeom>
          <a:solidFill>
            <a:srgbClr val="7DAE5C"/>
          </a:solidFill>
          <a:ln/>
        </p:spPr>
      </p:sp>
      <p:sp>
        <p:nvSpPr>
          <p:cNvPr id="30" name="Text 28"/>
          <p:cNvSpPr/>
          <p:nvPr/>
        </p:nvSpPr>
        <p:spPr>
          <a:xfrm>
            <a:off x="749808" y="3959352"/>
            <a:ext cx="1097280" cy="393192"/>
          </a:xfrm>
          <a:prstGeom prst="rect">
            <a:avLst/>
          </a:prstGeom>
          <a:noFill/>
          <a:ln/>
        </p:spPr>
        <p:txBody>
          <a:bodyPr wrap="square" lIns="0" tIns="0" rIns="0" bIns="0" rtlCol="0" anchor="ctr"/>
          <a:lstStyle/>
          <a:p>
            <a:pPr indent="0" marL="0">
              <a:buNone/>
            </a:pPr>
            <a:r>
              <a:rPr lang="en-US" sz="1200" b="1" dirty="0">
                <a:solidFill>
                  <a:srgbClr val="7DAE5C"/>
                </a:solidFill>
                <a:latin typeface="Cambria" pitchFamily="34" charset="0"/>
                <a:ea typeface="Cambria" pitchFamily="34" charset="-122"/>
                <a:cs typeface="Cambria" pitchFamily="34" charset="-120"/>
              </a:rPr>
              <a:t>June 25–30</a:t>
            </a:r>
            <a:endParaRPr lang="en-US" sz="1200" dirty="0"/>
          </a:p>
        </p:txBody>
      </p:sp>
      <p:sp>
        <p:nvSpPr>
          <p:cNvPr id="31" name="Text 29"/>
          <p:cNvSpPr/>
          <p:nvPr/>
        </p:nvSpPr>
        <p:spPr>
          <a:xfrm>
            <a:off x="1938528" y="3959352"/>
            <a:ext cx="2103120" cy="393192"/>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Advanced features</a:t>
            </a:r>
            <a:endParaRPr lang="en-US" sz="1200" dirty="0"/>
          </a:p>
        </p:txBody>
      </p:sp>
      <p:sp>
        <p:nvSpPr>
          <p:cNvPr id="32" name="Text 30"/>
          <p:cNvSpPr/>
          <p:nvPr/>
        </p:nvSpPr>
        <p:spPr>
          <a:xfrm>
            <a:off x="4133088" y="3959352"/>
            <a:ext cx="4663440" cy="393192"/>
          </a:xfrm>
          <a:prstGeom prst="rect">
            <a:avLst/>
          </a:prstGeom>
          <a:noFill/>
          <a:ln/>
        </p:spPr>
        <p:txBody>
          <a:bodyPr wrap="square" lIns="0" tIns="0" rIns="0" bIns="0" rtlCol="0" anchor="ctr"/>
          <a:lstStyle/>
          <a:p>
            <a:pPr indent="0" marL="0">
              <a:buNone/>
            </a:pPr>
            <a:r>
              <a:rPr lang="en-US" sz="1050" i="1" dirty="0">
                <a:solidFill>
                  <a:srgbClr val="8EB4E3"/>
                </a:solidFill>
                <a:latin typeface="Calibri" pitchFamily="34" charset="0"/>
                <a:ea typeface="Calibri" pitchFamily="34" charset="-122"/>
                <a:cs typeface="Calibri" pitchFamily="34" charset="-120"/>
              </a:rPr>
              <a:t>Culinary science engine · Flavor pairing API · RecipeAlchemist · Map redesign</a:t>
            </a:r>
            <a:endParaRPr lang="en-US" sz="1050" dirty="0"/>
          </a:p>
        </p:txBody>
      </p:sp>
      <p:sp>
        <p:nvSpPr>
          <p:cNvPr id="33" name="Text 31"/>
          <p:cNvSpPr/>
          <p:nvPr/>
        </p:nvSpPr>
        <p:spPr>
          <a:xfrm>
            <a:off x="365760" y="4754880"/>
            <a:ext cx="8412480" cy="256032"/>
          </a:xfrm>
          <a:prstGeom prst="rect">
            <a:avLst/>
          </a:prstGeom>
          <a:noFill/>
          <a:ln/>
        </p:spPr>
        <p:txBody>
          <a:bodyPr wrap="square" lIns="0" tIns="0" rIns="0" bIns="0" rtlCol="0" anchor="ctr"/>
          <a:lstStyle/>
          <a:p>
            <a:pPr algn="ctr" indent="0" marL="0">
              <a:buNone/>
            </a:pPr>
            <a:r>
              <a:rPr lang="en-US" sz="1050" b="1" dirty="0">
                <a:solidFill>
                  <a:srgbClr val="8EB4E3"/>
                </a:solidFill>
                <a:latin typeface="Calibri" pitchFamily="34" charset="0"/>
                <a:ea typeface="Calibri" pitchFamily="34" charset="-122"/>
                <a:cs typeface="Calibri" pitchFamily="34" charset="-120"/>
              </a:rPr>
              <a:t>77+ commits  ·  70+ countries  ·  26,000+ recipes  ·  27 pages  ·  7 Python modules</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365760" y="164592"/>
            <a:ext cx="8412480" cy="512064"/>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Questions for This Meeting</a:t>
            </a:r>
            <a:endParaRPr lang="en-US" sz="3400" dirty="0"/>
          </a:p>
        </p:txBody>
      </p:sp>
      <p:sp>
        <p:nvSpPr>
          <p:cNvPr id="3" name="Shape 1"/>
          <p:cNvSpPr/>
          <p:nvPr/>
        </p:nvSpPr>
        <p:spPr>
          <a:xfrm>
            <a:off x="320040" y="841248"/>
            <a:ext cx="329184" cy="329184"/>
          </a:xfrm>
          <a:prstGeom prst="ellipse">
            <a:avLst/>
          </a:prstGeom>
          <a:solidFill>
            <a:srgbClr val="7DAE5C"/>
          </a:solidFill>
          <a:ln/>
        </p:spPr>
      </p:sp>
      <p:sp>
        <p:nvSpPr>
          <p:cNvPr id="4" name="Text 2"/>
          <p:cNvSpPr/>
          <p:nvPr/>
        </p:nvSpPr>
        <p:spPr>
          <a:xfrm>
            <a:off x="320040" y="841248"/>
            <a:ext cx="329184" cy="329184"/>
          </a:xfrm>
          <a:prstGeom prst="rect">
            <a:avLst/>
          </a:prstGeom>
          <a:noFill/>
          <a:ln/>
        </p:spPr>
        <p:txBody>
          <a:bodyPr wrap="square" lIns="0" tIns="0" rIns="0" bIns="0" rtlCol="0" anchor="ctr"/>
          <a:lstStyle/>
          <a:p>
            <a:pPr algn="ctr" indent="0" marL="0">
              <a:buNone/>
            </a:pPr>
            <a:r>
              <a:rPr lang="en-US" sz="1200" b="1" dirty="0">
                <a:solidFill>
                  <a:srgbClr val="1B2A4A"/>
                </a:solidFill>
                <a:latin typeface="Cambria" pitchFamily="34" charset="0"/>
                <a:ea typeface="Cambria" pitchFamily="34" charset="-122"/>
                <a:cs typeface="Cambria" pitchFamily="34" charset="-120"/>
              </a:rPr>
              <a:t>1</a:t>
            </a:r>
            <a:endParaRPr lang="en-US" sz="1200" dirty="0"/>
          </a:p>
        </p:txBody>
      </p:sp>
      <p:sp>
        <p:nvSpPr>
          <p:cNvPr id="5" name="Text 3"/>
          <p:cNvSpPr/>
          <p:nvPr/>
        </p:nvSpPr>
        <p:spPr>
          <a:xfrm>
            <a:off x="804672" y="786384"/>
            <a:ext cx="7973568" cy="4572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Which of the five systems has the strongest basis for a utility patent — and should we file a provisional today to lock in my priority date?</a:t>
            </a:r>
            <a:endParaRPr lang="en-US" sz="1200" dirty="0"/>
          </a:p>
        </p:txBody>
      </p:sp>
      <p:sp>
        <p:nvSpPr>
          <p:cNvPr id="6" name="Shape 4"/>
          <p:cNvSpPr/>
          <p:nvPr/>
        </p:nvSpPr>
        <p:spPr>
          <a:xfrm>
            <a:off x="320040" y="1399032"/>
            <a:ext cx="329184" cy="329184"/>
          </a:xfrm>
          <a:prstGeom prst="ellipse">
            <a:avLst/>
          </a:prstGeom>
          <a:solidFill>
            <a:srgbClr val="7DAE5C"/>
          </a:solidFill>
          <a:ln/>
        </p:spPr>
      </p:sp>
      <p:sp>
        <p:nvSpPr>
          <p:cNvPr id="7" name="Text 5"/>
          <p:cNvSpPr/>
          <p:nvPr/>
        </p:nvSpPr>
        <p:spPr>
          <a:xfrm>
            <a:off x="320040" y="1399032"/>
            <a:ext cx="329184" cy="329184"/>
          </a:xfrm>
          <a:prstGeom prst="rect">
            <a:avLst/>
          </a:prstGeom>
          <a:noFill/>
          <a:ln/>
        </p:spPr>
        <p:txBody>
          <a:bodyPr wrap="square" lIns="0" tIns="0" rIns="0" bIns="0" rtlCol="0" anchor="ctr"/>
          <a:lstStyle/>
          <a:p>
            <a:pPr algn="ctr" indent="0" marL="0">
              <a:buNone/>
            </a:pPr>
            <a:r>
              <a:rPr lang="en-US" sz="1200" b="1" dirty="0">
                <a:solidFill>
                  <a:srgbClr val="1B2A4A"/>
                </a:solidFill>
                <a:latin typeface="Cambria" pitchFamily="34" charset="0"/>
                <a:ea typeface="Cambria" pitchFamily="34" charset="-122"/>
                <a:cs typeface="Cambria" pitchFamily="34" charset="-120"/>
              </a:rPr>
              <a:t>2</a:t>
            </a:r>
            <a:endParaRPr lang="en-US" sz="1200" dirty="0"/>
          </a:p>
        </p:txBody>
      </p:sp>
      <p:sp>
        <p:nvSpPr>
          <p:cNvPr id="8" name="Text 6"/>
          <p:cNvSpPr/>
          <p:nvPr/>
        </p:nvSpPr>
        <p:spPr>
          <a:xfrm>
            <a:off x="804672" y="1344168"/>
            <a:ext cx="7973568" cy="4572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National expansion: does one U.S. patent filing protect the invention in all 50 states, and what is the PCT window if I later want international protection?</a:t>
            </a:r>
            <a:endParaRPr lang="en-US" sz="1200" dirty="0"/>
          </a:p>
        </p:txBody>
      </p:sp>
      <p:sp>
        <p:nvSpPr>
          <p:cNvPr id="9" name="Shape 7"/>
          <p:cNvSpPr/>
          <p:nvPr/>
        </p:nvSpPr>
        <p:spPr>
          <a:xfrm>
            <a:off x="320040" y="1956816"/>
            <a:ext cx="329184" cy="329184"/>
          </a:xfrm>
          <a:prstGeom prst="ellipse">
            <a:avLst/>
          </a:prstGeom>
          <a:solidFill>
            <a:srgbClr val="7DAE5C"/>
          </a:solidFill>
          <a:ln/>
        </p:spPr>
      </p:sp>
      <p:sp>
        <p:nvSpPr>
          <p:cNvPr id="10" name="Text 8"/>
          <p:cNvSpPr/>
          <p:nvPr/>
        </p:nvSpPr>
        <p:spPr>
          <a:xfrm>
            <a:off x="320040" y="1956816"/>
            <a:ext cx="329184" cy="329184"/>
          </a:xfrm>
          <a:prstGeom prst="rect">
            <a:avLst/>
          </a:prstGeom>
          <a:noFill/>
          <a:ln/>
        </p:spPr>
        <p:txBody>
          <a:bodyPr wrap="square" lIns="0" tIns="0" rIns="0" bIns="0" rtlCol="0" anchor="ctr"/>
          <a:lstStyle/>
          <a:p>
            <a:pPr algn="ctr" indent="0" marL="0">
              <a:buNone/>
            </a:pPr>
            <a:r>
              <a:rPr lang="en-US" sz="1200" b="1" dirty="0">
                <a:solidFill>
                  <a:srgbClr val="1B2A4A"/>
                </a:solidFill>
                <a:latin typeface="Cambria" pitchFamily="34" charset="0"/>
                <a:ea typeface="Cambria" pitchFamily="34" charset="-122"/>
                <a:cs typeface="Cambria" pitchFamily="34" charset="-120"/>
              </a:rPr>
              <a:t>3</a:t>
            </a:r>
            <a:endParaRPr lang="en-US" sz="1200" dirty="0"/>
          </a:p>
        </p:txBody>
      </p:sp>
      <p:sp>
        <p:nvSpPr>
          <p:cNvPr id="11" name="Text 9"/>
          <p:cNvSpPr/>
          <p:nvPr/>
        </p:nvSpPr>
        <p:spPr>
          <a:xfrm>
            <a:off x="804672" y="1901952"/>
            <a:ext cx="7973568" cy="4572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Our B2B product sells anonymized behavioral data nationally. Which state privacy laws (CCPA, CDPA, etc.) do we need to satisfy before scaling, and does our SHA-256 hashing architecture satisfy them?</a:t>
            </a:r>
            <a:endParaRPr lang="en-US" sz="1200" dirty="0"/>
          </a:p>
        </p:txBody>
      </p:sp>
      <p:sp>
        <p:nvSpPr>
          <p:cNvPr id="12" name="Shape 10"/>
          <p:cNvSpPr/>
          <p:nvPr/>
        </p:nvSpPr>
        <p:spPr>
          <a:xfrm>
            <a:off x="320040" y="2514600"/>
            <a:ext cx="329184" cy="329184"/>
          </a:xfrm>
          <a:prstGeom prst="ellipse">
            <a:avLst/>
          </a:prstGeom>
          <a:solidFill>
            <a:srgbClr val="7DAE5C"/>
          </a:solidFill>
          <a:ln/>
        </p:spPr>
      </p:sp>
      <p:sp>
        <p:nvSpPr>
          <p:cNvPr id="13" name="Text 11"/>
          <p:cNvSpPr/>
          <p:nvPr/>
        </p:nvSpPr>
        <p:spPr>
          <a:xfrm>
            <a:off x="320040" y="2514600"/>
            <a:ext cx="329184" cy="329184"/>
          </a:xfrm>
          <a:prstGeom prst="rect">
            <a:avLst/>
          </a:prstGeom>
          <a:noFill/>
          <a:ln/>
        </p:spPr>
        <p:txBody>
          <a:bodyPr wrap="square" lIns="0" tIns="0" rIns="0" bIns="0" rtlCol="0" anchor="ctr"/>
          <a:lstStyle/>
          <a:p>
            <a:pPr algn="ctr" indent="0" marL="0">
              <a:buNone/>
            </a:pPr>
            <a:r>
              <a:rPr lang="en-US" sz="1200" b="1" dirty="0">
                <a:solidFill>
                  <a:srgbClr val="1B2A4A"/>
                </a:solidFill>
                <a:latin typeface="Cambria" pitchFamily="34" charset="0"/>
                <a:ea typeface="Cambria" pitchFamily="34" charset="-122"/>
                <a:cs typeface="Cambria" pitchFamily="34" charset="-120"/>
              </a:rPr>
              <a:t>4</a:t>
            </a:r>
            <a:endParaRPr lang="en-US" sz="1200" dirty="0"/>
          </a:p>
        </p:txBody>
      </p:sp>
      <p:sp>
        <p:nvSpPr>
          <p:cNvPr id="14" name="Text 12"/>
          <p:cNvSpPr/>
          <p:nvPr/>
        </p:nvSpPr>
        <p:spPr>
          <a:xfrm>
            <a:off x="804672" y="2459736"/>
            <a:ext cx="7973568" cy="4572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The trademark 'Dig In': does it need federal registration in Class 42 and Class 43 before I expand beyond two cities? Can I file that today?</a:t>
            </a:r>
            <a:endParaRPr lang="en-US" sz="1200" dirty="0"/>
          </a:p>
        </p:txBody>
      </p:sp>
      <p:sp>
        <p:nvSpPr>
          <p:cNvPr id="15" name="Shape 13"/>
          <p:cNvSpPr/>
          <p:nvPr/>
        </p:nvSpPr>
        <p:spPr>
          <a:xfrm>
            <a:off x="320040" y="3072384"/>
            <a:ext cx="329184" cy="329184"/>
          </a:xfrm>
          <a:prstGeom prst="ellipse">
            <a:avLst/>
          </a:prstGeom>
          <a:solidFill>
            <a:srgbClr val="7DAE5C"/>
          </a:solidFill>
          <a:ln/>
        </p:spPr>
      </p:sp>
      <p:sp>
        <p:nvSpPr>
          <p:cNvPr id="16" name="Text 14"/>
          <p:cNvSpPr/>
          <p:nvPr/>
        </p:nvSpPr>
        <p:spPr>
          <a:xfrm>
            <a:off x="320040" y="3072384"/>
            <a:ext cx="329184" cy="329184"/>
          </a:xfrm>
          <a:prstGeom prst="rect">
            <a:avLst/>
          </a:prstGeom>
          <a:noFill/>
          <a:ln/>
        </p:spPr>
        <p:txBody>
          <a:bodyPr wrap="square" lIns="0" tIns="0" rIns="0" bIns="0" rtlCol="0" anchor="ctr"/>
          <a:lstStyle/>
          <a:p>
            <a:pPr algn="ctr" indent="0" marL="0">
              <a:buNone/>
            </a:pPr>
            <a:r>
              <a:rPr lang="en-US" sz="1200" b="1" dirty="0">
                <a:solidFill>
                  <a:srgbClr val="1B2A4A"/>
                </a:solidFill>
                <a:latin typeface="Cambria" pitchFamily="34" charset="0"/>
                <a:ea typeface="Cambria" pitchFamily="34" charset="-122"/>
                <a:cs typeface="Cambria" pitchFamily="34" charset="-120"/>
              </a:rPr>
              <a:t>5</a:t>
            </a:r>
            <a:endParaRPr lang="en-US" sz="1200" dirty="0"/>
          </a:p>
        </p:txBody>
      </p:sp>
      <p:sp>
        <p:nvSpPr>
          <p:cNvPr id="17" name="Text 15"/>
          <p:cNvSpPr/>
          <p:nvPr/>
        </p:nvSpPr>
        <p:spPr>
          <a:xfrm>
            <a:off x="804672" y="3017520"/>
            <a:ext cx="7973568" cy="4572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Does using Claude (an AI coding tool) to help write code affect my inventorship rights or copyright ownership of the codebase?</a:t>
            </a:r>
            <a:endParaRPr lang="en-US" sz="1200" dirty="0"/>
          </a:p>
        </p:txBody>
      </p:sp>
      <p:sp>
        <p:nvSpPr>
          <p:cNvPr id="18" name="Shape 16"/>
          <p:cNvSpPr/>
          <p:nvPr/>
        </p:nvSpPr>
        <p:spPr>
          <a:xfrm>
            <a:off x="320040" y="3630168"/>
            <a:ext cx="329184" cy="329184"/>
          </a:xfrm>
          <a:prstGeom prst="ellipse">
            <a:avLst/>
          </a:prstGeom>
          <a:solidFill>
            <a:srgbClr val="7DAE5C"/>
          </a:solidFill>
          <a:ln/>
        </p:spPr>
      </p:sp>
      <p:sp>
        <p:nvSpPr>
          <p:cNvPr id="19" name="Text 17"/>
          <p:cNvSpPr/>
          <p:nvPr/>
        </p:nvSpPr>
        <p:spPr>
          <a:xfrm>
            <a:off x="320040" y="3630168"/>
            <a:ext cx="329184" cy="329184"/>
          </a:xfrm>
          <a:prstGeom prst="rect">
            <a:avLst/>
          </a:prstGeom>
          <a:noFill/>
          <a:ln/>
        </p:spPr>
        <p:txBody>
          <a:bodyPr wrap="square" lIns="0" tIns="0" rIns="0" bIns="0" rtlCol="0" anchor="ctr"/>
          <a:lstStyle/>
          <a:p>
            <a:pPr algn="ctr" indent="0" marL="0">
              <a:buNone/>
            </a:pPr>
            <a:r>
              <a:rPr lang="en-US" sz="1200" b="1" dirty="0">
                <a:solidFill>
                  <a:srgbClr val="1B2A4A"/>
                </a:solidFill>
                <a:latin typeface="Cambria" pitchFamily="34" charset="0"/>
                <a:ea typeface="Cambria" pitchFamily="34" charset="-122"/>
                <a:cs typeface="Cambria" pitchFamily="34" charset="-120"/>
              </a:rPr>
              <a:t>6</a:t>
            </a:r>
            <a:endParaRPr lang="en-US" sz="1200" dirty="0"/>
          </a:p>
        </p:txBody>
      </p:sp>
      <p:sp>
        <p:nvSpPr>
          <p:cNvPr id="20" name="Text 18"/>
          <p:cNvSpPr/>
          <p:nvPr/>
        </p:nvSpPr>
        <p:spPr>
          <a:xfrm>
            <a:off x="804672" y="3575304"/>
            <a:ext cx="7973568" cy="4572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What IP assignment documents do I need in place before bringing on any co-founders, employees, or investors?</a:t>
            </a:r>
            <a:endParaRPr lang="en-US" sz="1200" dirty="0"/>
          </a:p>
        </p:txBody>
      </p:sp>
      <p:sp>
        <p:nvSpPr>
          <p:cNvPr id="21" name="Shape 19"/>
          <p:cNvSpPr/>
          <p:nvPr/>
        </p:nvSpPr>
        <p:spPr>
          <a:xfrm>
            <a:off x="320040" y="4187952"/>
            <a:ext cx="329184" cy="329184"/>
          </a:xfrm>
          <a:prstGeom prst="ellipse">
            <a:avLst/>
          </a:prstGeom>
          <a:solidFill>
            <a:srgbClr val="7DAE5C"/>
          </a:solidFill>
          <a:ln/>
        </p:spPr>
      </p:sp>
      <p:sp>
        <p:nvSpPr>
          <p:cNvPr id="22" name="Text 20"/>
          <p:cNvSpPr/>
          <p:nvPr/>
        </p:nvSpPr>
        <p:spPr>
          <a:xfrm>
            <a:off x="320040" y="4187952"/>
            <a:ext cx="329184" cy="329184"/>
          </a:xfrm>
          <a:prstGeom prst="rect">
            <a:avLst/>
          </a:prstGeom>
          <a:noFill/>
          <a:ln/>
        </p:spPr>
        <p:txBody>
          <a:bodyPr wrap="square" lIns="0" tIns="0" rIns="0" bIns="0" rtlCol="0" anchor="ctr"/>
          <a:lstStyle/>
          <a:p>
            <a:pPr algn="ctr" indent="0" marL="0">
              <a:buNone/>
            </a:pPr>
            <a:r>
              <a:rPr lang="en-US" sz="1200" b="1" dirty="0">
                <a:solidFill>
                  <a:srgbClr val="1B2A4A"/>
                </a:solidFill>
                <a:latin typeface="Cambria" pitchFamily="34" charset="0"/>
                <a:ea typeface="Cambria" pitchFamily="34" charset="-122"/>
                <a:cs typeface="Cambria" pitchFamily="34" charset="-120"/>
              </a:rPr>
              <a:t>7</a:t>
            </a:r>
            <a:endParaRPr lang="en-US" sz="1200" dirty="0"/>
          </a:p>
        </p:txBody>
      </p:sp>
      <p:sp>
        <p:nvSpPr>
          <p:cNvPr id="23" name="Text 21"/>
          <p:cNvSpPr/>
          <p:nvPr/>
        </p:nvSpPr>
        <p:spPr>
          <a:xfrm>
            <a:off x="804672" y="4133088"/>
            <a:ext cx="7973568" cy="4572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Is a design patent viable for the pixel art food character visual aesthetic — the specific look of the characters?</a:t>
            </a:r>
            <a:endParaRPr lang="en-US" sz="1200" dirty="0"/>
          </a:p>
        </p:txBody>
      </p:sp>
      <p:sp>
        <p:nvSpPr>
          <p:cNvPr id="24" name="Text 22"/>
          <p:cNvSpPr/>
          <p:nvPr/>
        </p:nvSpPr>
        <p:spPr>
          <a:xfrm>
            <a:off x="365760" y="4864608"/>
            <a:ext cx="8412480" cy="201168"/>
          </a:xfrm>
          <a:prstGeom prst="rect">
            <a:avLst/>
          </a:prstGeom>
          <a:noFill/>
          <a:ln/>
        </p:spPr>
        <p:txBody>
          <a:bodyPr wrap="square" lIns="0" tIns="0" rIns="0" bIns="0" rtlCol="0" anchor="ctr"/>
          <a:lstStyle/>
          <a:p>
            <a:pPr algn="ctr" indent="0" marL="0">
              <a:buNone/>
            </a:pPr>
            <a:r>
              <a:rPr lang="en-US" sz="950" dirty="0">
                <a:solidFill>
                  <a:srgbClr val="8EB4E3"/>
                </a:solidFill>
                <a:latin typeface="Calibri" pitchFamily="34" charset="0"/>
                <a:ea typeface="Calibri" pitchFamily="34" charset="-122"/>
                <a:cs typeface="Calibri" pitchFamily="34" charset="-120"/>
              </a:rPr>
              <a:t>Inventor: Olive Phillips  ·  July 24, 2026  ·  Confidential — Attorney-Client Privilege</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 In — Patent Attorney Briefing v2</dc:title>
  <dc:subject>PptxGenJS Presentation</dc:subject>
  <dc:creator>Olive Phillips</dc:creator>
  <cp:lastModifiedBy>Olive Phillips</cp:lastModifiedBy>
  <cp:revision>1</cp:revision>
  <dcterms:created xsi:type="dcterms:W3CDTF">2026-07-24T14:15:04Z</dcterms:created>
  <dcterms:modified xsi:type="dcterms:W3CDTF">2026-07-24T14:15:04Z</dcterms:modified>
</cp:coreProperties>
</file>