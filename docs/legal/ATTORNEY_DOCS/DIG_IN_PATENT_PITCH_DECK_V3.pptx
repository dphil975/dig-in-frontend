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V3 updated briefing. The most significant change since V2: I've now surveyed my actual codebase to provide concrete technical evidence for each system. Every claim in this deck references a real file or module I've built. Key updates: (1) National expansion is already coded — Texas and Illinois store maps are live in the codebase. (2) Nova AI is a new sixth system layer using OpenAI with 3 distinct modes. (3) The backend is dual — Python/Flask + Node.js/Express running in Docker. (4) Prometheus monitoring is already wired, showing production-readiness.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version reflects the actual codebase I've built. The frontend now has 58+ pages — not just the core recipe and map pages, but also: RuralTrend (food access equity), CityExplorer, CommuteRoute (grocery on your commute), CarPlayDashboard (Apple CarPlay integration), ReelFeed (video sharing), FusionBuilder, ChaosNight, GirlDinner, ZeroProof (mocktails), MemoryVault, CopycatLab, BarcodeScanner, DrinkScan, and more. The backend is now two separate servers running in Docker: Python/Flask for ML and data intelligence, Node.js/Express for API routing. Production monitoring via Prometheus is already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updated System 04 for this V3 briefing. In V2 it was called 'Ingredient Substitution Engine.' It has since expanded into a full Deep AI Recipe and Science Intelligence layer — Nova AI (OpenAI-backed, 3 modes), chemical_knowledge_graph.py (molecular food science), thermodynamic_engine.py (cooking physics), tcm_food_culture_engine.py (Traditional Chinese Medicine food principles), food_science_encyclopedia_engine.py, and nutrition_science_engine.py. The substitution engine is now one module within a much larger scientific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pipeline is real and already instrumented for production. Prometheus metrics — flask_requests_total, extraction_duration — are running in main.py right now. The frontend behaviorTracker.js service captures events from 58 pages and routes them through the Node.js /training endpoint into the Python behavioral intelligence layer. The A/B analytics route (ab-analytics.js) means I'm already designed to test data collection variants. This is not a concept — it is a built, monitored, dual-backend data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for V3: the life-stage craving tracking is a distinctive addition I want to discuss. cravingTracker.js includes specific craving patterns for pregnancy and postpartum users — mapped to the same 8-flavor vocabulary so they integrate directly with recipe recommendations. This is a medically sensitive but commercially important market (prenatal nutrition apps). Also new: the RuralTrend page uses OSRM open-source routing — no paid Google Maps API — specifically designed to cover rural food deserts where SNAP/WIC access is a critical use case. This expands the addressable market beyond urban grocery stores to food equity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gamification architecture is real and interconnected. The useCoins React hook is shared app-wide — earning coins at a store check-in immediately updates the pixel art avatar shop's purchase power. The borough_badges.py module already implements geography-specific badges for NYC boroughs — this is the pattern I'll scale to all 50 states: Texas state badge, Chicago neighborhood badges, etc. Each badge type becomes a new data point in the behavioral intelligence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Nova AI is the most significant new system since V2. novaAI.js calls the /api/recipe-ai endpoint (OpenAI-backed) in three modes: ask (cooking Q&amp;A), photo (vision critique of an in-progress cook photo), and trending (area-specific dish trends). The vision critique mode — where the app looks at a photo of your half-cooked dish and tells you if it looks right — is novel. No recipe app does real-time photo cooking critique. The chemical_knowledge_graph.py module is also a potential trade secret: it maps molecular flavor compounds between ingredients — proprietary science that could be worth protecting separately from the patent.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pixel art system is more technically sophisticated than V2 described. The pixelArt.js file includes a real median-cut color quantization algorithm — this is standard computer science but its application to food photos in a recipe app is novel. A user can take a photo of a dish they just cooked, and the app converts it to pixel art in their chosen palette. The Lego Bricks palette uses the actual official LEGO® brick catalog color names — Bright Red, Bright Blue, etc. The DiscoverGBA component renders the recipe discovery interface in a Game Boy Advance-inspired UI — a distinctive aesthetic that strengthens the design patent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I've updated the prior art table in V3 to add Allrecipes and Food Network since they are the closest competitors for recipe content. Neither has the real-world check-in mechanic, B2B data layer, or the Nova AI photo critique. The key distinction is still the integrated combination — the dual-sided architecture (consumer app + B2B data intelligence sold back to retailers) is what no competitor has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for V3: Pillar 4 is Nova AI — the photo cooking critique is a new moat that wasn't in V2. I want to discuss whether the combination of vision AI + food science data (chemical_knowledge_graph.py, thermodynamic_engine.py) in a single cooking assistant constitutes a protectable trade secret. The chemical knowledge graph is proprietary science I've built — it maps molecular flavor compounds between ingredients. That specific dataset may be more valuable as a trade secret than as a patent, since patents require disclosure.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urgent update since V2. Multi-state expansion is no longer a plan — it is in the code. Texas and Illinois store maps are fully implemented. zipToState.js routes any ZIP in the country to the right state. This means the '50-state' claim is not aspirational — it is the designed architecture, and the Texas and Illinois files are evidence of first use in those states. I need your guidance on when the PCT filing window starts and whether operating in Texas and Illinois requires separate state filings for any of the five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timeline has been updated for V3 with real module names. Key new entries: June 18 is when chemical_knowledge_graph.py and thermodynamic_engine.py were built — those are priority date claims for the science intelligence system. The national expansion line shows TexasStoreMap and ChicagoStoreMap were added in June-July. The full git log with exact timestamps is available for review. The Docker containerization (Dockerfile, Dockerfile.python, docker-compose.yml) and render.yaml show production deployment was planned and implemented — not just a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new questions in V3 vs. V2: Question 5 is new — Nova AI uses OpenAI. I need to understand whether using a third-party AI API for features like photo cooking critique creates any IP complications (does OpenAI have any claim on outputs?). Question 6 is new and important: the chemical_knowledge_graph.py is proprietary science. I want to discuss whether trade secret protection is better than a patent here — since a patent requires public disclosure of the molecular mapping methodology. Question 2 is updated: Texas and Illinois are now coded (not just planned), so the PCT window question is more urgent than in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201168" y="201168"/>
            <a:ext cx="118872" cy="118872"/>
          </a:xfrm>
          <a:prstGeom prst="rect">
            <a:avLst/>
          </a:prstGeom>
          <a:solidFill>
            <a:srgbClr val="7DAE5C">
              <a:alpha val="75000"/>
            </a:srgbClr>
          </a:solidFill>
          <a:ln/>
        </p:spPr>
      </p:sp>
      <p:sp>
        <p:nvSpPr>
          <p:cNvPr id="3" name="Shape 1"/>
          <p:cNvSpPr/>
          <p:nvPr/>
        </p:nvSpPr>
        <p:spPr>
          <a:xfrm>
            <a:off x="347472" y="201168"/>
            <a:ext cx="118872" cy="118872"/>
          </a:xfrm>
          <a:prstGeom prst="rect">
            <a:avLst/>
          </a:prstGeom>
          <a:solidFill>
            <a:srgbClr val="7DAE5C">
              <a:alpha val="75000"/>
            </a:srgbClr>
          </a:solidFill>
          <a:ln/>
        </p:spPr>
      </p:sp>
      <p:sp>
        <p:nvSpPr>
          <p:cNvPr id="4" name="Shape 2"/>
          <p:cNvSpPr/>
          <p:nvPr/>
        </p:nvSpPr>
        <p:spPr>
          <a:xfrm>
            <a:off x="493776" y="201168"/>
            <a:ext cx="118872" cy="118872"/>
          </a:xfrm>
          <a:prstGeom prst="rect">
            <a:avLst/>
          </a:prstGeom>
          <a:solidFill>
            <a:srgbClr val="7DAE5C">
              <a:alpha val="75000"/>
            </a:srgbClr>
          </a:solidFill>
          <a:ln/>
        </p:spPr>
      </p:sp>
      <p:sp>
        <p:nvSpPr>
          <p:cNvPr id="5" name="Shape 3"/>
          <p:cNvSpPr/>
          <p:nvPr/>
        </p:nvSpPr>
        <p:spPr>
          <a:xfrm>
            <a:off x="201168" y="347472"/>
            <a:ext cx="118872" cy="118872"/>
          </a:xfrm>
          <a:prstGeom prst="rect">
            <a:avLst/>
          </a:prstGeom>
          <a:solidFill>
            <a:srgbClr val="7DAE5C">
              <a:alpha val="75000"/>
            </a:srgbClr>
          </a:solidFill>
          <a:ln/>
        </p:spPr>
      </p:sp>
      <p:sp>
        <p:nvSpPr>
          <p:cNvPr id="6" name="Shape 4"/>
          <p:cNvSpPr/>
          <p:nvPr/>
        </p:nvSpPr>
        <p:spPr>
          <a:xfrm>
            <a:off x="493776" y="347472"/>
            <a:ext cx="118872" cy="118872"/>
          </a:xfrm>
          <a:prstGeom prst="rect">
            <a:avLst/>
          </a:prstGeom>
          <a:solidFill>
            <a:srgbClr val="7DAE5C">
              <a:alpha val="75000"/>
            </a:srgbClr>
          </a:solidFill>
          <a:ln/>
        </p:spPr>
      </p:sp>
      <p:sp>
        <p:nvSpPr>
          <p:cNvPr id="7" name="Shape 5"/>
          <p:cNvSpPr/>
          <p:nvPr/>
        </p:nvSpPr>
        <p:spPr>
          <a:xfrm>
            <a:off x="201168" y="493776"/>
            <a:ext cx="118872" cy="118872"/>
          </a:xfrm>
          <a:prstGeom prst="rect">
            <a:avLst/>
          </a:prstGeom>
          <a:solidFill>
            <a:srgbClr val="7DAE5C">
              <a:alpha val="75000"/>
            </a:srgbClr>
          </a:solidFill>
          <a:ln/>
        </p:spPr>
      </p:sp>
      <p:sp>
        <p:nvSpPr>
          <p:cNvPr id="8" name="Shape 6"/>
          <p:cNvSpPr/>
          <p:nvPr/>
        </p:nvSpPr>
        <p:spPr>
          <a:xfrm>
            <a:off x="347472" y="493776"/>
            <a:ext cx="118872" cy="118872"/>
          </a:xfrm>
          <a:prstGeom prst="rect">
            <a:avLst/>
          </a:prstGeom>
          <a:solidFill>
            <a:srgbClr val="7DAE5C">
              <a:alpha val="75000"/>
            </a:srgbClr>
          </a:solidFill>
          <a:ln/>
        </p:spPr>
      </p:sp>
      <p:sp>
        <p:nvSpPr>
          <p:cNvPr id="9" name="Shape 7"/>
          <p:cNvSpPr/>
          <p:nvPr/>
        </p:nvSpPr>
        <p:spPr>
          <a:xfrm>
            <a:off x="493776" y="493776"/>
            <a:ext cx="118872" cy="118872"/>
          </a:xfrm>
          <a:prstGeom prst="rect">
            <a:avLst/>
          </a:prstGeom>
          <a:solidFill>
            <a:srgbClr val="7DAE5C">
              <a:alpha val="75000"/>
            </a:srgbClr>
          </a:solidFill>
          <a:ln/>
        </p:spPr>
      </p:sp>
      <p:sp>
        <p:nvSpPr>
          <p:cNvPr id="10" name="Shape 8"/>
          <p:cNvSpPr/>
          <p:nvPr/>
        </p:nvSpPr>
        <p:spPr>
          <a:xfrm>
            <a:off x="8412480" y="4617720"/>
            <a:ext cx="118872" cy="118872"/>
          </a:xfrm>
          <a:prstGeom prst="rect">
            <a:avLst/>
          </a:prstGeom>
          <a:solidFill>
            <a:srgbClr val="7DAE5C">
              <a:alpha val="75000"/>
            </a:srgbClr>
          </a:solidFill>
          <a:ln/>
        </p:spPr>
      </p:sp>
      <p:sp>
        <p:nvSpPr>
          <p:cNvPr id="11" name="Shape 9"/>
          <p:cNvSpPr/>
          <p:nvPr/>
        </p:nvSpPr>
        <p:spPr>
          <a:xfrm>
            <a:off x="8558784" y="4617720"/>
            <a:ext cx="118872" cy="118872"/>
          </a:xfrm>
          <a:prstGeom prst="rect">
            <a:avLst/>
          </a:prstGeom>
          <a:solidFill>
            <a:srgbClr val="7DAE5C">
              <a:alpha val="75000"/>
            </a:srgbClr>
          </a:solidFill>
          <a:ln/>
        </p:spPr>
      </p:sp>
      <p:sp>
        <p:nvSpPr>
          <p:cNvPr id="12" name="Shape 10"/>
          <p:cNvSpPr/>
          <p:nvPr/>
        </p:nvSpPr>
        <p:spPr>
          <a:xfrm>
            <a:off x="8705088" y="4617720"/>
            <a:ext cx="118872" cy="118872"/>
          </a:xfrm>
          <a:prstGeom prst="rect">
            <a:avLst/>
          </a:prstGeom>
          <a:solidFill>
            <a:srgbClr val="7DAE5C">
              <a:alpha val="75000"/>
            </a:srgbClr>
          </a:solidFill>
          <a:ln/>
        </p:spPr>
      </p:sp>
      <p:sp>
        <p:nvSpPr>
          <p:cNvPr id="13" name="Shape 11"/>
          <p:cNvSpPr/>
          <p:nvPr/>
        </p:nvSpPr>
        <p:spPr>
          <a:xfrm>
            <a:off x="8412480" y="4764024"/>
            <a:ext cx="118872" cy="118872"/>
          </a:xfrm>
          <a:prstGeom prst="rect">
            <a:avLst/>
          </a:prstGeom>
          <a:solidFill>
            <a:srgbClr val="7DAE5C">
              <a:alpha val="75000"/>
            </a:srgbClr>
          </a:solidFill>
          <a:ln/>
        </p:spPr>
      </p:sp>
      <p:sp>
        <p:nvSpPr>
          <p:cNvPr id="14" name="Shape 12"/>
          <p:cNvSpPr/>
          <p:nvPr/>
        </p:nvSpPr>
        <p:spPr>
          <a:xfrm>
            <a:off x="8705088" y="4764024"/>
            <a:ext cx="118872" cy="118872"/>
          </a:xfrm>
          <a:prstGeom prst="rect">
            <a:avLst/>
          </a:prstGeom>
          <a:solidFill>
            <a:srgbClr val="7DAE5C">
              <a:alpha val="75000"/>
            </a:srgbClr>
          </a:solidFill>
          <a:ln/>
        </p:spPr>
      </p:sp>
      <p:sp>
        <p:nvSpPr>
          <p:cNvPr id="15" name="Shape 13"/>
          <p:cNvSpPr/>
          <p:nvPr/>
        </p:nvSpPr>
        <p:spPr>
          <a:xfrm>
            <a:off x="8412480" y="4910328"/>
            <a:ext cx="118872" cy="118872"/>
          </a:xfrm>
          <a:prstGeom prst="rect">
            <a:avLst/>
          </a:prstGeom>
          <a:solidFill>
            <a:srgbClr val="7DAE5C">
              <a:alpha val="75000"/>
            </a:srgbClr>
          </a:solidFill>
          <a:ln/>
        </p:spPr>
      </p:sp>
      <p:sp>
        <p:nvSpPr>
          <p:cNvPr id="16" name="Shape 14"/>
          <p:cNvSpPr/>
          <p:nvPr/>
        </p:nvSpPr>
        <p:spPr>
          <a:xfrm>
            <a:off x="8558784" y="4910328"/>
            <a:ext cx="118872" cy="118872"/>
          </a:xfrm>
          <a:prstGeom prst="rect">
            <a:avLst/>
          </a:prstGeom>
          <a:solidFill>
            <a:srgbClr val="7DAE5C">
              <a:alpha val="75000"/>
            </a:srgbClr>
          </a:solidFill>
          <a:ln/>
        </p:spPr>
      </p:sp>
      <p:sp>
        <p:nvSpPr>
          <p:cNvPr id="17" name="Shape 15"/>
          <p:cNvSpPr/>
          <p:nvPr/>
        </p:nvSpPr>
        <p:spPr>
          <a:xfrm>
            <a:off x="8705088" y="4910328"/>
            <a:ext cx="118872" cy="118872"/>
          </a:xfrm>
          <a:prstGeom prst="rect">
            <a:avLst/>
          </a:prstGeom>
          <a:solidFill>
            <a:srgbClr val="7DAE5C">
              <a:alpha val="75000"/>
            </a:srgbClr>
          </a:solidFill>
          <a:ln/>
        </p:spPr>
      </p:sp>
      <p:sp>
        <p:nvSpPr>
          <p:cNvPr id="18" name="Text 16"/>
          <p:cNvSpPr/>
          <p:nvPr/>
        </p:nvSpPr>
        <p:spPr>
          <a:xfrm>
            <a:off x="457200" y="960120"/>
            <a:ext cx="8229600" cy="137160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DIG IN</a:t>
            </a:r>
            <a:endParaRPr lang="en-US" sz="8000" dirty="0"/>
          </a:p>
        </p:txBody>
      </p:sp>
      <p:sp>
        <p:nvSpPr>
          <p:cNvPr id="19" name="Text 17"/>
          <p:cNvSpPr/>
          <p:nvPr/>
        </p:nvSpPr>
        <p:spPr>
          <a:xfrm>
            <a:off x="457200" y="2377440"/>
            <a:ext cx="8229600" cy="530352"/>
          </a:xfrm>
          <a:prstGeom prst="rect">
            <a:avLst/>
          </a:prstGeom>
          <a:noFill/>
          <a:ln/>
        </p:spPr>
        <p:txBody>
          <a:bodyPr wrap="square" lIns="0" tIns="0" rIns="0" bIns="0" rtlCol="0" anchor="ctr"/>
          <a:lstStyle/>
          <a:p>
            <a:pPr algn="ctr" indent="0" marL="0">
              <a:buNone/>
            </a:pPr>
            <a:r>
              <a:rPr lang="en-US" sz="2400" dirty="0">
                <a:solidFill>
                  <a:srgbClr val="7DAE5C"/>
                </a:solidFill>
                <a:latin typeface="Calibri" pitchFamily="34" charset="0"/>
                <a:ea typeface="Calibri" pitchFamily="34" charset="-122"/>
                <a:cs typeface="Calibri" pitchFamily="34" charset="-120"/>
              </a:rPr>
              <a:t>Patent Attorney Briefing  ·  V3  ·  Technical Implementation Update</a:t>
            </a:r>
            <a:endParaRPr lang="en-US" sz="2400" dirty="0"/>
          </a:p>
        </p:txBody>
      </p:sp>
      <p:sp>
        <p:nvSpPr>
          <p:cNvPr id="20" name="Text 18"/>
          <p:cNvSpPr/>
          <p:nvPr/>
        </p:nvSpPr>
        <p:spPr>
          <a:xfrm>
            <a:off x="457200" y="2944368"/>
            <a:ext cx="8229600" cy="365760"/>
          </a:xfrm>
          <a:prstGeom prst="rect">
            <a:avLst/>
          </a:prstGeom>
          <a:noFill/>
          <a:ln/>
        </p:spPr>
        <p:txBody>
          <a:bodyPr wrap="square" lIns="0" tIns="0" rIns="0" bIns="0" rtlCol="0" anchor="ctr"/>
          <a:lstStyle/>
          <a:p>
            <a:pPr algn="ctr" indent="0" marL="0">
              <a:buNone/>
            </a:pPr>
            <a:r>
              <a:rPr lang="en-US" sz="1500" i="1" dirty="0">
                <a:solidFill>
                  <a:srgbClr val="8EB4E3"/>
                </a:solidFill>
                <a:latin typeface="Calibri" pitchFamily="34" charset="0"/>
                <a:ea typeface="Calibri" pitchFamily="34" charset="-122"/>
                <a:cs typeface="Calibri" pitchFamily="34" charset="-120"/>
              </a:rPr>
              <a:t>Dual-Sided Food Technology Platform  ·  Dual Backend Architecture  ·  National Expansion in Code</a:t>
            </a:r>
            <a:endParaRPr lang="en-US" sz="1500" dirty="0"/>
          </a:p>
        </p:txBody>
      </p:sp>
      <p:sp>
        <p:nvSpPr>
          <p:cNvPr id="21" name="Text 19"/>
          <p:cNvSpPr/>
          <p:nvPr/>
        </p:nvSpPr>
        <p:spPr>
          <a:xfrm>
            <a:off x="457200" y="3703320"/>
            <a:ext cx="8229600" cy="320040"/>
          </a:xfrm>
          <a:prstGeom prst="rect">
            <a:avLst/>
          </a:prstGeom>
          <a:noFill/>
          <a:ln/>
        </p:spPr>
        <p:txBody>
          <a:bodyPr wrap="square" lIns="0" tIns="0" rIns="0" bIns="0" rtlCol="0" anchor="ctr"/>
          <a:lstStyle/>
          <a:p>
            <a:pPr algn="ctr" indent="0" marL="0">
              <a:buNone/>
            </a:pPr>
            <a:r>
              <a:rPr lang="en-US" sz="1300" dirty="0">
                <a:solidFill>
                  <a:srgbClr val="8EB4E3"/>
                </a:solidFill>
                <a:latin typeface="Calibri" pitchFamily="34" charset="0"/>
                <a:ea typeface="Calibri" pitchFamily="34" charset="-122"/>
                <a:cs typeface="Calibri" pitchFamily="34" charset="-120"/>
              </a:rPr>
              <a:t>Inventor: Olive Phillips  ·  daniellephllps5@gmail.com  ·  July 24, 2026</a:t>
            </a:r>
            <a:endParaRPr lang="en-US" sz="1300" dirty="0"/>
          </a:p>
        </p:txBody>
      </p:sp>
      <p:sp>
        <p:nvSpPr>
          <p:cNvPr id="22" name="Text 20"/>
          <p:cNvSpPr/>
          <p:nvPr/>
        </p:nvSpPr>
        <p:spPr>
          <a:xfrm>
            <a:off x="457200" y="4663440"/>
            <a:ext cx="8229600" cy="256032"/>
          </a:xfrm>
          <a:prstGeom prst="rect">
            <a:avLst/>
          </a:prstGeom>
          <a:noFill/>
          <a:ln/>
        </p:spPr>
        <p:txBody>
          <a:bodyPr wrap="square" lIns="0" tIns="0" rIns="0" bIns="0" rtlCol="0" anchor="ctr"/>
          <a:lstStyle/>
          <a:p>
            <a:pPr algn="ctr" indent="0" marL="0">
              <a:buNone/>
            </a:pPr>
            <a:r>
              <a:rPr lang="en-US" sz="1100" b="1" spc="200" kern="0" dirty="0">
                <a:solidFill>
                  <a:srgbClr val="D4AF37"/>
                </a:solidFill>
                <a:latin typeface="Calibri" pitchFamily="34" charset="0"/>
                <a:ea typeface="Calibri" pitchFamily="34" charset="-122"/>
                <a:cs typeface="Calibri" pitchFamily="34" charset="-120"/>
              </a:rPr>
              <a:t>CONFIDENTIAL  —  ATTORNEY-CLIENT PRIVILEGE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56032"/>
            <a:ext cx="8412480" cy="548640"/>
          </a:xfrm>
          <a:prstGeom prst="rect">
            <a:avLst/>
          </a:prstGeom>
          <a:noFill/>
          <a:ln/>
        </p:spPr>
        <p:txBody>
          <a:bodyPr wrap="square" lIns="0" tIns="0" rIns="0" bIns="0" rtlCol="0" anchor="ctr"/>
          <a:lstStyle/>
          <a:p>
            <a:pPr indent="0" marL="0">
              <a:buNone/>
            </a:pPr>
            <a:r>
              <a:rPr lang="en-US" sz="3600" b="1" dirty="0">
                <a:solidFill>
                  <a:srgbClr val="1B2A4A"/>
                </a:solidFill>
                <a:latin typeface="Cambria" pitchFamily="34" charset="0"/>
                <a:ea typeface="Cambria" pitchFamily="34" charset="-122"/>
                <a:cs typeface="Cambria" pitchFamily="34" charset="-120"/>
              </a:rPr>
              <a:t>What Is Dig In?</a:t>
            </a:r>
            <a:endParaRPr lang="en-US" sz="3600" dirty="0"/>
          </a:p>
        </p:txBody>
      </p:sp>
      <p:sp>
        <p:nvSpPr>
          <p:cNvPr id="3" name="Shape 1"/>
          <p:cNvSpPr/>
          <p:nvPr/>
        </p:nvSpPr>
        <p:spPr>
          <a:xfrm>
            <a:off x="320040" y="960120"/>
            <a:ext cx="3931920" cy="3246120"/>
          </a:xfrm>
          <a:prstGeom prst="roundRect">
            <a:avLst>
              <a:gd name="adj" fmla="val 2817"/>
            </a:avLst>
          </a:prstGeom>
          <a:solidFill>
            <a:srgbClr val="F0F4F8"/>
          </a:solidFill>
          <a:ln/>
          <a:effectLst>
            <a:outerShdw sx="100000" sy="100000" kx="0" ky="0" algn="bl" rotWithShape="0" blurRad="101600" dist="38100" dir="2700000">
              <a:srgbClr val="000000">
                <a:alpha val="12000"/>
              </a:srgbClr>
            </a:outerShdw>
          </a:effectLst>
        </p:spPr>
      </p:sp>
      <p:sp>
        <p:nvSpPr>
          <p:cNvPr id="4" name="Text 2"/>
          <p:cNvSpPr/>
          <p:nvPr/>
        </p:nvSpPr>
        <p:spPr>
          <a:xfrm>
            <a:off x="411480" y="1069848"/>
            <a:ext cx="3749040" cy="274320"/>
          </a:xfrm>
          <a:prstGeom prst="rect">
            <a:avLst/>
          </a:prstGeom>
          <a:noFill/>
          <a:ln/>
        </p:spPr>
        <p:txBody>
          <a:bodyPr wrap="square" lIns="0" tIns="0" rIns="0" bIns="0" rtlCol="0" anchor="ctr"/>
          <a:lstStyle/>
          <a:p>
            <a:pPr algn="ctr" indent="0" marL="0">
              <a:buNone/>
            </a:pPr>
            <a:r>
              <a:rPr lang="en-US" sz="1050" b="1" spc="200" kern="0" dirty="0">
                <a:solidFill>
                  <a:srgbClr val="7DAE5C"/>
                </a:solidFill>
                <a:latin typeface="Calibri" pitchFamily="34" charset="0"/>
                <a:ea typeface="Calibri" pitchFamily="34" charset="-122"/>
                <a:cs typeface="Calibri" pitchFamily="34" charset="-120"/>
              </a:rPr>
              <a:t>CONSUMER APP</a:t>
            </a:r>
            <a:endParaRPr lang="en-US" sz="1050" dirty="0"/>
          </a:p>
        </p:txBody>
      </p:sp>
      <p:sp>
        <p:nvSpPr>
          <p:cNvPr id="5" name="Text 3"/>
          <p:cNvSpPr/>
          <p:nvPr/>
        </p:nvSpPr>
        <p:spPr>
          <a:xfrm>
            <a:off x="411480" y="1353312"/>
            <a:ext cx="3749040" cy="384048"/>
          </a:xfrm>
          <a:prstGeom prst="rect">
            <a:avLst/>
          </a:prstGeom>
          <a:noFill/>
          <a:ln/>
        </p:spPr>
        <p:txBody>
          <a:bodyPr wrap="square" lIns="0" tIns="0" rIns="0" bIns="0" rtlCol="0" anchor="ctr"/>
          <a:lstStyle/>
          <a:p>
            <a:pPr algn="ctr" indent="0" marL="0">
              <a:buNone/>
            </a:pPr>
            <a:r>
              <a:rPr lang="en-US" sz="1900" b="1" dirty="0">
                <a:solidFill>
                  <a:srgbClr val="1B2A4A"/>
                </a:solidFill>
                <a:latin typeface="Cambria" pitchFamily="34" charset="0"/>
                <a:ea typeface="Cambria" pitchFamily="34" charset="-122"/>
                <a:cs typeface="Cambria" pitchFamily="34" charset="-120"/>
              </a:rPr>
              <a:t>Gamified Food Discovery</a:t>
            </a:r>
            <a:endParaRPr lang="en-US" sz="1900" dirty="0"/>
          </a:p>
        </p:txBody>
      </p:sp>
      <p:sp>
        <p:nvSpPr>
          <p:cNvPr id="6" name="Text 4"/>
          <p:cNvSpPr/>
          <p:nvPr/>
        </p:nvSpPr>
        <p:spPr>
          <a:xfrm>
            <a:off x="457200" y="1938528"/>
            <a:ext cx="3657600" cy="2093976"/>
          </a:xfrm>
          <a:prstGeom prst="rect">
            <a:avLst/>
          </a:prstGeom>
          <a:noFill/>
          <a:ln/>
        </p:spPr>
        <p:txBody>
          <a:bodyPr wrap="square" rtlCol="0" anchor="ctr"/>
          <a:lstStyle/>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58+ pages: pixel map, craving compass, fusion builder, reel feed, rural trend, commute route, and more</a:t>
            </a:r>
            <a:endParaRPr lang="en-US" sz="1250" dirty="0"/>
          </a:p>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26,000+ recipes across 70+ countries with full cooking science layer</a:t>
            </a:r>
            <a:endParaRPr lang="en-US" sz="1250" dirty="0"/>
          </a:p>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Nova AI: OpenAI-powered assistant with photo cooking critique (3 AI modes)</a:t>
            </a:r>
            <a:endParaRPr lang="en-US" sz="1250" dirty="0"/>
          </a:p>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Coin rewards for real-world store check-ins + pixel art avatar economy</a:t>
            </a:r>
            <a:endParaRPr lang="en-US" sz="1250" dirty="0"/>
          </a:p>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60+ utility libraries, 10 services, 3 React hooks (useAuth, useCoins, useSave)</a:t>
            </a:r>
            <a:endParaRPr lang="en-US" sz="1250" dirty="0"/>
          </a:p>
        </p:txBody>
      </p:sp>
      <p:sp>
        <p:nvSpPr>
          <p:cNvPr id="7" name="Shape 5"/>
          <p:cNvSpPr/>
          <p:nvPr/>
        </p:nvSpPr>
        <p:spPr>
          <a:xfrm>
            <a:off x="4892040" y="960120"/>
            <a:ext cx="3931920" cy="3246120"/>
          </a:xfrm>
          <a:prstGeom prst="roundRect">
            <a:avLst>
              <a:gd name="adj" fmla="val 2817"/>
            </a:avLst>
          </a:prstGeom>
          <a:solidFill>
            <a:srgbClr val="EEF6E7"/>
          </a:solidFill>
          <a:ln/>
          <a:effectLst>
            <a:outerShdw sx="100000" sy="100000" kx="0" ky="0" algn="bl" rotWithShape="0" blurRad="101600" dist="38100" dir="2700000">
              <a:srgbClr val="000000">
                <a:alpha val="12000"/>
              </a:srgbClr>
            </a:outerShdw>
          </a:effectLst>
        </p:spPr>
      </p:sp>
      <p:sp>
        <p:nvSpPr>
          <p:cNvPr id="8" name="Text 6"/>
          <p:cNvSpPr/>
          <p:nvPr/>
        </p:nvSpPr>
        <p:spPr>
          <a:xfrm>
            <a:off x="4983480" y="1069848"/>
            <a:ext cx="374904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DUAL BACKEND + B2B INTELLIGENCE</a:t>
            </a:r>
            <a:endParaRPr lang="en-US" sz="950" dirty="0"/>
          </a:p>
        </p:txBody>
      </p:sp>
      <p:sp>
        <p:nvSpPr>
          <p:cNvPr id="9" name="Text 7"/>
          <p:cNvSpPr/>
          <p:nvPr/>
        </p:nvSpPr>
        <p:spPr>
          <a:xfrm>
            <a:off x="4983480" y="1353312"/>
            <a:ext cx="3749040" cy="384048"/>
          </a:xfrm>
          <a:prstGeom prst="rect">
            <a:avLst/>
          </a:prstGeom>
          <a:noFill/>
          <a:ln/>
        </p:spPr>
        <p:txBody>
          <a:bodyPr wrap="square" lIns="0" tIns="0" rIns="0" bIns="0" rtlCol="0" anchor="ctr"/>
          <a:lstStyle/>
          <a:p>
            <a:pPr algn="ctr" indent="0" marL="0">
              <a:buNone/>
            </a:pPr>
            <a:r>
              <a:rPr lang="en-US" sz="1900" b="1" dirty="0">
                <a:solidFill>
                  <a:srgbClr val="1B2A4A"/>
                </a:solidFill>
                <a:latin typeface="Cambria" pitchFamily="34" charset="0"/>
                <a:ea typeface="Cambria" pitchFamily="34" charset="-122"/>
                <a:cs typeface="Cambria" pitchFamily="34" charset="-120"/>
              </a:rPr>
              <a:t>National Retail Intelligence</a:t>
            </a:r>
            <a:endParaRPr lang="en-US" sz="1900" dirty="0"/>
          </a:p>
        </p:txBody>
      </p:sp>
      <p:sp>
        <p:nvSpPr>
          <p:cNvPr id="10" name="Text 8"/>
          <p:cNvSpPr/>
          <p:nvPr/>
        </p:nvSpPr>
        <p:spPr>
          <a:xfrm>
            <a:off x="5029200" y="2084832"/>
            <a:ext cx="3657600" cy="1947672"/>
          </a:xfrm>
          <a:prstGeom prst="rect">
            <a:avLst/>
          </a:prstGeom>
          <a:noFill/>
          <a:ln/>
        </p:spPr>
        <p:txBody>
          <a:bodyPr wrap="square" rtlCol="0" anchor="ctr"/>
          <a:lstStyle/>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Python/Flask: 35+ modules incl. behavioral_intelligence, craving_engine, chemical_knowledge_graph, thermodynamic_engine, TCM food culture engine</a:t>
            </a:r>
            <a:endParaRPr lang="en-US" sz="1250" dirty="0"/>
          </a:p>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Node.js/Express: 23 API routes incl. ab-analytics, feature-flags, training, vault, scanner</a:t>
            </a:r>
            <a:endParaRPr lang="en-US" sz="1250" dirty="0"/>
          </a:p>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Prometheus monitoring: flask_requests_total, extraction_duration already wired</a:t>
            </a:r>
            <a:endParaRPr lang="en-US" sz="1250" dirty="0"/>
          </a:p>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Docker (Dockerfile + Dockerfile.python + docker-compose.yml) + Render deployment (render.yaml)</a:t>
            </a:r>
            <a:endParaRPr lang="en-US" sz="1250" dirty="0"/>
          </a:p>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SHA-256 user ID hashing at point of collection — zero PII stored or transmitted</a:t>
            </a:r>
            <a:endParaRPr lang="en-US" sz="1250" dirty="0"/>
          </a:p>
        </p:txBody>
      </p:sp>
      <p:sp>
        <p:nvSpPr>
          <p:cNvPr id="11" name="Shape 9"/>
          <p:cNvSpPr/>
          <p:nvPr/>
        </p:nvSpPr>
        <p:spPr>
          <a:xfrm>
            <a:off x="4270248" y="2514600"/>
            <a:ext cx="603504" cy="0"/>
          </a:xfrm>
          <a:prstGeom prst="line">
            <a:avLst/>
          </a:prstGeom>
          <a:noFill/>
          <a:ln w="25400">
            <a:solidFill>
              <a:srgbClr val="7DAE5C"/>
            </a:solidFill>
            <a:prstDash val="solid"/>
          </a:ln>
        </p:spPr>
      </p:sp>
      <p:sp>
        <p:nvSpPr>
          <p:cNvPr id="12" name="Text 10"/>
          <p:cNvSpPr/>
          <p:nvPr/>
        </p:nvSpPr>
        <p:spPr>
          <a:xfrm>
            <a:off x="365760" y="4352544"/>
            <a:ext cx="8412480" cy="320040"/>
          </a:xfrm>
          <a:prstGeom prst="rect">
            <a:avLst/>
          </a:prstGeom>
          <a:noFill/>
          <a:ln/>
        </p:spPr>
        <p:txBody>
          <a:bodyPr wrap="square" lIns="0" tIns="0" rIns="0" bIns="0" rtlCol="0" anchor="ctr"/>
          <a:lstStyle/>
          <a:p>
            <a:pPr algn="ctr" indent="0" marL="0">
              <a:buNone/>
            </a:pPr>
            <a:r>
              <a:rPr lang="en-US" sz="1250" i="1" dirty="0">
                <a:solidFill>
                  <a:srgbClr val="2C4A7C"/>
                </a:solidFill>
                <a:latin typeface="Calibri" pitchFamily="34" charset="0"/>
                <a:ea typeface="Calibri" pitchFamily="34" charset="-122"/>
                <a:cs typeface="Calibri" pitchFamily="34" charset="-120"/>
              </a:rPr>
              <a:t>⟳  All 58+ pages generate behavioral data · Multi-state expansion already coded in TX and IL</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201168"/>
            <a:ext cx="8412480" cy="5486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Five Core Patentable Systems</a:t>
            </a:r>
            <a:endParaRPr lang="en-US" sz="3600" dirty="0"/>
          </a:p>
        </p:txBody>
      </p:sp>
      <p:sp>
        <p:nvSpPr>
          <p:cNvPr id="3" name="Text 1"/>
          <p:cNvSpPr/>
          <p:nvPr/>
        </p:nvSpPr>
        <p:spPr>
          <a:xfrm>
            <a:off x="365760" y="749808"/>
            <a:ext cx="8412480" cy="274320"/>
          </a:xfrm>
          <a:prstGeom prst="rect">
            <a:avLst/>
          </a:prstGeom>
          <a:noFill/>
          <a:ln/>
        </p:spPr>
        <p:txBody>
          <a:bodyPr wrap="square" lIns="0" tIns="0" rIns="0" bIns="0" rtlCol="0" anchor="ctr"/>
          <a:lstStyle/>
          <a:p>
            <a:pPr indent="0" marL="0">
              <a:buNone/>
            </a:pPr>
            <a:r>
              <a:rPr lang="en-US" sz="1300" i="1" dirty="0">
                <a:solidFill>
                  <a:srgbClr val="8EB4E3"/>
                </a:solidFill>
                <a:latin typeface="Calibri" pitchFamily="34" charset="0"/>
                <a:ea typeface="Calibri" pitchFamily="34" charset="-122"/>
                <a:cs typeface="Calibri" pitchFamily="34" charset="-120"/>
              </a:rPr>
              <a:t>Each system references real, production-written code files — not concepts. Together they form a defensible architecture no competitor has built.</a:t>
            </a:r>
            <a:endParaRPr lang="en-US" sz="1300" dirty="0"/>
          </a:p>
        </p:txBody>
      </p:sp>
      <p:sp>
        <p:nvSpPr>
          <p:cNvPr id="4" name="Shape 2"/>
          <p:cNvSpPr/>
          <p:nvPr/>
        </p:nvSpPr>
        <p:spPr>
          <a:xfrm>
            <a:off x="274320" y="117043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393192" y="126187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01</a:t>
            </a:r>
            <a:endParaRPr lang="en-US" sz="2200" dirty="0"/>
          </a:p>
        </p:txBody>
      </p:sp>
      <p:sp>
        <p:nvSpPr>
          <p:cNvPr id="6" name="Text 4"/>
          <p:cNvSpPr/>
          <p:nvPr/>
        </p:nvSpPr>
        <p:spPr>
          <a:xfrm>
            <a:off x="365760" y="166420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Behavioral Data Collection</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&amp; Monetization Pipeline</a:t>
            </a:r>
            <a:endParaRPr lang="en-US" sz="1250" dirty="0"/>
          </a:p>
        </p:txBody>
      </p:sp>
      <p:sp>
        <p:nvSpPr>
          <p:cNvPr id="7" name="Text 5"/>
          <p:cNvSpPr/>
          <p:nvPr/>
        </p:nvSpPr>
        <p:spPr>
          <a:xfrm>
            <a:off x="365760" y="2359152"/>
            <a:ext cx="2560320" cy="292608"/>
          </a:xfrm>
          <a:prstGeom prst="rect">
            <a:avLst/>
          </a:prstGeom>
          <a:noFill/>
          <a:ln/>
        </p:spPr>
        <p:txBody>
          <a:bodyPr wrap="square" lIns="0" tIns="0" rIns="0" bIns="0" rtlCol="0" anchor="ctr"/>
          <a:lstStyle/>
          <a:p>
            <a:pPr indent="0" marL="0">
              <a:buNone/>
            </a:pPr>
            <a:r>
              <a:rPr lang="en-US" sz="900" i="1" dirty="0">
                <a:solidFill>
                  <a:srgbClr val="8EB4E3"/>
                </a:solidFill>
                <a:latin typeface="Calibri" pitchFamily="34" charset="0"/>
                <a:ea typeface="Calibri" pitchFamily="34" charset="-122"/>
                <a:cs typeface="Calibri" pitchFamily="34" charset="-120"/>
              </a:rPr>
              <a:t>behavioral_intelligence.py · craving_engine.py · Prometheus metrics</a:t>
            </a:r>
            <a:endParaRPr lang="en-US" sz="900" dirty="0"/>
          </a:p>
        </p:txBody>
      </p:sp>
      <p:sp>
        <p:nvSpPr>
          <p:cNvPr id="8" name="Shape 6"/>
          <p:cNvSpPr/>
          <p:nvPr/>
        </p:nvSpPr>
        <p:spPr>
          <a:xfrm>
            <a:off x="3246120" y="117043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3364992" y="126187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02</a:t>
            </a:r>
            <a:endParaRPr lang="en-US" sz="2200" dirty="0"/>
          </a:p>
        </p:txBody>
      </p:sp>
      <p:sp>
        <p:nvSpPr>
          <p:cNvPr id="10" name="Text 8"/>
          <p:cNvSpPr/>
          <p:nvPr/>
        </p:nvSpPr>
        <p:spPr>
          <a:xfrm>
            <a:off x="3337560" y="166420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Craving → Ingredients</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 Store Pipeline</a:t>
            </a:r>
            <a:endParaRPr lang="en-US" sz="1250" dirty="0"/>
          </a:p>
        </p:txBody>
      </p:sp>
      <p:sp>
        <p:nvSpPr>
          <p:cNvPr id="11" name="Text 9"/>
          <p:cNvSpPr/>
          <p:nvPr/>
        </p:nvSpPr>
        <p:spPr>
          <a:xfrm>
            <a:off x="3337560" y="2359152"/>
            <a:ext cx="2560320" cy="292608"/>
          </a:xfrm>
          <a:prstGeom prst="rect">
            <a:avLst/>
          </a:prstGeom>
          <a:noFill/>
          <a:ln/>
        </p:spPr>
        <p:txBody>
          <a:bodyPr wrap="square" lIns="0" tIns="0" rIns="0" bIns="0" rtlCol="0" anchor="ctr"/>
          <a:lstStyle/>
          <a:p>
            <a:pPr indent="0" marL="0">
              <a:buNone/>
            </a:pPr>
            <a:r>
              <a:rPr lang="en-US" sz="900" i="1" dirty="0">
                <a:solidFill>
                  <a:srgbClr val="8EB4E3"/>
                </a:solidFill>
                <a:latin typeface="Calibri" pitchFamily="34" charset="0"/>
                <a:ea typeface="Calibri" pitchFamily="34" charset="-122"/>
                <a:cs typeface="Calibri" pitchFamily="34" charset="-120"/>
              </a:rPr>
              <a:t>cravingTracker.js · dynamicPricing.js · OSRM routing · RuralTrend</a:t>
            </a:r>
            <a:endParaRPr lang="en-US" sz="900" dirty="0"/>
          </a:p>
        </p:txBody>
      </p:sp>
      <p:sp>
        <p:nvSpPr>
          <p:cNvPr id="12" name="Shape 10"/>
          <p:cNvSpPr/>
          <p:nvPr/>
        </p:nvSpPr>
        <p:spPr>
          <a:xfrm>
            <a:off x="6217920" y="117043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6336792" y="126187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03</a:t>
            </a:r>
            <a:endParaRPr lang="en-US" sz="2200" dirty="0"/>
          </a:p>
        </p:txBody>
      </p:sp>
      <p:sp>
        <p:nvSpPr>
          <p:cNvPr id="14" name="Text 12"/>
          <p:cNvSpPr/>
          <p:nvPr/>
        </p:nvSpPr>
        <p:spPr>
          <a:xfrm>
            <a:off x="6309360" y="166420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Gamification Loop Tied</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to Real-World Retail</a:t>
            </a:r>
            <a:endParaRPr lang="en-US" sz="1250" dirty="0"/>
          </a:p>
        </p:txBody>
      </p:sp>
      <p:sp>
        <p:nvSpPr>
          <p:cNvPr id="15" name="Text 13"/>
          <p:cNvSpPr/>
          <p:nvPr/>
        </p:nvSpPr>
        <p:spPr>
          <a:xfrm>
            <a:off x="6309360" y="2359152"/>
            <a:ext cx="2560320" cy="292608"/>
          </a:xfrm>
          <a:prstGeom prst="rect">
            <a:avLst/>
          </a:prstGeom>
          <a:noFill/>
          <a:ln/>
        </p:spPr>
        <p:txBody>
          <a:bodyPr wrap="square" lIns="0" tIns="0" rIns="0" bIns="0" rtlCol="0" anchor="ctr"/>
          <a:lstStyle/>
          <a:p>
            <a:pPr indent="0" marL="0">
              <a:buNone/>
            </a:pPr>
            <a:r>
              <a:rPr lang="en-US" sz="900" i="1" dirty="0">
                <a:solidFill>
                  <a:srgbClr val="8EB4E3"/>
                </a:solidFill>
                <a:latin typeface="Calibri" pitchFamily="34" charset="0"/>
                <a:ea typeface="Calibri" pitchFamily="34" charset="-122"/>
                <a:cs typeface="Calibri" pitchFamily="34" charset="-120"/>
              </a:rPr>
              <a:t>checkinService.js · behaviorTracker.js · useCoins.js · borough_badges.py</a:t>
            </a:r>
            <a:endParaRPr lang="en-US" sz="900" dirty="0"/>
          </a:p>
        </p:txBody>
      </p:sp>
      <p:sp>
        <p:nvSpPr>
          <p:cNvPr id="16" name="Shape 14"/>
          <p:cNvSpPr/>
          <p:nvPr/>
        </p:nvSpPr>
        <p:spPr>
          <a:xfrm>
            <a:off x="1600200" y="290779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1719072" y="299923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04</a:t>
            </a:r>
            <a:endParaRPr lang="en-US" sz="2200" dirty="0"/>
          </a:p>
        </p:txBody>
      </p:sp>
      <p:sp>
        <p:nvSpPr>
          <p:cNvPr id="18" name="Text 16"/>
          <p:cNvSpPr/>
          <p:nvPr/>
        </p:nvSpPr>
        <p:spPr>
          <a:xfrm>
            <a:off x="1691640" y="340156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Deep AI Recipe &amp;</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Science Intelligence</a:t>
            </a:r>
            <a:endParaRPr lang="en-US" sz="1250" dirty="0"/>
          </a:p>
        </p:txBody>
      </p:sp>
      <p:sp>
        <p:nvSpPr>
          <p:cNvPr id="19" name="Text 17"/>
          <p:cNvSpPr/>
          <p:nvPr/>
        </p:nvSpPr>
        <p:spPr>
          <a:xfrm>
            <a:off x="1691640" y="4096512"/>
            <a:ext cx="2560320" cy="292608"/>
          </a:xfrm>
          <a:prstGeom prst="rect">
            <a:avLst/>
          </a:prstGeom>
          <a:noFill/>
          <a:ln/>
        </p:spPr>
        <p:txBody>
          <a:bodyPr wrap="square" lIns="0" tIns="0" rIns="0" bIns="0" rtlCol="0" anchor="ctr"/>
          <a:lstStyle/>
          <a:p>
            <a:pPr indent="0" marL="0">
              <a:buNone/>
            </a:pPr>
            <a:r>
              <a:rPr lang="en-US" sz="900" i="1" dirty="0">
                <a:solidFill>
                  <a:srgbClr val="8EB4E3"/>
                </a:solidFill>
                <a:latin typeface="Calibri" pitchFamily="34" charset="0"/>
                <a:ea typeface="Calibri" pitchFamily="34" charset="-122"/>
                <a:cs typeface="Calibri" pitchFamily="34" charset="-120"/>
              </a:rPr>
              <a:t>novaAI.js (3 modes) · chemical_knowledge_graph.py · thermodynamic_engine.py</a:t>
            </a:r>
            <a:endParaRPr lang="en-US" sz="900" dirty="0"/>
          </a:p>
        </p:txBody>
      </p:sp>
      <p:sp>
        <p:nvSpPr>
          <p:cNvPr id="20" name="Shape 18"/>
          <p:cNvSpPr/>
          <p:nvPr/>
        </p:nvSpPr>
        <p:spPr>
          <a:xfrm>
            <a:off x="4800600" y="2907792"/>
            <a:ext cx="2743200" cy="1554480"/>
          </a:xfrm>
          <a:prstGeom prst="roundRect">
            <a:avLst>
              <a:gd name="adj" fmla="val 5882"/>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21" name="Text 19"/>
          <p:cNvSpPr/>
          <p:nvPr/>
        </p:nvSpPr>
        <p:spPr>
          <a:xfrm>
            <a:off x="4919472" y="2999232"/>
            <a:ext cx="457200" cy="438912"/>
          </a:xfrm>
          <a:prstGeom prst="rect">
            <a:avLst/>
          </a:prstGeom>
          <a:noFill/>
          <a:ln/>
        </p:spPr>
        <p:txBody>
          <a:bodyPr wrap="square" lIns="0" tIns="0" rIns="0" bIns="0" rtlCol="0" anchor="ctr"/>
          <a:lstStyle/>
          <a:p>
            <a:pPr indent="0" marL="0">
              <a:buNone/>
            </a:pPr>
            <a:r>
              <a:rPr lang="en-US" sz="2200" b="1" dirty="0">
                <a:solidFill>
                  <a:srgbClr val="7DAE5C"/>
                </a:solidFill>
                <a:latin typeface="Cambria" pitchFamily="34" charset="0"/>
                <a:ea typeface="Cambria" pitchFamily="34" charset="-122"/>
                <a:cs typeface="Cambria" pitchFamily="34" charset="-120"/>
              </a:rPr>
              <a:t>05</a:t>
            </a:r>
            <a:endParaRPr lang="en-US" sz="2200" dirty="0"/>
          </a:p>
        </p:txBody>
      </p:sp>
      <p:sp>
        <p:nvSpPr>
          <p:cNvPr id="22" name="Text 20"/>
          <p:cNvSpPr/>
          <p:nvPr/>
        </p:nvSpPr>
        <p:spPr>
          <a:xfrm>
            <a:off x="4892040" y="3401568"/>
            <a:ext cx="2560320" cy="658368"/>
          </a:xfrm>
          <a:prstGeom prst="rect">
            <a:avLst/>
          </a:prstGeom>
          <a:noFill/>
          <a:ln/>
        </p:spPr>
        <p:txBody>
          <a:bodyPr wrap="square" lIns="0" tIns="0" rIns="0" bIns="0" rtlCol="0" anchor="ctr"/>
          <a:lstStyle/>
          <a:p>
            <a:pPr indent="0" marL="0">
              <a:buNone/>
            </a:pPr>
            <a:r>
              <a:rPr lang="en-US" sz="1250" b="1" dirty="0">
                <a:solidFill>
                  <a:srgbClr val="FFFFFF"/>
                </a:solidFill>
                <a:latin typeface="Cambria" pitchFamily="34" charset="0"/>
                <a:ea typeface="Cambria" pitchFamily="34" charset="-122"/>
                <a:cs typeface="Cambria" pitchFamily="34" charset="-120"/>
              </a:rPr>
              <a:t>Pixel Art Food Avatar</a:t>
            </a:r>
            <a:endParaRPr lang="en-US" sz="1250" dirty="0"/>
          </a:p>
          <a:p>
            <a:pPr indent="0" marL="0">
              <a:buNone/>
            </a:pPr>
            <a:r>
              <a:rPr lang="en-US" sz="1250" b="1" dirty="0">
                <a:solidFill>
                  <a:srgbClr val="FFFFFF"/>
                </a:solidFill>
                <a:latin typeface="Cambria" pitchFamily="34" charset="0"/>
                <a:ea typeface="Cambria" pitchFamily="34" charset="-122"/>
                <a:cs typeface="Cambria" pitchFamily="34" charset="-120"/>
              </a:rPr>
              <a:t>+ Economy Integration</a:t>
            </a:r>
            <a:endParaRPr lang="en-US" sz="1250" dirty="0"/>
          </a:p>
        </p:txBody>
      </p:sp>
      <p:sp>
        <p:nvSpPr>
          <p:cNvPr id="23" name="Text 21"/>
          <p:cNvSpPr/>
          <p:nvPr/>
        </p:nvSpPr>
        <p:spPr>
          <a:xfrm>
            <a:off x="4892040" y="4096512"/>
            <a:ext cx="2560320" cy="292608"/>
          </a:xfrm>
          <a:prstGeom prst="rect">
            <a:avLst/>
          </a:prstGeom>
          <a:noFill/>
          <a:ln/>
        </p:spPr>
        <p:txBody>
          <a:bodyPr wrap="square" lIns="0" tIns="0" rIns="0" bIns="0" rtlCol="0" anchor="ctr"/>
          <a:lstStyle/>
          <a:p>
            <a:pPr indent="0" marL="0">
              <a:buNone/>
            </a:pPr>
            <a:r>
              <a:rPr lang="en-US" sz="900" i="1" dirty="0">
                <a:solidFill>
                  <a:srgbClr val="8EB4E3"/>
                </a:solidFill>
                <a:latin typeface="Calibri" pitchFamily="34" charset="0"/>
                <a:ea typeface="Calibri" pitchFamily="34" charset="-122"/>
                <a:cs typeface="Calibri" pitchFamily="34" charset="-120"/>
              </a:rPr>
              <a:t>pixelArt.js · 6 palettes · Floyd-Steinberg · photo→pixel · DiscoverGBA</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01  ·  Behavioral Data Collection &amp; Monetization Pipeline</a:t>
            </a:r>
            <a:endParaRPr lang="en-US" sz="1900" dirty="0"/>
          </a:p>
        </p:txBody>
      </p:sp>
      <p:sp>
        <p:nvSpPr>
          <p:cNvPr id="4" name="Text 2"/>
          <p:cNvSpPr/>
          <p:nvPr/>
        </p:nvSpPr>
        <p:spPr>
          <a:xfrm>
            <a:off x="365760" y="932688"/>
            <a:ext cx="493776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What It Does</a:t>
            </a:r>
            <a:endParaRPr lang="en-US" sz="1450" dirty="0"/>
          </a:p>
        </p:txBody>
      </p:sp>
      <p:sp>
        <p:nvSpPr>
          <p:cNvPr id="5" name="Text 3"/>
          <p:cNvSpPr/>
          <p:nvPr/>
        </p:nvSpPr>
        <p:spPr>
          <a:xfrm>
            <a:off x="365760" y="1426464"/>
            <a:ext cx="4800600" cy="2423160"/>
          </a:xfrm>
          <a:prstGeom prst="rect">
            <a:avLst/>
          </a:prstGeom>
          <a:noFill/>
          <a:ln/>
        </p:spPr>
        <p:txBody>
          <a:bodyPr wrap="square" rtlCol="0" anchor="ctr"/>
          <a:lstStyle/>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Every user interaction (check-ins, craving searches, recipe views, ingredient scans) captured as a behavioral event by behaviorTracker.js and routed through the Node.js /training route to the Python ML pipeline</a:t>
            </a:r>
            <a:endParaRPr lang="en-US" sz="1250" dirty="0"/>
          </a:p>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behavioral_intelligence.py and craving_engine.py aggregate events into zip-code-level trending insights: peak hours, ingredient demand curves, store market share vs. competitors</a:t>
            </a:r>
            <a:endParaRPr lang="en-US" sz="1250" dirty="0"/>
          </a:p>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SHA-256 user ID hashing at point of collection — written into the frontend data flow; zero PII ever stored or transmitted to B2B clients</a:t>
            </a:r>
            <a:endParaRPr lang="en-US" sz="1250" dirty="0"/>
          </a:p>
          <a:p>
            <a:pPr marL="342900" indent="-342900">
              <a:spcAft>
                <a:spcPts val="400"/>
              </a:spcAft>
              <a:buSzPct val="100000"/>
              <a:buChar char="•"/>
            </a:pPr>
            <a:r>
              <a:rPr lang="en-US" sz="1250" dirty="0">
                <a:solidFill>
                  <a:srgbClr val="2D3436"/>
                </a:solidFill>
                <a:latin typeface="Calibri" pitchFamily="34" charset="0"/>
                <a:ea typeface="Calibri" pitchFamily="34" charset="-122"/>
                <a:cs typeface="Calibri" pitchFamily="34" charset="-120"/>
              </a:rPr>
              <a:t>Prometheus metrics already live: flask_requests_total, flask_request_duration, extraction_duration, recipes_extracted_total — production-grade monitoring from day one</a:t>
            </a:r>
            <a:endParaRPr lang="en-US" sz="1250" dirty="0"/>
          </a:p>
        </p:txBody>
      </p:sp>
      <p:sp>
        <p:nvSpPr>
          <p:cNvPr id="6" name="Text 4"/>
          <p:cNvSpPr/>
          <p:nvPr/>
        </p:nvSpPr>
        <p:spPr>
          <a:xfrm>
            <a:off x="365760" y="3931920"/>
            <a:ext cx="4800600" cy="256032"/>
          </a:xfrm>
          <a:prstGeom prst="rect">
            <a:avLst/>
          </a:prstGeom>
          <a:noFill/>
          <a:ln/>
        </p:spPr>
        <p:txBody>
          <a:bodyPr wrap="square" lIns="0" tIns="0" rIns="0" bIns="0" rtlCol="0" anchor="ctr"/>
          <a:lstStyle/>
          <a:p>
            <a:pPr indent="0" marL="0">
              <a:buNone/>
            </a:pPr>
            <a:r>
              <a:rPr lang="en-US" sz="1150" b="1" dirty="0">
                <a:solidFill>
                  <a:srgbClr val="637074"/>
                </a:solidFill>
                <a:latin typeface="Cambria" pitchFamily="34" charset="0"/>
                <a:ea typeface="Cambria" pitchFamily="34" charset="-122"/>
                <a:cs typeface="Cambria" pitchFamily="34" charset="-120"/>
              </a:rPr>
              <a:t>Real Code Files</a:t>
            </a:r>
            <a:endParaRPr lang="en-US" sz="1150" dirty="0"/>
          </a:p>
        </p:txBody>
      </p:sp>
      <p:sp>
        <p:nvSpPr>
          <p:cNvPr id="7" name="Text 5"/>
          <p:cNvSpPr/>
          <p:nvPr/>
        </p:nvSpPr>
        <p:spPr>
          <a:xfrm>
            <a:off x="365760" y="4206240"/>
            <a:ext cx="4800600" cy="438912"/>
          </a:xfrm>
          <a:prstGeom prst="rect">
            <a:avLst/>
          </a:prstGeom>
          <a:noFill/>
          <a:ln/>
        </p:spPr>
        <p:txBody>
          <a:bodyPr wrap="square" lIns="0" tIns="0" rIns="0" bIns="0" rtlCol="0" anchor="ctr"/>
          <a:lstStyle/>
          <a:p>
            <a:pPr indent="0" marL="0">
              <a:buNone/>
            </a:pPr>
            <a:r>
              <a:rPr lang="en-US" sz="1000" i="1" dirty="0">
                <a:solidFill>
                  <a:srgbClr val="637074"/>
                </a:solidFill>
                <a:latin typeface="Calibri" pitchFamily="34" charset="0"/>
                <a:ea typeface="Calibri" pitchFamily="34" charset="-122"/>
                <a:cs typeface="Calibri" pitchFamily="34" charset="-120"/>
              </a:rPr>
              <a:t>behavioral_intelligence.py  ·  craving_engine.py  ·  tiktok_trends.py  ·  dynamic_pricing_intelligence.py  ·  behaviorTracker.js (service)  ·  training.js + ab-analytics.js (Node routes)</a:t>
            </a:r>
            <a:endParaRPr lang="en-US" sz="1000" dirty="0"/>
          </a:p>
        </p:txBody>
      </p:sp>
      <p:sp>
        <p:nvSpPr>
          <p:cNvPr id="8" name="Shape 6"/>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10" name="Text 8"/>
          <p:cNvSpPr/>
          <p:nvPr/>
        </p:nvSpPr>
        <p:spPr>
          <a:xfrm>
            <a:off x="5440680" y="1325880"/>
            <a:ext cx="3246120" cy="187452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Method and system for generating retail behavioral intelligence from gamified consumer food application interactions, wherein user engagement events are anonymized via one-way hash at the point of collection and aggregated into zip-code-level market reports sold to retail clients — scalable to national geographic coverage.</a:t>
            </a:r>
            <a:endParaRPr lang="en-US" sz="1250" dirty="0"/>
          </a:p>
        </p:txBody>
      </p:sp>
      <p:sp>
        <p:nvSpPr>
          <p:cNvPr id="11" name="Shape 9"/>
          <p:cNvSpPr/>
          <p:nvPr/>
        </p:nvSpPr>
        <p:spPr>
          <a:xfrm>
            <a:off x="5440680" y="3246120"/>
            <a:ext cx="3246120" cy="1097280"/>
          </a:xfrm>
          <a:prstGeom prst="roundRect">
            <a:avLst>
              <a:gd name="adj" fmla="val 6667"/>
            </a:avLst>
          </a:prstGeom>
          <a:solidFill>
            <a:srgbClr val="D4EBC8"/>
          </a:solidFill>
          <a:ln/>
        </p:spPr>
      </p:sp>
      <p:sp>
        <p:nvSpPr>
          <p:cNvPr id="12" name="Text 10"/>
          <p:cNvSpPr/>
          <p:nvPr/>
        </p:nvSpPr>
        <p:spPr>
          <a:xfrm>
            <a:off x="5440680" y="3291840"/>
            <a:ext cx="3246120" cy="100584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  Strongest claim</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candidate — Prometheus</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monitoring shows</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production intent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02  ·  Craving → Ingredients → Store Pipeline</a:t>
            </a:r>
            <a:endParaRPr lang="en-US" sz="1900" dirty="0"/>
          </a:p>
        </p:txBody>
      </p:sp>
      <p:sp>
        <p:nvSpPr>
          <p:cNvPr id="4" name="Shape 2"/>
          <p:cNvSpPr/>
          <p:nvPr/>
        </p:nvSpPr>
        <p:spPr>
          <a:xfrm>
            <a:off x="347472" y="1005840"/>
            <a:ext cx="1097280" cy="914400"/>
          </a:xfrm>
          <a:prstGeom prst="roundRect">
            <a:avLst>
              <a:gd name="adj" fmla="val 8000"/>
            </a:avLst>
          </a:prstGeom>
          <a:solidFill>
            <a:srgbClr val="EEF6E7"/>
          </a:solidFill>
          <a:ln w="12700">
            <a:solidFill>
              <a:srgbClr val="7DAE5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347472" y="1051560"/>
            <a:ext cx="1097280" cy="457200"/>
          </a:xfrm>
          <a:prstGeom prst="rect">
            <a:avLst/>
          </a:prstGeom>
          <a:noFill/>
          <a:ln/>
        </p:spPr>
        <p:txBody>
          <a:bodyPr wrap="square" lIns="0" tIns="0" rIns="0" bIns="0" rtlCol="0" anchor="ctr"/>
          <a:lstStyle/>
          <a:p>
            <a:pPr algn="ctr" indent="0" marL="0">
              <a:buNone/>
            </a:pPr>
            <a:r>
              <a:rPr lang="en-US" sz="1050" b="1" dirty="0">
                <a:solidFill>
                  <a:srgbClr val="1B2A4A"/>
                </a:solidFill>
                <a:latin typeface="Cambria" pitchFamily="34" charset="0"/>
                <a:ea typeface="Cambria" pitchFamily="34" charset="-122"/>
                <a:cs typeface="Cambria" pitchFamily="34" charset="-120"/>
              </a:rPr>
              <a:t>User types</a:t>
            </a:r>
            <a:endParaRPr lang="en-US" sz="1050" dirty="0"/>
          </a:p>
          <a:p>
            <a:pPr algn="ctr" indent="0" marL="0">
              <a:buNone/>
            </a:pPr>
            <a:r>
              <a:rPr lang="en-US" sz="1050" b="1" dirty="0">
                <a:solidFill>
                  <a:srgbClr val="1B2A4A"/>
                </a:solidFill>
                <a:latin typeface="Cambria" pitchFamily="34" charset="0"/>
                <a:ea typeface="Cambria" pitchFamily="34" charset="-122"/>
                <a:cs typeface="Cambria" pitchFamily="34" charset="-120"/>
              </a:rPr>
              <a:t>craving</a:t>
            </a:r>
            <a:endParaRPr lang="en-US" sz="1050" dirty="0"/>
          </a:p>
        </p:txBody>
      </p:sp>
      <p:sp>
        <p:nvSpPr>
          <p:cNvPr id="6" name="Text 4"/>
          <p:cNvSpPr/>
          <p:nvPr/>
        </p:nvSpPr>
        <p:spPr>
          <a:xfrm>
            <a:off x="347472" y="1508760"/>
            <a:ext cx="1097280" cy="347472"/>
          </a:xfrm>
          <a:prstGeom prst="rect">
            <a:avLst/>
          </a:prstGeom>
          <a:noFill/>
          <a:ln/>
        </p:spPr>
        <p:txBody>
          <a:bodyPr wrap="square" lIns="0" tIns="0" rIns="0" bIns="0" rtlCol="0" anchor="ctr"/>
          <a:lstStyle/>
          <a:p>
            <a:pPr algn="ctr" indent="0" marL="0">
              <a:buNone/>
            </a:pPr>
            <a:r>
              <a:rPr lang="en-US" sz="900" i="1" dirty="0">
                <a:solidFill>
                  <a:srgbClr val="637074"/>
                </a:solidFill>
                <a:latin typeface="Calibri" pitchFamily="34" charset="0"/>
                <a:ea typeface="Calibri" pitchFamily="34" charset="-122"/>
                <a:cs typeface="Calibri" pitchFamily="34" charset="-120"/>
              </a:rPr>
              <a:t>"spicy &amp; warm"</a:t>
            </a:r>
            <a:endParaRPr lang="en-US" sz="900" dirty="0"/>
          </a:p>
        </p:txBody>
      </p:sp>
      <p:sp>
        <p:nvSpPr>
          <p:cNvPr id="7" name="Shape 5"/>
          <p:cNvSpPr/>
          <p:nvPr/>
        </p:nvSpPr>
        <p:spPr>
          <a:xfrm>
            <a:off x="1463040" y="1463040"/>
            <a:ext cx="91440" cy="0"/>
          </a:xfrm>
          <a:prstGeom prst="line">
            <a:avLst/>
          </a:prstGeom>
          <a:noFill/>
          <a:ln w="25400">
            <a:solidFill>
              <a:srgbClr val="7DAE5C"/>
            </a:solidFill>
            <a:prstDash val="solid"/>
          </a:ln>
        </p:spPr>
      </p:sp>
      <p:sp>
        <p:nvSpPr>
          <p:cNvPr id="8" name="Shape 6"/>
          <p:cNvSpPr/>
          <p:nvPr/>
        </p:nvSpPr>
        <p:spPr>
          <a:xfrm>
            <a:off x="1563624" y="1005840"/>
            <a:ext cx="1097280" cy="914400"/>
          </a:xfrm>
          <a:prstGeom prst="roundRect">
            <a:avLst>
              <a:gd name="adj" fmla="val 8000"/>
            </a:avLst>
          </a:prstGeom>
          <a:solidFill>
            <a:srgbClr val="EEF6E7"/>
          </a:solidFill>
          <a:ln w="1270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1563624" y="1051560"/>
            <a:ext cx="1097280" cy="457200"/>
          </a:xfrm>
          <a:prstGeom prst="rect">
            <a:avLst/>
          </a:prstGeom>
          <a:noFill/>
          <a:ln/>
        </p:spPr>
        <p:txBody>
          <a:bodyPr wrap="square" lIns="0" tIns="0" rIns="0" bIns="0" rtlCol="0" anchor="ctr"/>
          <a:lstStyle/>
          <a:p>
            <a:pPr algn="ctr" indent="0" marL="0">
              <a:buNone/>
            </a:pPr>
            <a:r>
              <a:rPr lang="en-US" sz="1050" b="1" dirty="0">
                <a:solidFill>
                  <a:srgbClr val="1B2A4A"/>
                </a:solidFill>
                <a:latin typeface="Cambria" pitchFamily="34" charset="0"/>
                <a:ea typeface="Cambria" pitchFamily="34" charset="-122"/>
                <a:cs typeface="Cambria" pitchFamily="34" charset="-120"/>
              </a:rPr>
              <a:t>8-flavor</a:t>
            </a:r>
            <a:endParaRPr lang="en-US" sz="1050" dirty="0"/>
          </a:p>
          <a:p>
            <a:pPr algn="ctr" indent="0" marL="0">
              <a:buNone/>
            </a:pPr>
            <a:r>
              <a:rPr lang="en-US" sz="1050" b="1" dirty="0">
                <a:solidFill>
                  <a:srgbClr val="1B2A4A"/>
                </a:solidFill>
                <a:latin typeface="Cambria" pitchFamily="34" charset="0"/>
                <a:ea typeface="Cambria" pitchFamily="34" charset="-122"/>
                <a:cs typeface="Cambria" pitchFamily="34" charset="-120"/>
              </a:rPr>
              <a:t>decode</a:t>
            </a:r>
            <a:endParaRPr lang="en-US" sz="1050" dirty="0"/>
          </a:p>
        </p:txBody>
      </p:sp>
      <p:sp>
        <p:nvSpPr>
          <p:cNvPr id="10" name="Text 8"/>
          <p:cNvSpPr/>
          <p:nvPr/>
        </p:nvSpPr>
        <p:spPr>
          <a:xfrm>
            <a:off x="1563624" y="1508760"/>
            <a:ext cx="1097280" cy="347472"/>
          </a:xfrm>
          <a:prstGeom prst="rect">
            <a:avLst/>
          </a:prstGeom>
          <a:noFill/>
          <a:ln/>
        </p:spPr>
        <p:txBody>
          <a:bodyPr wrap="square" lIns="0" tIns="0" rIns="0" bIns="0" rtlCol="0" anchor="ctr"/>
          <a:lstStyle/>
          <a:p>
            <a:pPr algn="ctr" indent="0" marL="0">
              <a:buNone/>
            </a:pPr>
            <a:r>
              <a:rPr lang="en-US" sz="900" i="1" dirty="0">
                <a:solidFill>
                  <a:srgbClr val="637074"/>
                </a:solidFill>
                <a:latin typeface="Calibri" pitchFamily="34" charset="0"/>
                <a:ea typeface="Calibri" pitchFamily="34" charset="-122"/>
                <a:cs typeface="Calibri" pitchFamily="34" charset="-120"/>
              </a:rPr>
              <a:t>cravingTracker.js</a:t>
            </a:r>
            <a:endParaRPr lang="en-US" sz="900" dirty="0"/>
          </a:p>
        </p:txBody>
      </p:sp>
      <p:sp>
        <p:nvSpPr>
          <p:cNvPr id="11" name="Shape 9"/>
          <p:cNvSpPr/>
          <p:nvPr/>
        </p:nvSpPr>
        <p:spPr>
          <a:xfrm>
            <a:off x="2679192" y="1463040"/>
            <a:ext cx="91440" cy="0"/>
          </a:xfrm>
          <a:prstGeom prst="line">
            <a:avLst/>
          </a:prstGeom>
          <a:noFill/>
          <a:ln w="25400">
            <a:solidFill>
              <a:srgbClr val="7DAE5C"/>
            </a:solidFill>
            <a:prstDash val="solid"/>
          </a:ln>
        </p:spPr>
      </p:sp>
      <p:sp>
        <p:nvSpPr>
          <p:cNvPr id="12" name="Shape 10"/>
          <p:cNvSpPr/>
          <p:nvPr/>
        </p:nvSpPr>
        <p:spPr>
          <a:xfrm>
            <a:off x="2779776" y="1005840"/>
            <a:ext cx="1097280" cy="914400"/>
          </a:xfrm>
          <a:prstGeom prst="roundRect">
            <a:avLst>
              <a:gd name="adj" fmla="val 8000"/>
            </a:avLst>
          </a:prstGeom>
          <a:solidFill>
            <a:srgbClr val="EEF6E7"/>
          </a:solidFill>
          <a:ln w="12700">
            <a:solidFill>
              <a:srgbClr val="7DAE5C"/>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2779776" y="1051560"/>
            <a:ext cx="1097280" cy="457200"/>
          </a:xfrm>
          <a:prstGeom prst="rect">
            <a:avLst/>
          </a:prstGeom>
          <a:noFill/>
          <a:ln/>
        </p:spPr>
        <p:txBody>
          <a:bodyPr wrap="square" lIns="0" tIns="0" rIns="0" bIns="0" rtlCol="0" anchor="ctr"/>
          <a:lstStyle/>
          <a:p>
            <a:pPr algn="ctr" indent="0" marL="0">
              <a:buNone/>
            </a:pPr>
            <a:r>
              <a:rPr lang="en-US" sz="1050" b="1" dirty="0">
                <a:solidFill>
                  <a:srgbClr val="1B2A4A"/>
                </a:solidFill>
                <a:latin typeface="Cambria" pitchFamily="34" charset="0"/>
                <a:ea typeface="Cambria" pitchFamily="34" charset="-122"/>
                <a:cs typeface="Cambria" pitchFamily="34" charset="-120"/>
              </a:rPr>
              <a:t>Recipe</a:t>
            </a:r>
            <a:endParaRPr lang="en-US" sz="1050" dirty="0"/>
          </a:p>
          <a:p>
            <a:pPr algn="ctr" indent="0" marL="0">
              <a:buNone/>
            </a:pPr>
            <a:r>
              <a:rPr lang="en-US" sz="1050" b="1" dirty="0">
                <a:solidFill>
                  <a:srgbClr val="1B2A4A"/>
                </a:solidFill>
                <a:latin typeface="Cambria" pitchFamily="34" charset="0"/>
                <a:ea typeface="Cambria" pitchFamily="34" charset="-122"/>
                <a:cs typeface="Cambria" pitchFamily="34" charset="-120"/>
              </a:rPr>
              <a:t>match</a:t>
            </a:r>
            <a:endParaRPr lang="en-US" sz="1050" dirty="0"/>
          </a:p>
        </p:txBody>
      </p:sp>
      <p:sp>
        <p:nvSpPr>
          <p:cNvPr id="14" name="Text 12"/>
          <p:cNvSpPr/>
          <p:nvPr/>
        </p:nvSpPr>
        <p:spPr>
          <a:xfrm>
            <a:off x="2779776" y="1508760"/>
            <a:ext cx="1097280" cy="347472"/>
          </a:xfrm>
          <a:prstGeom prst="rect">
            <a:avLst/>
          </a:prstGeom>
          <a:noFill/>
          <a:ln/>
        </p:spPr>
        <p:txBody>
          <a:bodyPr wrap="square" lIns="0" tIns="0" rIns="0" bIns="0" rtlCol="0" anchor="ctr"/>
          <a:lstStyle/>
          <a:p>
            <a:pPr algn="ctr" indent="0" marL="0">
              <a:buNone/>
            </a:pPr>
            <a:r>
              <a:rPr lang="en-US" sz="900" i="1" dirty="0">
                <a:solidFill>
                  <a:srgbClr val="637074"/>
                </a:solidFill>
                <a:latin typeface="Calibri" pitchFamily="34" charset="0"/>
                <a:ea typeface="Calibri" pitchFamily="34" charset="-122"/>
                <a:cs typeface="Calibri" pitchFamily="34" charset="-120"/>
              </a:rPr>
              <a:t>70+ countries</a:t>
            </a:r>
            <a:endParaRPr lang="en-US" sz="900" dirty="0"/>
          </a:p>
        </p:txBody>
      </p:sp>
      <p:sp>
        <p:nvSpPr>
          <p:cNvPr id="15" name="Shape 13"/>
          <p:cNvSpPr/>
          <p:nvPr/>
        </p:nvSpPr>
        <p:spPr>
          <a:xfrm>
            <a:off x="3895344" y="1463040"/>
            <a:ext cx="91440" cy="0"/>
          </a:xfrm>
          <a:prstGeom prst="line">
            <a:avLst/>
          </a:prstGeom>
          <a:noFill/>
          <a:ln w="25400">
            <a:solidFill>
              <a:srgbClr val="7DAE5C"/>
            </a:solidFill>
            <a:prstDash val="solid"/>
          </a:ln>
        </p:spPr>
      </p:sp>
      <p:sp>
        <p:nvSpPr>
          <p:cNvPr id="16" name="Shape 14"/>
          <p:cNvSpPr/>
          <p:nvPr/>
        </p:nvSpPr>
        <p:spPr>
          <a:xfrm>
            <a:off x="3995928" y="1005840"/>
            <a:ext cx="1097280" cy="914400"/>
          </a:xfrm>
          <a:prstGeom prst="roundRect">
            <a:avLst>
              <a:gd name="adj" fmla="val 8000"/>
            </a:avLst>
          </a:prstGeom>
          <a:solidFill>
            <a:srgbClr val="EEF6E7"/>
          </a:solidFill>
          <a:ln w="12700">
            <a:solidFill>
              <a:srgbClr val="7DAE5C"/>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3995928" y="1051560"/>
            <a:ext cx="1097280" cy="457200"/>
          </a:xfrm>
          <a:prstGeom prst="rect">
            <a:avLst/>
          </a:prstGeom>
          <a:noFill/>
          <a:ln/>
        </p:spPr>
        <p:txBody>
          <a:bodyPr wrap="square" lIns="0" tIns="0" rIns="0" bIns="0" rtlCol="0" anchor="ctr"/>
          <a:lstStyle/>
          <a:p>
            <a:pPr algn="ctr" indent="0" marL="0">
              <a:buNone/>
            </a:pPr>
            <a:r>
              <a:rPr lang="en-US" sz="1050" b="1" dirty="0">
                <a:solidFill>
                  <a:srgbClr val="1B2A4A"/>
                </a:solidFill>
                <a:latin typeface="Cambria" pitchFamily="34" charset="0"/>
                <a:ea typeface="Cambria" pitchFamily="34" charset="-122"/>
                <a:cs typeface="Cambria" pitchFamily="34" charset="-120"/>
              </a:rPr>
              <a:t>Smart Mix</a:t>
            </a:r>
            <a:endParaRPr lang="en-US" sz="1050" dirty="0"/>
          </a:p>
          <a:p>
            <a:pPr algn="ctr" indent="0" marL="0">
              <a:buNone/>
            </a:pPr>
            <a:r>
              <a:rPr lang="en-US" sz="1050" b="1" dirty="0">
                <a:solidFill>
                  <a:srgbClr val="1B2A4A"/>
                </a:solidFill>
                <a:latin typeface="Cambria" pitchFamily="34" charset="0"/>
                <a:ea typeface="Cambria" pitchFamily="34" charset="-122"/>
                <a:cs typeface="Cambria" pitchFamily="34" charset="-120"/>
              </a:rPr>
              <a:t>store rank</a:t>
            </a:r>
            <a:endParaRPr lang="en-US" sz="1050" dirty="0"/>
          </a:p>
        </p:txBody>
      </p:sp>
      <p:sp>
        <p:nvSpPr>
          <p:cNvPr id="18" name="Text 16"/>
          <p:cNvSpPr/>
          <p:nvPr/>
        </p:nvSpPr>
        <p:spPr>
          <a:xfrm>
            <a:off x="3995928" y="1508760"/>
            <a:ext cx="1097280" cy="347472"/>
          </a:xfrm>
          <a:prstGeom prst="rect">
            <a:avLst/>
          </a:prstGeom>
          <a:noFill/>
          <a:ln/>
        </p:spPr>
        <p:txBody>
          <a:bodyPr wrap="square" lIns="0" tIns="0" rIns="0" bIns="0" rtlCol="0" anchor="ctr"/>
          <a:lstStyle/>
          <a:p>
            <a:pPr algn="ctr" indent="0" marL="0">
              <a:buNone/>
            </a:pPr>
            <a:r>
              <a:rPr lang="en-US" sz="900" i="1" dirty="0">
                <a:solidFill>
                  <a:srgbClr val="637074"/>
                </a:solidFill>
                <a:latin typeface="Calibri" pitchFamily="34" charset="0"/>
                <a:ea typeface="Calibri" pitchFamily="34" charset="-122"/>
                <a:cs typeface="Calibri" pitchFamily="34" charset="-120"/>
              </a:rPr>
              <a:t>dynamicPricing.js</a:t>
            </a:r>
            <a:endParaRPr lang="en-US" sz="900" dirty="0"/>
          </a:p>
        </p:txBody>
      </p:sp>
      <p:sp>
        <p:nvSpPr>
          <p:cNvPr id="19" name="Text 17"/>
          <p:cNvSpPr/>
          <p:nvPr/>
        </p:nvSpPr>
        <p:spPr>
          <a:xfrm>
            <a:off x="365760" y="2057400"/>
            <a:ext cx="4846320" cy="420624"/>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How It Works — Real Code</a:t>
            </a:r>
            <a:endParaRPr lang="en-US" sz="1450" dirty="0"/>
          </a:p>
        </p:txBody>
      </p:sp>
      <p:sp>
        <p:nvSpPr>
          <p:cNvPr id="20" name="Text 18"/>
          <p:cNvSpPr/>
          <p:nvPr/>
        </p:nvSpPr>
        <p:spPr>
          <a:xfrm>
            <a:off x="365760" y="2633472"/>
            <a:ext cx="4800600" cy="2139696"/>
          </a:xfrm>
          <a:prstGeom prst="rect">
            <a:avLst/>
          </a:prstGeom>
          <a:noFill/>
          <a:ln/>
        </p:spPr>
        <p:txBody>
          <a:bodyPr wrap="square" rtlCol="0" anchor="ctr"/>
          <a:lstStyle/>
          <a:p>
            <a:pPr marL="342900" indent="-342900">
              <a:spcAft>
                <a:spcPts val="500"/>
              </a:spcAft>
              <a:buSzPct val="100000"/>
              <a:buChar char="•"/>
            </a:pPr>
            <a:r>
              <a:rPr lang="en-US" sz="1250" dirty="0">
                <a:solidFill>
                  <a:srgbClr val="2D3436"/>
                </a:solidFill>
                <a:latin typeface="Calibri" pitchFamily="34" charset="0"/>
                <a:ea typeface="Calibri" pitchFamily="34" charset="-122"/>
                <a:cs typeface="Calibri" pitchFamily="34" charset="-120"/>
              </a:rPr>
              <a:t>cravingTracker.js uses an 8-flavor vocabulary (unified with RecipeCards recommendations) with life-stage tagging: Pregnancy, Postpartum/nursing, and General modes — maternal craving patterns mapped to the same flavor taxonomy</a:t>
            </a:r>
            <a:endParaRPr lang="en-US" sz="1250" dirty="0"/>
          </a:p>
          <a:p>
            <a:pPr marL="342900" indent="-342900">
              <a:spcAft>
                <a:spcPts val="500"/>
              </a:spcAft>
              <a:buSzPct val="100000"/>
              <a:buChar char="•"/>
            </a:pPr>
            <a:r>
              <a:rPr lang="en-US" sz="1250" dirty="0">
                <a:solidFill>
                  <a:srgbClr val="2D3436"/>
                </a:solidFill>
                <a:latin typeface="Calibri" pitchFamily="34" charset="0"/>
                <a:ea typeface="Calibri" pitchFamily="34" charset="-122"/>
                <a:cs typeface="Calibri" pitchFamily="34" charset="-120"/>
              </a:rPr>
              <a:t>seasoningPairingEngine.js (frontend service) decodes natural language input into 7 flavor-layer categories matching the Python craving_planner.py and ai_pairing_engine.py on the backend</a:t>
            </a:r>
            <a:endParaRPr lang="en-US" sz="1250" dirty="0"/>
          </a:p>
          <a:p>
            <a:pPr marL="342900" indent="-342900">
              <a:spcAft>
                <a:spcPts val="500"/>
              </a:spcAft>
              <a:buSzPct val="100000"/>
              <a:buChar char="•"/>
            </a:pPr>
            <a:r>
              <a:rPr lang="en-US" sz="1250" dirty="0">
                <a:solidFill>
                  <a:srgbClr val="2D3436"/>
                </a:solidFill>
                <a:latin typeface="Calibri" pitchFamily="34" charset="0"/>
                <a:ea typeface="Calibri" pitchFamily="34" charset="-122"/>
                <a:cs typeface="Calibri" pitchFamily="34" charset="-120"/>
              </a:rPr>
              <a:t>dynamicPricing.js: Smart Mix ranking algorithm cycles cheapest → mid-price → top-rated → top-rated → cheap → expensive. Haversine distance (from geoService.js) anchors results to user's ZIP code</a:t>
            </a:r>
            <a:endParaRPr lang="en-US" sz="1250" dirty="0"/>
          </a:p>
          <a:p>
            <a:pPr marL="342900" indent="-342900">
              <a:spcAft>
                <a:spcPts val="500"/>
              </a:spcAft>
              <a:buSzPct val="100000"/>
              <a:buChar char="•"/>
            </a:pPr>
            <a:r>
              <a:rPr lang="en-US" sz="1250" dirty="0">
                <a:solidFill>
                  <a:srgbClr val="2D3436"/>
                </a:solidFill>
                <a:latin typeface="Calibri" pitchFamily="34" charset="0"/>
                <a:ea typeface="Calibri" pitchFamily="34" charset="-122"/>
                <a:cs typeface="Calibri" pitchFamily="34" charset="-120"/>
              </a:rPr>
              <a:t>RuralTrend page: SNAP/WIC category matching, rural ZIP detection, OSRM open-source routing (no paid API key) — covers food-access-equity markets nationwide</a:t>
            </a:r>
            <a:endParaRPr lang="en-US" sz="1250" dirty="0"/>
          </a:p>
        </p:txBody>
      </p:sp>
      <p:sp>
        <p:nvSpPr>
          <p:cNvPr id="21" name="Shape 19"/>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22" name="Text 20"/>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23" name="Text 21"/>
          <p:cNvSpPr/>
          <p:nvPr/>
        </p:nvSpPr>
        <p:spPr>
          <a:xfrm>
            <a:off x="5440680" y="1325880"/>
            <a:ext cx="3246120" cy="214884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Method for translating a natural language food craving input into a ranked list of nearby retail locations with ingredient-level pricing, using an intermediate eight-category flavor-layer decoding model as the translation step — with optional life-stage context (pregnancy, postpartum) modifying the flavor profile output.</a:t>
            </a:r>
            <a:endParaRPr lang="en-US" sz="1250" dirty="0"/>
          </a:p>
        </p:txBody>
      </p:sp>
      <p:sp>
        <p:nvSpPr>
          <p:cNvPr id="24" name="Shape 22"/>
          <p:cNvSpPr/>
          <p:nvPr/>
        </p:nvSpPr>
        <p:spPr>
          <a:xfrm>
            <a:off x="5440680" y="3520440"/>
            <a:ext cx="3246120" cy="822960"/>
          </a:xfrm>
          <a:prstGeom prst="roundRect">
            <a:avLst>
              <a:gd name="adj" fmla="val 8889"/>
            </a:avLst>
          </a:prstGeom>
          <a:solidFill>
            <a:srgbClr val="D4EBC8"/>
          </a:solidFill>
          <a:ln/>
        </p:spPr>
      </p:sp>
      <p:sp>
        <p:nvSpPr>
          <p:cNvPr id="25" name="Text 23"/>
          <p:cNvSpPr/>
          <p:nvPr/>
        </p:nvSpPr>
        <p:spPr>
          <a:xfrm>
            <a:off x="5440680" y="3566160"/>
            <a:ext cx="3246120" cy="73152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Life-stage craving</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context is a novel</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addition vs. V2</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03  ·  Gamification Loop Tied to Real-World Retail Behavior</a:t>
            </a:r>
            <a:endParaRPr lang="en-US" sz="1900" dirty="0"/>
          </a:p>
        </p:txBody>
      </p:sp>
      <p:sp>
        <p:nvSpPr>
          <p:cNvPr id="4" name="Shape 2"/>
          <p:cNvSpPr/>
          <p:nvPr/>
        </p:nvSpPr>
        <p:spPr>
          <a:xfrm>
            <a:off x="457200" y="1078992"/>
            <a:ext cx="1554480" cy="658368"/>
          </a:xfrm>
          <a:prstGeom prst="ellipse">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457200" y="1078992"/>
            <a:ext cx="1554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Visit Store</a:t>
            </a:r>
            <a:endParaRPr lang="en-US" sz="1200" dirty="0"/>
          </a:p>
        </p:txBody>
      </p:sp>
      <p:sp>
        <p:nvSpPr>
          <p:cNvPr id="6" name="Shape 4"/>
          <p:cNvSpPr/>
          <p:nvPr/>
        </p:nvSpPr>
        <p:spPr>
          <a:xfrm>
            <a:off x="2606040" y="1078992"/>
            <a:ext cx="1554480" cy="658368"/>
          </a:xfrm>
          <a:prstGeom prst="ellipse">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2606040" y="1078992"/>
            <a:ext cx="1554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Earn Coins</a:t>
            </a:r>
            <a:endParaRPr lang="en-US" sz="1200" dirty="0"/>
          </a:p>
        </p:txBody>
      </p:sp>
      <p:sp>
        <p:nvSpPr>
          <p:cNvPr id="8" name="Shape 6"/>
          <p:cNvSpPr/>
          <p:nvPr/>
        </p:nvSpPr>
        <p:spPr>
          <a:xfrm>
            <a:off x="2606040" y="2606040"/>
            <a:ext cx="1554480" cy="658368"/>
          </a:xfrm>
          <a:prstGeom prst="ellipse">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2606040" y="2606040"/>
            <a:ext cx="1554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Unlock Avatar</a:t>
            </a:r>
            <a:endParaRPr lang="en-US" sz="1200" dirty="0"/>
          </a:p>
        </p:txBody>
      </p:sp>
      <p:sp>
        <p:nvSpPr>
          <p:cNvPr id="10" name="Shape 8"/>
          <p:cNvSpPr/>
          <p:nvPr/>
        </p:nvSpPr>
        <p:spPr>
          <a:xfrm>
            <a:off x="457200" y="2606040"/>
            <a:ext cx="1554480" cy="658368"/>
          </a:xfrm>
          <a:prstGeom prst="ellipse">
            <a:avLst/>
          </a:prstGeom>
          <a:solidFill>
            <a:srgbClr val="243A5E"/>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457200" y="2606040"/>
            <a:ext cx="155448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Daily Quest</a:t>
            </a:r>
            <a:endParaRPr lang="en-US" sz="1200" dirty="0"/>
          </a:p>
        </p:txBody>
      </p:sp>
      <p:sp>
        <p:nvSpPr>
          <p:cNvPr id="12" name="Shape 10"/>
          <p:cNvSpPr/>
          <p:nvPr/>
        </p:nvSpPr>
        <p:spPr>
          <a:xfrm>
            <a:off x="2029968" y="1408176"/>
            <a:ext cx="557784" cy="0"/>
          </a:xfrm>
          <a:prstGeom prst="line">
            <a:avLst/>
          </a:prstGeom>
          <a:noFill/>
          <a:ln w="19050">
            <a:solidFill>
              <a:srgbClr val="7DAE5C"/>
            </a:solidFill>
            <a:prstDash val="solid"/>
          </a:ln>
        </p:spPr>
      </p:sp>
      <p:sp>
        <p:nvSpPr>
          <p:cNvPr id="13" name="Shape 11"/>
          <p:cNvSpPr/>
          <p:nvPr/>
        </p:nvSpPr>
        <p:spPr>
          <a:xfrm>
            <a:off x="3383280" y="1755648"/>
            <a:ext cx="0" cy="832104"/>
          </a:xfrm>
          <a:prstGeom prst="line">
            <a:avLst/>
          </a:prstGeom>
          <a:noFill/>
          <a:ln w="19050">
            <a:solidFill>
              <a:srgbClr val="7DAE5C"/>
            </a:solidFill>
            <a:prstDash val="solid"/>
          </a:ln>
        </p:spPr>
      </p:sp>
      <p:sp>
        <p:nvSpPr>
          <p:cNvPr id="14" name="Shape 12"/>
          <p:cNvSpPr/>
          <p:nvPr/>
        </p:nvSpPr>
        <p:spPr>
          <a:xfrm>
            <a:off x="2029968" y="2935224"/>
            <a:ext cx="557784" cy="0"/>
          </a:xfrm>
          <a:prstGeom prst="line">
            <a:avLst/>
          </a:prstGeom>
          <a:noFill/>
          <a:ln w="19050">
            <a:solidFill>
              <a:srgbClr val="7DAE5C"/>
            </a:solidFill>
            <a:prstDash val="solid"/>
          </a:ln>
        </p:spPr>
      </p:sp>
      <p:sp>
        <p:nvSpPr>
          <p:cNvPr id="15" name="Shape 13"/>
          <p:cNvSpPr/>
          <p:nvPr/>
        </p:nvSpPr>
        <p:spPr>
          <a:xfrm>
            <a:off x="1234440" y="1755648"/>
            <a:ext cx="0" cy="832104"/>
          </a:xfrm>
          <a:prstGeom prst="line">
            <a:avLst/>
          </a:prstGeom>
          <a:noFill/>
          <a:ln w="19050">
            <a:solidFill>
              <a:srgbClr val="7DAE5C"/>
            </a:solidFill>
            <a:prstDash val="solid"/>
          </a:ln>
        </p:spPr>
      </p:sp>
      <p:sp>
        <p:nvSpPr>
          <p:cNvPr id="16" name="Text 14"/>
          <p:cNvSpPr/>
          <p:nvPr/>
        </p:nvSpPr>
        <p:spPr>
          <a:xfrm>
            <a:off x="365760" y="3401568"/>
            <a:ext cx="4846320" cy="420624"/>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Real Code Architecture</a:t>
            </a:r>
            <a:endParaRPr lang="en-US" sz="1450" dirty="0"/>
          </a:p>
        </p:txBody>
      </p:sp>
      <p:sp>
        <p:nvSpPr>
          <p:cNvPr id="17" name="Text 15"/>
          <p:cNvSpPr/>
          <p:nvPr/>
        </p:nvSpPr>
        <p:spPr>
          <a:xfrm>
            <a:off x="365760" y="3977640"/>
            <a:ext cx="4800600" cy="1005840"/>
          </a:xfrm>
          <a:prstGeom prst="rect">
            <a:avLst/>
          </a:prstGeom>
          <a:noFill/>
          <a:ln/>
        </p:spPr>
        <p:txBody>
          <a:bodyPr wrap="square" rtlCol="0" anchor="ctr"/>
          <a:lstStyle/>
          <a:p>
            <a:pPr marL="342900" indent="-342900">
              <a:spcAft>
                <a:spcPts val="500"/>
              </a:spcAft>
              <a:buSzPct val="100000"/>
              <a:buChar char="•"/>
            </a:pPr>
            <a:r>
              <a:rPr lang="en-US" sz="1200" dirty="0">
                <a:solidFill>
                  <a:srgbClr val="2D3436"/>
                </a:solidFill>
                <a:latin typeface="Calibri" pitchFamily="34" charset="0"/>
                <a:ea typeface="Calibri" pitchFamily="34" charset="-122"/>
                <a:cs typeface="Calibri" pitchFamily="34" charset="-120"/>
              </a:rPr>
              <a:t>checkinService.js (frontend service) submits check-in events with timestamp and coordinates; geoService.js validates proximity using haversine distance against known store locations</a:t>
            </a:r>
            <a:endParaRPr lang="en-US" sz="1200" dirty="0"/>
          </a:p>
          <a:p>
            <a:pPr marL="342900" indent="-342900">
              <a:spcAft>
                <a:spcPts val="500"/>
              </a:spcAft>
              <a:buSzPct val="100000"/>
              <a:buChar char="•"/>
            </a:pPr>
            <a:r>
              <a:rPr lang="en-US" sz="1200" dirty="0">
                <a:solidFill>
                  <a:srgbClr val="2D3436"/>
                </a:solidFill>
                <a:latin typeface="Calibri" pitchFamily="34" charset="0"/>
                <a:ea typeface="Calibri" pitchFamily="34" charset="-122"/>
                <a:cs typeface="Calibri" pitchFamily="34" charset="-120"/>
              </a:rPr>
              <a:t>useCoins.js (React hook) manages coin balance as shared app-wide state: earns on check-in, spends on pixel art cosmetics — tightly coupled to useAuth.js and useSave.js for persistence</a:t>
            </a:r>
            <a:endParaRPr lang="en-US" sz="1200" dirty="0"/>
          </a:p>
          <a:p>
            <a:pPr marL="342900" indent="-342900">
              <a:spcAft>
                <a:spcPts val="500"/>
              </a:spcAft>
              <a:buSzPct val="100000"/>
              <a:buChar char="•"/>
            </a:pPr>
            <a:r>
              <a:rPr lang="en-US" sz="1200" dirty="0">
                <a:solidFill>
                  <a:srgbClr val="2D3436"/>
                </a:solidFill>
                <a:latin typeface="Calibri" pitchFamily="34" charset="0"/>
                <a:ea typeface="Calibri" pitchFamily="34" charset="-122"/>
                <a:cs typeface="Calibri" pitchFamily="34" charset="-120"/>
              </a:rPr>
              <a:t>borough_badges.py (Python) issues geography-specific achievement badges (NYC boroughs, etc.) — the extensible badge architecture designed for all 50 states</a:t>
            </a:r>
            <a:endParaRPr lang="en-US" sz="1200" dirty="0"/>
          </a:p>
        </p:txBody>
      </p:sp>
      <p:sp>
        <p:nvSpPr>
          <p:cNvPr id="18" name="Shape 16"/>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19" name="Text 17"/>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20" name="Text 18"/>
          <p:cNvSpPr/>
          <p:nvPr/>
        </p:nvSpPr>
        <p:spPr>
          <a:xfrm>
            <a:off x="5440680" y="1325880"/>
            <a:ext cx="3246120" cy="2148840"/>
          </a:xfrm>
          <a:prstGeom prst="rect">
            <a:avLst/>
          </a:prstGeom>
          <a:noFill/>
          <a:ln/>
        </p:spPr>
        <p:txBody>
          <a:bodyPr wrap="square" lIns="0" tIns="0" rIns="0" bIns="0" rtlCol="0" anchor="ctr"/>
          <a:lstStyle/>
          <a:p>
            <a:pPr indent="0" marL="0">
              <a:buNone/>
            </a:pPr>
            <a:r>
              <a:rPr lang="en-US" sz="1250" i="1" dirty="0">
                <a:solidFill>
                  <a:srgbClr val="2C5F2D"/>
                </a:solidFill>
                <a:latin typeface="Calibri" pitchFamily="34" charset="0"/>
                <a:ea typeface="Calibri" pitchFamily="34" charset="-122"/>
                <a:cs typeface="Calibri" pitchFamily="34" charset="-120"/>
              </a:rPr>
              <a:t>System for incentivizing physical retail location visits through a virtual currency reward mechanism integrated with a food discovery and recipe application, wherein earned currency is redeemable exclusively for digital avatar customization items — with geography-specific badge rewards generating cross-region behavioral data at national scale.</a:t>
            </a:r>
            <a:endParaRPr lang="en-US" sz="1250" dirty="0"/>
          </a:p>
        </p:txBody>
      </p:sp>
      <p:sp>
        <p:nvSpPr>
          <p:cNvPr id="21" name="Shape 19"/>
          <p:cNvSpPr/>
          <p:nvPr/>
        </p:nvSpPr>
        <p:spPr>
          <a:xfrm>
            <a:off x="5440680" y="3520440"/>
            <a:ext cx="3246120" cy="822960"/>
          </a:xfrm>
          <a:prstGeom prst="roundRect">
            <a:avLst>
              <a:gd name="adj" fmla="val 8889"/>
            </a:avLst>
          </a:prstGeom>
          <a:solidFill>
            <a:srgbClr val="D4EBC8"/>
          </a:solidFill>
          <a:ln/>
        </p:spPr>
      </p:sp>
      <p:sp>
        <p:nvSpPr>
          <p:cNvPr id="22" name="Text 20"/>
          <p:cNvSpPr/>
          <p:nvPr/>
        </p:nvSpPr>
        <p:spPr>
          <a:xfrm>
            <a:off x="5440680" y="3566160"/>
            <a:ext cx="3246120" cy="73152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Borough badges = state</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badge architecture</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already designed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04  ·  Deep AI Recipe &amp; Culinary Science Intelligence</a:t>
            </a:r>
            <a:endParaRPr lang="en-US" sz="1900" dirty="0"/>
          </a:p>
        </p:txBody>
      </p:sp>
      <p:sp>
        <p:nvSpPr>
          <p:cNvPr id="4" name="Text 2"/>
          <p:cNvSpPr/>
          <p:nvPr/>
        </p:nvSpPr>
        <p:spPr>
          <a:xfrm>
            <a:off x="365760" y="932688"/>
            <a:ext cx="484632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Nova AI — Three Modes</a:t>
            </a:r>
            <a:endParaRPr lang="en-US" sz="1450" dirty="0"/>
          </a:p>
        </p:txBody>
      </p:sp>
      <p:sp>
        <p:nvSpPr>
          <p:cNvPr id="5" name="Shape 3"/>
          <p:cNvSpPr/>
          <p:nvPr/>
        </p:nvSpPr>
        <p:spPr>
          <a:xfrm>
            <a:off x="347472" y="1316736"/>
            <a:ext cx="1508760" cy="1234440"/>
          </a:xfrm>
          <a:prstGeom prst="roundRect">
            <a:avLst>
              <a:gd name="adj" fmla="val 5926"/>
            </a:avLst>
          </a:prstGeom>
          <a:solidFill>
            <a:srgbClr val="F0F4F8"/>
          </a:solidFill>
          <a:ln w="12700">
            <a:solidFill>
              <a:srgbClr val="8EB4E3"/>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347472" y="1371600"/>
            <a:ext cx="1508760" cy="274320"/>
          </a:xfrm>
          <a:prstGeom prst="rect">
            <a:avLst/>
          </a:prstGeom>
          <a:noFill/>
          <a:ln/>
        </p:spPr>
        <p:txBody>
          <a:bodyPr wrap="square" lIns="0" tIns="0" rIns="0" bIns="0" rtlCol="0" anchor="ctr"/>
          <a:lstStyle/>
          <a:p>
            <a:pPr algn="ctr" indent="0" marL="0">
              <a:buNone/>
            </a:pPr>
            <a:r>
              <a:rPr lang="en-US" sz="1100" b="1" dirty="0">
                <a:solidFill>
                  <a:srgbClr val="1B2A4A"/>
                </a:solidFill>
                <a:latin typeface="Cambria" pitchFamily="34" charset="0"/>
                <a:ea typeface="Cambria" pitchFamily="34" charset="-122"/>
                <a:cs typeface="Cambria" pitchFamily="34" charset="-120"/>
              </a:rPr>
              <a:t>ASK</a:t>
            </a:r>
            <a:endParaRPr lang="en-US" sz="1100" dirty="0"/>
          </a:p>
        </p:txBody>
      </p:sp>
      <p:sp>
        <p:nvSpPr>
          <p:cNvPr id="7" name="Text 5"/>
          <p:cNvSpPr/>
          <p:nvPr/>
        </p:nvSpPr>
        <p:spPr>
          <a:xfrm>
            <a:off x="402336" y="1664208"/>
            <a:ext cx="1399032" cy="182880"/>
          </a:xfrm>
          <a:prstGeom prst="rect">
            <a:avLst/>
          </a:prstGeom>
          <a:noFill/>
          <a:ln/>
        </p:spPr>
        <p:txBody>
          <a:bodyPr wrap="square" lIns="0" tIns="0" rIns="0" bIns="0" rtlCol="0" anchor="ctr"/>
          <a:lstStyle/>
          <a:p>
            <a:pPr indent="0" marL="0">
              <a:buNone/>
            </a:pPr>
            <a:r>
              <a:rPr lang="en-US" sz="850" i="1" dirty="0">
                <a:solidFill>
                  <a:srgbClr val="7DAE5C"/>
                </a:solidFill>
                <a:latin typeface="Calibri" pitchFamily="34" charset="0"/>
                <a:ea typeface="Calibri" pitchFamily="34" charset="-122"/>
                <a:cs typeface="Calibri" pitchFamily="34" charset="-120"/>
              </a:rPr>
              <a:t>mode: 'ask'</a:t>
            </a:r>
            <a:endParaRPr lang="en-US" sz="850" dirty="0"/>
          </a:p>
        </p:txBody>
      </p:sp>
      <p:sp>
        <p:nvSpPr>
          <p:cNvPr id="8" name="Text 6"/>
          <p:cNvSpPr/>
          <p:nvPr/>
        </p:nvSpPr>
        <p:spPr>
          <a:xfrm>
            <a:off x="402336" y="1865376"/>
            <a:ext cx="1399032" cy="640080"/>
          </a:xfrm>
          <a:prstGeom prst="rect">
            <a:avLst/>
          </a:prstGeom>
          <a:noFill/>
          <a:ln/>
        </p:spPr>
        <p:txBody>
          <a:bodyPr wrap="square" lIns="0" tIns="0" rIns="0" bIns="0" rtlCol="0" anchor="ctr"/>
          <a:lstStyle/>
          <a:p>
            <a:pPr indent="0" marL="0">
              <a:buNone/>
            </a:pPr>
            <a:r>
              <a:rPr lang="en-US" sz="900" dirty="0">
                <a:solidFill>
                  <a:srgbClr val="2D3436"/>
                </a:solidFill>
                <a:latin typeface="Calibri" pitchFamily="34" charset="0"/>
                <a:ea typeface="Calibri" pitchFamily="34" charset="-122"/>
                <a:cs typeface="Calibri" pitchFamily="34" charset="-120"/>
              </a:rPr>
              <a:t>Natural language cooking Q&amp;A with citations. Graceful fallback to deterministic answer if OpenAI unavailable.</a:t>
            </a:r>
            <a:endParaRPr lang="en-US" sz="900" dirty="0"/>
          </a:p>
        </p:txBody>
      </p:sp>
      <p:sp>
        <p:nvSpPr>
          <p:cNvPr id="9" name="Shape 7"/>
          <p:cNvSpPr/>
          <p:nvPr/>
        </p:nvSpPr>
        <p:spPr>
          <a:xfrm>
            <a:off x="1975104" y="1316736"/>
            <a:ext cx="1508760" cy="1234440"/>
          </a:xfrm>
          <a:prstGeom prst="roundRect">
            <a:avLst>
              <a:gd name="adj" fmla="val 5926"/>
            </a:avLst>
          </a:prstGeom>
          <a:solidFill>
            <a:srgbClr val="F0F4F8"/>
          </a:solidFill>
          <a:ln w="12700">
            <a:solidFill>
              <a:srgbClr val="8EB4E3"/>
            </a:solidFill>
            <a:prstDash val="solid"/>
          </a:ln>
          <a:effectLst>
            <a:outerShdw sx="100000" sy="100000" kx="0" ky="0" algn="bl" rotWithShape="0" blurRad="101600" dist="38100" dir="2700000">
              <a:srgbClr val="000000">
                <a:alpha val="12000"/>
              </a:srgbClr>
            </a:outerShdw>
          </a:effectLst>
        </p:spPr>
      </p:sp>
      <p:sp>
        <p:nvSpPr>
          <p:cNvPr id="10" name="Text 8"/>
          <p:cNvSpPr/>
          <p:nvPr/>
        </p:nvSpPr>
        <p:spPr>
          <a:xfrm>
            <a:off x="1975104" y="1371600"/>
            <a:ext cx="1508760" cy="274320"/>
          </a:xfrm>
          <a:prstGeom prst="rect">
            <a:avLst/>
          </a:prstGeom>
          <a:noFill/>
          <a:ln/>
        </p:spPr>
        <p:txBody>
          <a:bodyPr wrap="square" lIns="0" tIns="0" rIns="0" bIns="0" rtlCol="0" anchor="ctr"/>
          <a:lstStyle/>
          <a:p>
            <a:pPr algn="ctr" indent="0" marL="0">
              <a:buNone/>
            </a:pPr>
            <a:r>
              <a:rPr lang="en-US" sz="1100" b="1" dirty="0">
                <a:solidFill>
                  <a:srgbClr val="1B2A4A"/>
                </a:solidFill>
                <a:latin typeface="Cambria" pitchFamily="34" charset="0"/>
                <a:ea typeface="Cambria" pitchFamily="34" charset="-122"/>
                <a:cs typeface="Cambria" pitchFamily="34" charset="-120"/>
              </a:rPr>
              <a:t>PHOTO</a:t>
            </a:r>
            <a:endParaRPr lang="en-US" sz="1100" dirty="0"/>
          </a:p>
        </p:txBody>
      </p:sp>
      <p:sp>
        <p:nvSpPr>
          <p:cNvPr id="11" name="Text 9"/>
          <p:cNvSpPr/>
          <p:nvPr/>
        </p:nvSpPr>
        <p:spPr>
          <a:xfrm>
            <a:off x="2029968" y="1664208"/>
            <a:ext cx="1399032" cy="182880"/>
          </a:xfrm>
          <a:prstGeom prst="rect">
            <a:avLst/>
          </a:prstGeom>
          <a:noFill/>
          <a:ln/>
        </p:spPr>
        <p:txBody>
          <a:bodyPr wrap="square" lIns="0" tIns="0" rIns="0" bIns="0" rtlCol="0" anchor="ctr"/>
          <a:lstStyle/>
          <a:p>
            <a:pPr indent="0" marL="0">
              <a:buNone/>
            </a:pPr>
            <a:r>
              <a:rPr lang="en-US" sz="850" i="1" dirty="0">
                <a:solidFill>
                  <a:srgbClr val="7DAE5C"/>
                </a:solidFill>
                <a:latin typeface="Calibri" pitchFamily="34" charset="0"/>
                <a:ea typeface="Calibri" pitchFamily="34" charset="-122"/>
                <a:cs typeface="Calibri" pitchFamily="34" charset="-120"/>
              </a:rPr>
              <a:t>mode: 'photo'</a:t>
            </a:r>
            <a:endParaRPr lang="en-US" sz="850" dirty="0"/>
          </a:p>
        </p:txBody>
      </p:sp>
      <p:sp>
        <p:nvSpPr>
          <p:cNvPr id="12" name="Text 10"/>
          <p:cNvSpPr/>
          <p:nvPr/>
        </p:nvSpPr>
        <p:spPr>
          <a:xfrm>
            <a:off x="2029968" y="1865376"/>
            <a:ext cx="1399032" cy="640080"/>
          </a:xfrm>
          <a:prstGeom prst="rect">
            <a:avLst/>
          </a:prstGeom>
          <a:noFill/>
          <a:ln/>
        </p:spPr>
        <p:txBody>
          <a:bodyPr wrap="square" lIns="0" tIns="0" rIns="0" bIns="0" rtlCol="0" anchor="ctr"/>
          <a:lstStyle/>
          <a:p>
            <a:pPr indent="0" marL="0">
              <a:buNone/>
            </a:pPr>
            <a:r>
              <a:rPr lang="en-US" sz="900" dirty="0">
                <a:solidFill>
                  <a:srgbClr val="2D3436"/>
                </a:solidFill>
                <a:latin typeface="Calibri" pitchFamily="34" charset="0"/>
                <a:ea typeface="Calibri" pitchFamily="34" charset="-122"/>
                <a:cs typeface="Calibri" pitchFamily="34" charset="-120"/>
              </a:rPr>
              <a:t>Vision critique of a mid-cook photo — returns {match, texture, tip}. Detects if step looks correct.</a:t>
            </a:r>
            <a:endParaRPr lang="en-US" sz="900" dirty="0"/>
          </a:p>
        </p:txBody>
      </p:sp>
      <p:sp>
        <p:nvSpPr>
          <p:cNvPr id="13" name="Shape 11"/>
          <p:cNvSpPr/>
          <p:nvPr/>
        </p:nvSpPr>
        <p:spPr>
          <a:xfrm>
            <a:off x="3602736" y="1316736"/>
            <a:ext cx="1508760" cy="1234440"/>
          </a:xfrm>
          <a:prstGeom prst="roundRect">
            <a:avLst>
              <a:gd name="adj" fmla="val 5926"/>
            </a:avLst>
          </a:prstGeom>
          <a:solidFill>
            <a:srgbClr val="F0F4F8"/>
          </a:solidFill>
          <a:ln w="12700">
            <a:solidFill>
              <a:srgbClr val="8EB4E3"/>
            </a:solidFill>
            <a:prstDash val="solid"/>
          </a:ln>
          <a:effectLst>
            <a:outerShdw sx="100000" sy="100000" kx="0" ky="0" algn="bl" rotWithShape="0" blurRad="101600" dist="38100" dir="2700000">
              <a:srgbClr val="000000">
                <a:alpha val="12000"/>
              </a:srgbClr>
            </a:outerShdw>
          </a:effectLst>
        </p:spPr>
      </p:sp>
      <p:sp>
        <p:nvSpPr>
          <p:cNvPr id="14" name="Text 12"/>
          <p:cNvSpPr/>
          <p:nvPr/>
        </p:nvSpPr>
        <p:spPr>
          <a:xfrm>
            <a:off x="3602736" y="1371600"/>
            <a:ext cx="1508760" cy="274320"/>
          </a:xfrm>
          <a:prstGeom prst="rect">
            <a:avLst/>
          </a:prstGeom>
          <a:noFill/>
          <a:ln/>
        </p:spPr>
        <p:txBody>
          <a:bodyPr wrap="square" lIns="0" tIns="0" rIns="0" bIns="0" rtlCol="0" anchor="ctr"/>
          <a:lstStyle/>
          <a:p>
            <a:pPr algn="ctr" indent="0" marL="0">
              <a:buNone/>
            </a:pPr>
            <a:r>
              <a:rPr lang="en-US" sz="1100" b="1" dirty="0">
                <a:solidFill>
                  <a:srgbClr val="1B2A4A"/>
                </a:solidFill>
                <a:latin typeface="Cambria" pitchFamily="34" charset="0"/>
                <a:ea typeface="Cambria" pitchFamily="34" charset="-122"/>
                <a:cs typeface="Cambria" pitchFamily="34" charset="-120"/>
              </a:rPr>
              <a:t>TRENDING</a:t>
            </a:r>
            <a:endParaRPr lang="en-US" sz="1100" dirty="0"/>
          </a:p>
        </p:txBody>
      </p:sp>
      <p:sp>
        <p:nvSpPr>
          <p:cNvPr id="15" name="Text 13"/>
          <p:cNvSpPr/>
          <p:nvPr/>
        </p:nvSpPr>
        <p:spPr>
          <a:xfrm>
            <a:off x="3657600" y="1664208"/>
            <a:ext cx="1399032" cy="182880"/>
          </a:xfrm>
          <a:prstGeom prst="rect">
            <a:avLst/>
          </a:prstGeom>
          <a:noFill/>
          <a:ln/>
        </p:spPr>
        <p:txBody>
          <a:bodyPr wrap="square" lIns="0" tIns="0" rIns="0" bIns="0" rtlCol="0" anchor="ctr"/>
          <a:lstStyle/>
          <a:p>
            <a:pPr indent="0" marL="0">
              <a:buNone/>
            </a:pPr>
            <a:r>
              <a:rPr lang="en-US" sz="850" i="1" dirty="0">
                <a:solidFill>
                  <a:srgbClr val="7DAE5C"/>
                </a:solidFill>
                <a:latin typeface="Calibri" pitchFamily="34" charset="0"/>
                <a:ea typeface="Calibri" pitchFamily="34" charset="-122"/>
                <a:cs typeface="Calibri" pitchFamily="34" charset="-120"/>
              </a:rPr>
              <a:t>mode: 'trending'</a:t>
            </a:r>
            <a:endParaRPr lang="en-US" sz="850" dirty="0"/>
          </a:p>
        </p:txBody>
      </p:sp>
      <p:sp>
        <p:nvSpPr>
          <p:cNvPr id="16" name="Text 14"/>
          <p:cNvSpPr/>
          <p:nvPr/>
        </p:nvSpPr>
        <p:spPr>
          <a:xfrm>
            <a:off x="3657600" y="1865376"/>
            <a:ext cx="1399032" cy="640080"/>
          </a:xfrm>
          <a:prstGeom prst="rect">
            <a:avLst/>
          </a:prstGeom>
          <a:noFill/>
          <a:ln/>
        </p:spPr>
        <p:txBody>
          <a:bodyPr wrap="square" lIns="0" tIns="0" rIns="0" bIns="0" rtlCol="0" anchor="ctr"/>
          <a:lstStyle/>
          <a:p>
            <a:pPr indent="0" marL="0">
              <a:buNone/>
            </a:pPr>
            <a:r>
              <a:rPr lang="en-US" sz="900" dirty="0">
                <a:solidFill>
                  <a:srgbClr val="2D3436"/>
                </a:solidFill>
                <a:latin typeface="Calibri" pitchFamily="34" charset="0"/>
                <a:ea typeface="Calibri" pitchFamily="34" charset="-122"/>
                <a:cs typeface="Calibri" pitchFamily="34" charset="-120"/>
              </a:rPr>
              <a:t>LLM-picked trending delivery dishes for a given area. Falls back to curated deterministic set.</a:t>
            </a:r>
            <a:endParaRPr lang="en-US" sz="900" dirty="0"/>
          </a:p>
        </p:txBody>
      </p:sp>
      <p:sp>
        <p:nvSpPr>
          <p:cNvPr id="17" name="Text 15"/>
          <p:cNvSpPr/>
          <p:nvPr/>
        </p:nvSpPr>
        <p:spPr>
          <a:xfrm>
            <a:off x="365760" y="2670048"/>
            <a:ext cx="4846320" cy="274320"/>
          </a:xfrm>
          <a:prstGeom prst="rect">
            <a:avLst/>
          </a:prstGeom>
          <a:noFill/>
          <a:ln/>
        </p:spPr>
        <p:txBody>
          <a:bodyPr wrap="square" lIns="0" tIns="0" rIns="0" bIns="0" rtlCol="0" anchor="ctr"/>
          <a:lstStyle/>
          <a:p>
            <a:pPr indent="0" marL="0">
              <a:buNone/>
            </a:pPr>
            <a:r>
              <a:rPr lang="en-US" sz="1400" b="1" dirty="0">
                <a:solidFill>
                  <a:srgbClr val="1B2A4A"/>
                </a:solidFill>
                <a:latin typeface="Cambria" pitchFamily="34" charset="0"/>
                <a:ea typeface="Cambria" pitchFamily="34" charset="-122"/>
                <a:cs typeface="Cambria" pitchFamily="34" charset="-120"/>
              </a:rPr>
              <a:t>Culinary Science Backend (Python)</a:t>
            </a:r>
            <a:endParaRPr lang="en-US" sz="1400" dirty="0"/>
          </a:p>
        </p:txBody>
      </p:sp>
      <p:sp>
        <p:nvSpPr>
          <p:cNvPr id="18" name="Text 16"/>
          <p:cNvSpPr/>
          <p:nvPr/>
        </p:nvSpPr>
        <p:spPr>
          <a:xfrm>
            <a:off x="365760" y="2980944"/>
            <a:ext cx="4800600" cy="1783080"/>
          </a:xfrm>
          <a:prstGeom prst="rect">
            <a:avLst/>
          </a:prstGeom>
          <a:noFill/>
          <a:ln/>
        </p:spPr>
        <p:txBody>
          <a:bodyPr wrap="square" rtlCol="0" anchor="ctr"/>
          <a:lstStyle/>
          <a:p>
            <a:pPr marL="342900" indent="-342900">
              <a:spcAft>
                <a:spcPts val="400"/>
              </a:spcAft>
              <a:buSzPct val="100000"/>
              <a:buChar char="•"/>
            </a:pPr>
            <a:r>
              <a:rPr lang="en-US" sz="1200" dirty="0">
                <a:solidFill>
                  <a:srgbClr val="2D3436"/>
                </a:solidFill>
                <a:latin typeface="Calibri" pitchFamily="34" charset="0"/>
                <a:ea typeface="Calibri" pitchFamily="34" charset="-122"/>
                <a:cs typeface="Calibri" pitchFamily="34" charset="-120"/>
              </a:rPr>
              <a:t>chemical_knowledge_graph.py — molecular flavor compound relationships between ingredients (scientific moat, not publicly documented)</a:t>
            </a:r>
            <a:endParaRPr lang="en-US" sz="1200" dirty="0"/>
          </a:p>
          <a:p>
            <a:pPr marL="342900" indent="-342900">
              <a:spcAft>
                <a:spcPts val="400"/>
              </a:spcAft>
              <a:buSzPct val="100000"/>
              <a:buChar char="•"/>
            </a:pPr>
            <a:r>
              <a:rPr lang="en-US" sz="1200" dirty="0">
                <a:solidFill>
                  <a:srgbClr val="2D3436"/>
                </a:solidFill>
                <a:latin typeface="Calibri" pitchFamily="34" charset="0"/>
                <a:ea typeface="Calibri" pitchFamily="34" charset="-122"/>
                <a:cs typeface="Calibri" pitchFamily="34" charset="-120"/>
              </a:rPr>
              <a:t>thermodynamic_engine.py — cooking physics: heat transfer, Maillard reactions, protein denaturation temperatures applied to recipe steps</a:t>
            </a:r>
            <a:endParaRPr lang="en-US" sz="1200" dirty="0"/>
          </a:p>
          <a:p>
            <a:pPr marL="342900" indent="-342900">
              <a:spcAft>
                <a:spcPts val="400"/>
              </a:spcAft>
              <a:buSzPct val="100000"/>
              <a:buChar char="•"/>
            </a:pPr>
            <a:r>
              <a:rPr lang="en-US" sz="1200" dirty="0">
                <a:solidFill>
                  <a:srgbClr val="2D3436"/>
                </a:solidFill>
                <a:latin typeface="Calibri" pitchFamily="34" charset="0"/>
                <a:ea typeface="Calibri" pitchFamily="34" charset="-122"/>
                <a:cs typeface="Calibri" pitchFamily="34" charset="-120"/>
              </a:rPr>
              <a:t>tcm_food_culture_engine.py — Traditional Chinese Medicine food pairing principles (warming/cooling, Five Elements) integrated with modern recipe recommendations</a:t>
            </a:r>
            <a:endParaRPr lang="en-US" sz="1200" dirty="0"/>
          </a:p>
          <a:p>
            <a:pPr marL="342900" indent="-342900">
              <a:spcAft>
                <a:spcPts val="400"/>
              </a:spcAft>
              <a:buSzPct val="100000"/>
              <a:buChar char="•"/>
            </a:pPr>
            <a:r>
              <a:rPr lang="en-US" sz="1200" dirty="0">
                <a:solidFill>
                  <a:srgbClr val="2D3436"/>
                </a:solidFill>
                <a:latin typeface="Calibri" pitchFamily="34" charset="0"/>
                <a:ea typeface="Calibri" pitchFamily="34" charset="-122"/>
                <a:cs typeface="Calibri" pitchFamily="34" charset="-120"/>
              </a:rPr>
              <a:t>food_science_encyclopedia_engine.py · nutrition_science_engine.py · ClinicalNutritionAI component (frontend)</a:t>
            </a:r>
            <a:endParaRPr lang="en-US" sz="1200" dirty="0"/>
          </a:p>
        </p:txBody>
      </p:sp>
      <p:sp>
        <p:nvSpPr>
          <p:cNvPr id="19" name="Shape 17"/>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20" name="Text 18"/>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21" name="Text 19"/>
          <p:cNvSpPr/>
          <p:nvPr/>
        </p:nvSpPr>
        <p:spPr>
          <a:xfrm>
            <a:off x="5440680" y="1325880"/>
            <a:ext cx="3246120" cy="2148840"/>
          </a:xfrm>
          <a:prstGeom prst="rect">
            <a:avLst/>
          </a:prstGeom>
          <a:noFill/>
          <a:ln/>
        </p:spPr>
        <p:txBody>
          <a:bodyPr wrap="square" lIns="0" tIns="0" rIns="0" bIns="0" rtlCol="0" anchor="ctr"/>
          <a:lstStyle/>
          <a:p>
            <a:pPr indent="0" marL="0">
              <a:buNone/>
            </a:pPr>
            <a:r>
              <a:rPr lang="en-US" sz="1200" i="1" dirty="0">
                <a:solidFill>
                  <a:srgbClr val="2C5F2D"/>
                </a:solidFill>
                <a:latin typeface="Calibri" pitchFamily="34" charset="0"/>
                <a:ea typeface="Calibri" pitchFamily="34" charset="-122"/>
                <a:cs typeface="Calibri" pitchFamily="34" charset="-120"/>
              </a:rPr>
              <a:t>A multi-modal AI cooking assistant system providing: (1) natural language recipe Q&amp;A with source attribution; (2) real-time computer vision critique of in-progress cooking steps; and (3) geography-aware trending dish recommendations — all with graceful degradation to deterministic fallback when AI is unavailable, integrated within a food discovery application.</a:t>
            </a:r>
            <a:endParaRPr lang="en-US" sz="1200" dirty="0"/>
          </a:p>
        </p:txBody>
      </p:sp>
      <p:sp>
        <p:nvSpPr>
          <p:cNvPr id="22" name="Shape 20"/>
          <p:cNvSpPr/>
          <p:nvPr/>
        </p:nvSpPr>
        <p:spPr>
          <a:xfrm>
            <a:off x="5440680" y="3520440"/>
            <a:ext cx="3246120" cy="822960"/>
          </a:xfrm>
          <a:prstGeom prst="roundRect">
            <a:avLst>
              <a:gd name="adj" fmla="val 8889"/>
            </a:avLst>
          </a:prstGeom>
          <a:solidFill>
            <a:srgbClr val="D4EBC8"/>
          </a:solidFill>
          <a:ln/>
        </p:spPr>
      </p:sp>
      <p:sp>
        <p:nvSpPr>
          <p:cNvPr id="23" name="Text 21"/>
          <p:cNvSpPr/>
          <p:nvPr/>
        </p:nvSpPr>
        <p:spPr>
          <a:xfrm>
            <a:off x="5440680" y="3566160"/>
            <a:ext cx="3246120" cy="73152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Photo cooking critique</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 TCM engine are</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novel combinations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04672"/>
          </a:xfrm>
          <a:prstGeom prst="rect">
            <a:avLst/>
          </a:prstGeom>
          <a:solidFill>
            <a:srgbClr val="1B2A4A"/>
          </a:solidFill>
          <a:ln/>
        </p:spPr>
      </p:sp>
      <p:sp>
        <p:nvSpPr>
          <p:cNvPr id="3" name="Text 1"/>
          <p:cNvSpPr/>
          <p:nvPr/>
        </p:nvSpPr>
        <p:spPr>
          <a:xfrm>
            <a:off x="365760" y="91440"/>
            <a:ext cx="8686800" cy="59436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System 05  ·  Pixel Art Food Avatar Creator + Economy Integration</a:t>
            </a:r>
            <a:endParaRPr lang="en-US" sz="1900" dirty="0"/>
          </a:p>
        </p:txBody>
      </p:sp>
      <p:sp>
        <p:nvSpPr>
          <p:cNvPr id="4" name="Text 2"/>
          <p:cNvSpPr/>
          <p:nvPr/>
        </p:nvSpPr>
        <p:spPr>
          <a:xfrm>
            <a:off x="365760" y="932688"/>
            <a:ext cx="484632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The Pixel Engine — Real Implementation</a:t>
            </a:r>
            <a:endParaRPr lang="en-US" sz="1450" dirty="0"/>
          </a:p>
        </p:txBody>
      </p:sp>
      <p:sp>
        <p:nvSpPr>
          <p:cNvPr id="5" name="Text 3"/>
          <p:cNvSpPr/>
          <p:nvPr/>
        </p:nvSpPr>
        <p:spPr>
          <a:xfrm>
            <a:off x="365760" y="1280160"/>
            <a:ext cx="4800600" cy="2331720"/>
          </a:xfrm>
          <a:prstGeom prst="rect">
            <a:avLst/>
          </a:prstGeom>
          <a:noFill/>
          <a:ln/>
        </p:spPr>
        <p:txBody>
          <a:bodyPr wrap="square" rtlCol="0" anchor="ctr"/>
          <a:lstStyle/>
          <a:p>
            <a:pPr marL="342900" indent="-342900">
              <a:spcAft>
                <a:spcPts val="500"/>
              </a:spcAft>
              <a:buSzPct val="100000"/>
              <a:buChar char="•"/>
            </a:pPr>
            <a:r>
              <a:rPr lang="en-US" sz="1250" dirty="0">
                <a:solidFill>
                  <a:srgbClr val="2D3436"/>
                </a:solidFill>
                <a:latin typeface="Calibri" pitchFamily="34" charset="0"/>
                <a:ea typeface="Calibri" pitchFamily="34" charset="-122"/>
                <a:cs typeface="Calibri" pitchFamily="34" charset="-120"/>
              </a:rPr>
              <a:t>pixelArt.js: 32×32 base grid resolution, 6 named palettes — RPG Warm, Neon Arcade, Soft Pastel, Monochrome, Stardew, Lego Bricks (using actual LEGO® brick catalog color names: Bright Red, Bright Yellow, Bright Blue, Dark Green, Magenta, Tan)</a:t>
            </a:r>
            <a:endParaRPr lang="en-US" sz="1250" dirty="0"/>
          </a:p>
          <a:p>
            <a:pPr marL="342900" indent="-342900">
              <a:spcAft>
                <a:spcPts val="500"/>
              </a:spcAft>
              <a:buSzPct val="100000"/>
              <a:buChar char="•"/>
            </a:pPr>
            <a:r>
              <a:rPr lang="en-US" sz="1250" dirty="0">
                <a:solidFill>
                  <a:srgbClr val="2D3436"/>
                </a:solidFill>
                <a:latin typeface="Calibri" pitchFamily="34" charset="0"/>
                <a:ea typeface="Calibri" pitchFamily="34" charset="-122"/>
                <a:cs typeface="Calibri" pitchFamily="34" charset="-120"/>
              </a:rPr>
              <a:t>Median-cut algorithm for photo→pixel conversion: extracts palette from the photo's own colors, then maps each cell to nearest palette color — converts a phone photo of a half-cooked dish into clean pixel art</a:t>
            </a:r>
            <a:endParaRPr lang="en-US" sz="1250" dirty="0"/>
          </a:p>
          <a:p>
            <a:pPr marL="342900" indent="-342900">
              <a:spcAft>
                <a:spcPts val="500"/>
              </a:spcAft>
              <a:buSzPct val="100000"/>
              <a:buChar char="•"/>
            </a:pPr>
            <a:r>
              <a:rPr lang="en-US" sz="1250" dirty="0">
                <a:solidFill>
                  <a:srgbClr val="2D3436"/>
                </a:solidFill>
                <a:latin typeface="Calibri" pitchFamily="34" charset="0"/>
                <a:ea typeface="Calibri" pitchFamily="34" charset="-122"/>
                <a:cs typeface="Calibri" pitchFamily="34" charset="-120"/>
              </a:rPr>
              <a:t>Floyd-Steinberg dithering (available via dither:true flag) — error diffusion algorithm preserving color gradients at pixel scale</a:t>
            </a:r>
            <a:endParaRPr lang="en-US" sz="1250" dirty="0"/>
          </a:p>
          <a:p>
            <a:pPr marL="342900" indent="-342900">
              <a:spcAft>
                <a:spcPts val="500"/>
              </a:spcAft>
              <a:buSzPct val="100000"/>
              <a:buChar char="•"/>
            </a:pPr>
            <a:r>
              <a:rPr lang="en-US" sz="1250" dirty="0">
                <a:solidFill>
                  <a:srgbClr val="2D3436"/>
                </a:solidFill>
                <a:latin typeface="Calibri" pitchFamily="34" charset="0"/>
                <a:ea typeface="Calibri" pitchFamily="34" charset="-122"/>
                <a:cs typeface="Calibri" pitchFamily="34" charset="-120"/>
              </a:rPr>
              <a:t>PixelCreator/pixelEngine.js + DiscoverGBA component (Game Boy Advance-inspired discover interface) + FinishedDishPixelator + DishPixelPreview components</a:t>
            </a:r>
            <a:endParaRPr lang="en-US" sz="1250" dirty="0"/>
          </a:p>
        </p:txBody>
      </p:sp>
      <p:sp>
        <p:nvSpPr>
          <p:cNvPr id="6" name="Shape 4"/>
          <p:cNvSpPr/>
          <p:nvPr/>
        </p:nvSpPr>
        <p:spPr>
          <a:xfrm>
            <a:off x="384048" y="3977640"/>
            <a:ext cx="128016" cy="128016"/>
          </a:xfrm>
          <a:prstGeom prst="rect">
            <a:avLst/>
          </a:prstGeom>
          <a:solidFill>
            <a:srgbClr val="D5EBC8"/>
          </a:solidFill>
          <a:ln w="5080">
            <a:solidFill>
              <a:srgbClr val="BBDBA8"/>
            </a:solidFill>
            <a:prstDash val="solid"/>
          </a:ln>
        </p:spPr>
      </p:sp>
      <p:sp>
        <p:nvSpPr>
          <p:cNvPr id="7" name="Shape 5"/>
          <p:cNvSpPr/>
          <p:nvPr/>
        </p:nvSpPr>
        <p:spPr>
          <a:xfrm>
            <a:off x="521208" y="3977640"/>
            <a:ext cx="128016" cy="128016"/>
          </a:xfrm>
          <a:prstGeom prst="rect">
            <a:avLst/>
          </a:prstGeom>
          <a:solidFill>
            <a:srgbClr val="7DAE5C"/>
          </a:solidFill>
          <a:ln w="5080">
            <a:solidFill>
              <a:srgbClr val="BBDBA8"/>
            </a:solidFill>
            <a:prstDash val="solid"/>
          </a:ln>
        </p:spPr>
      </p:sp>
      <p:sp>
        <p:nvSpPr>
          <p:cNvPr id="8" name="Shape 6"/>
          <p:cNvSpPr/>
          <p:nvPr/>
        </p:nvSpPr>
        <p:spPr>
          <a:xfrm>
            <a:off x="658368" y="3977640"/>
            <a:ext cx="128016" cy="128016"/>
          </a:xfrm>
          <a:prstGeom prst="rect">
            <a:avLst/>
          </a:prstGeom>
          <a:solidFill>
            <a:srgbClr val="7DAE5C"/>
          </a:solidFill>
          <a:ln w="5080">
            <a:solidFill>
              <a:srgbClr val="BBDBA8"/>
            </a:solidFill>
            <a:prstDash val="solid"/>
          </a:ln>
        </p:spPr>
      </p:sp>
      <p:sp>
        <p:nvSpPr>
          <p:cNvPr id="9" name="Shape 7"/>
          <p:cNvSpPr/>
          <p:nvPr/>
        </p:nvSpPr>
        <p:spPr>
          <a:xfrm>
            <a:off x="795528" y="3977640"/>
            <a:ext cx="128016" cy="128016"/>
          </a:xfrm>
          <a:prstGeom prst="rect">
            <a:avLst/>
          </a:prstGeom>
          <a:solidFill>
            <a:srgbClr val="7DAE5C"/>
          </a:solidFill>
          <a:ln w="5080">
            <a:solidFill>
              <a:srgbClr val="BBDBA8"/>
            </a:solidFill>
            <a:prstDash val="solid"/>
          </a:ln>
        </p:spPr>
      </p:sp>
      <p:sp>
        <p:nvSpPr>
          <p:cNvPr id="10" name="Shape 8"/>
          <p:cNvSpPr/>
          <p:nvPr/>
        </p:nvSpPr>
        <p:spPr>
          <a:xfrm>
            <a:off x="932688" y="3977640"/>
            <a:ext cx="128016" cy="128016"/>
          </a:xfrm>
          <a:prstGeom prst="rect">
            <a:avLst/>
          </a:prstGeom>
          <a:solidFill>
            <a:srgbClr val="7DAE5C"/>
          </a:solidFill>
          <a:ln w="5080">
            <a:solidFill>
              <a:srgbClr val="BBDBA8"/>
            </a:solidFill>
            <a:prstDash val="solid"/>
          </a:ln>
        </p:spPr>
      </p:sp>
      <p:sp>
        <p:nvSpPr>
          <p:cNvPr id="11" name="Shape 9"/>
          <p:cNvSpPr/>
          <p:nvPr/>
        </p:nvSpPr>
        <p:spPr>
          <a:xfrm>
            <a:off x="1069848" y="3977640"/>
            <a:ext cx="128016" cy="128016"/>
          </a:xfrm>
          <a:prstGeom prst="rect">
            <a:avLst/>
          </a:prstGeom>
          <a:solidFill>
            <a:srgbClr val="7DAE5C"/>
          </a:solidFill>
          <a:ln w="5080">
            <a:solidFill>
              <a:srgbClr val="BBDBA8"/>
            </a:solidFill>
            <a:prstDash val="solid"/>
          </a:ln>
        </p:spPr>
      </p:sp>
      <p:sp>
        <p:nvSpPr>
          <p:cNvPr id="12" name="Shape 10"/>
          <p:cNvSpPr/>
          <p:nvPr/>
        </p:nvSpPr>
        <p:spPr>
          <a:xfrm>
            <a:off x="1207008" y="3977640"/>
            <a:ext cx="128016" cy="128016"/>
          </a:xfrm>
          <a:prstGeom prst="rect">
            <a:avLst/>
          </a:prstGeom>
          <a:solidFill>
            <a:srgbClr val="7DAE5C"/>
          </a:solidFill>
          <a:ln w="5080">
            <a:solidFill>
              <a:srgbClr val="BBDBA8"/>
            </a:solidFill>
            <a:prstDash val="solid"/>
          </a:ln>
        </p:spPr>
      </p:sp>
      <p:sp>
        <p:nvSpPr>
          <p:cNvPr id="13" name="Shape 11"/>
          <p:cNvSpPr/>
          <p:nvPr/>
        </p:nvSpPr>
        <p:spPr>
          <a:xfrm>
            <a:off x="1344168" y="3977640"/>
            <a:ext cx="128016" cy="128016"/>
          </a:xfrm>
          <a:prstGeom prst="rect">
            <a:avLst/>
          </a:prstGeom>
          <a:solidFill>
            <a:srgbClr val="D5EBC8"/>
          </a:solidFill>
          <a:ln w="5080">
            <a:solidFill>
              <a:srgbClr val="BBDBA8"/>
            </a:solidFill>
            <a:prstDash val="solid"/>
          </a:ln>
        </p:spPr>
      </p:sp>
      <p:sp>
        <p:nvSpPr>
          <p:cNvPr id="14" name="Shape 12"/>
          <p:cNvSpPr/>
          <p:nvPr/>
        </p:nvSpPr>
        <p:spPr>
          <a:xfrm>
            <a:off x="384048" y="4114800"/>
            <a:ext cx="128016" cy="128016"/>
          </a:xfrm>
          <a:prstGeom prst="rect">
            <a:avLst/>
          </a:prstGeom>
          <a:solidFill>
            <a:srgbClr val="7DAE5C"/>
          </a:solidFill>
          <a:ln w="5080">
            <a:solidFill>
              <a:srgbClr val="BBDBA8"/>
            </a:solidFill>
            <a:prstDash val="solid"/>
          </a:ln>
        </p:spPr>
      </p:sp>
      <p:sp>
        <p:nvSpPr>
          <p:cNvPr id="15" name="Shape 13"/>
          <p:cNvSpPr/>
          <p:nvPr/>
        </p:nvSpPr>
        <p:spPr>
          <a:xfrm>
            <a:off x="521208" y="4114800"/>
            <a:ext cx="128016" cy="128016"/>
          </a:xfrm>
          <a:prstGeom prst="rect">
            <a:avLst/>
          </a:prstGeom>
          <a:solidFill>
            <a:srgbClr val="D5EBC8"/>
          </a:solidFill>
          <a:ln w="5080">
            <a:solidFill>
              <a:srgbClr val="BBDBA8"/>
            </a:solidFill>
            <a:prstDash val="solid"/>
          </a:ln>
        </p:spPr>
      </p:sp>
      <p:sp>
        <p:nvSpPr>
          <p:cNvPr id="16" name="Shape 14"/>
          <p:cNvSpPr/>
          <p:nvPr/>
        </p:nvSpPr>
        <p:spPr>
          <a:xfrm>
            <a:off x="658368" y="4114800"/>
            <a:ext cx="128016" cy="128016"/>
          </a:xfrm>
          <a:prstGeom prst="rect">
            <a:avLst/>
          </a:prstGeom>
          <a:solidFill>
            <a:srgbClr val="D5EBC8"/>
          </a:solidFill>
          <a:ln w="5080">
            <a:solidFill>
              <a:srgbClr val="BBDBA8"/>
            </a:solidFill>
            <a:prstDash val="solid"/>
          </a:ln>
        </p:spPr>
      </p:sp>
      <p:sp>
        <p:nvSpPr>
          <p:cNvPr id="17" name="Shape 15"/>
          <p:cNvSpPr/>
          <p:nvPr/>
        </p:nvSpPr>
        <p:spPr>
          <a:xfrm>
            <a:off x="795528" y="4114800"/>
            <a:ext cx="128016" cy="128016"/>
          </a:xfrm>
          <a:prstGeom prst="rect">
            <a:avLst/>
          </a:prstGeom>
          <a:solidFill>
            <a:srgbClr val="7DAE5C"/>
          </a:solidFill>
          <a:ln w="5080">
            <a:solidFill>
              <a:srgbClr val="BBDBA8"/>
            </a:solidFill>
            <a:prstDash val="solid"/>
          </a:ln>
        </p:spPr>
      </p:sp>
      <p:sp>
        <p:nvSpPr>
          <p:cNvPr id="18" name="Shape 16"/>
          <p:cNvSpPr/>
          <p:nvPr/>
        </p:nvSpPr>
        <p:spPr>
          <a:xfrm>
            <a:off x="932688" y="4114800"/>
            <a:ext cx="128016" cy="128016"/>
          </a:xfrm>
          <a:prstGeom prst="rect">
            <a:avLst/>
          </a:prstGeom>
          <a:solidFill>
            <a:srgbClr val="7DAE5C"/>
          </a:solidFill>
          <a:ln w="5080">
            <a:solidFill>
              <a:srgbClr val="BBDBA8"/>
            </a:solidFill>
            <a:prstDash val="solid"/>
          </a:ln>
        </p:spPr>
      </p:sp>
      <p:sp>
        <p:nvSpPr>
          <p:cNvPr id="19" name="Shape 17"/>
          <p:cNvSpPr/>
          <p:nvPr/>
        </p:nvSpPr>
        <p:spPr>
          <a:xfrm>
            <a:off x="1069848" y="4114800"/>
            <a:ext cx="128016" cy="128016"/>
          </a:xfrm>
          <a:prstGeom prst="rect">
            <a:avLst/>
          </a:prstGeom>
          <a:solidFill>
            <a:srgbClr val="D5EBC8"/>
          </a:solidFill>
          <a:ln w="5080">
            <a:solidFill>
              <a:srgbClr val="BBDBA8"/>
            </a:solidFill>
            <a:prstDash val="solid"/>
          </a:ln>
        </p:spPr>
      </p:sp>
      <p:sp>
        <p:nvSpPr>
          <p:cNvPr id="20" name="Shape 18"/>
          <p:cNvSpPr/>
          <p:nvPr/>
        </p:nvSpPr>
        <p:spPr>
          <a:xfrm>
            <a:off x="1207008" y="4114800"/>
            <a:ext cx="128016" cy="128016"/>
          </a:xfrm>
          <a:prstGeom prst="rect">
            <a:avLst/>
          </a:prstGeom>
          <a:solidFill>
            <a:srgbClr val="D5EBC8"/>
          </a:solidFill>
          <a:ln w="5080">
            <a:solidFill>
              <a:srgbClr val="BBDBA8"/>
            </a:solidFill>
            <a:prstDash val="solid"/>
          </a:ln>
        </p:spPr>
      </p:sp>
      <p:sp>
        <p:nvSpPr>
          <p:cNvPr id="21" name="Shape 19"/>
          <p:cNvSpPr/>
          <p:nvPr/>
        </p:nvSpPr>
        <p:spPr>
          <a:xfrm>
            <a:off x="1344168" y="4114800"/>
            <a:ext cx="128016" cy="128016"/>
          </a:xfrm>
          <a:prstGeom prst="rect">
            <a:avLst/>
          </a:prstGeom>
          <a:solidFill>
            <a:srgbClr val="7DAE5C"/>
          </a:solidFill>
          <a:ln w="5080">
            <a:solidFill>
              <a:srgbClr val="BBDBA8"/>
            </a:solidFill>
            <a:prstDash val="solid"/>
          </a:ln>
        </p:spPr>
      </p:sp>
      <p:sp>
        <p:nvSpPr>
          <p:cNvPr id="22" name="Shape 20"/>
          <p:cNvSpPr/>
          <p:nvPr/>
        </p:nvSpPr>
        <p:spPr>
          <a:xfrm>
            <a:off x="384048" y="4251960"/>
            <a:ext cx="128016" cy="128016"/>
          </a:xfrm>
          <a:prstGeom prst="rect">
            <a:avLst/>
          </a:prstGeom>
          <a:solidFill>
            <a:srgbClr val="7DAE5C"/>
          </a:solidFill>
          <a:ln w="5080">
            <a:solidFill>
              <a:srgbClr val="BBDBA8"/>
            </a:solidFill>
            <a:prstDash val="solid"/>
          </a:ln>
        </p:spPr>
      </p:sp>
      <p:sp>
        <p:nvSpPr>
          <p:cNvPr id="23" name="Shape 21"/>
          <p:cNvSpPr/>
          <p:nvPr/>
        </p:nvSpPr>
        <p:spPr>
          <a:xfrm>
            <a:off x="521208" y="4251960"/>
            <a:ext cx="128016" cy="128016"/>
          </a:xfrm>
          <a:prstGeom prst="rect">
            <a:avLst/>
          </a:prstGeom>
          <a:solidFill>
            <a:srgbClr val="D5EBC8"/>
          </a:solidFill>
          <a:ln w="5080">
            <a:solidFill>
              <a:srgbClr val="BBDBA8"/>
            </a:solidFill>
            <a:prstDash val="solid"/>
          </a:ln>
        </p:spPr>
      </p:sp>
      <p:sp>
        <p:nvSpPr>
          <p:cNvPr id="24" name="Shape 22"/>
          <p:cNvSpPr/>
          <p:nvPr/>
        </p:nvSpPr>
        <p:spPr>
          <a:xfrm>
            <a:off x="658368" y="4251960"/>
            <a:ext cx="128016" cy="128016"/>
          </a:xfrm>
          <a:prstGeom prst="rect">
            <a:avLst/>
          </a:prstGeom>
          <a:solidFill>
            <a:srgbClr val="D5EBC8"/>
          </a:solidFill>
          <a:ln w="5080">
            <a:solidFill>
              <a:srgbClr val="BBDBA8"/>
            </a:solidFill>
            <a:prstDash val="solid"/>
          </a:ln>
        </p:spPr>
      </p:sp>
      <p:sp>
        <p:nvSpPr>
          <p:cNvPr id="25" name="Shape 23"/>
          <p:cNvSpPr/>
          <p:nvPr/>
        </p:nvSpPr>
        <p:spPr>
          <a:xfrm>
            <a:off x="795528" y="4251960"/>
            <a:ext cx="128016" cy="128016"/>
          </a:xfrm>
          <a:prstGeom prst="rect">
            <a:avLst/>
          </a:prstGeom>
          <a:solidFill>
            <a:srgbClr val="7DAE5C"/>
          </a:solidFill>
          <a:ln w="5080">
            <a:solidFill>
              <a:srgbClr val="BBDBA8"/>
            </a:solidFill>
            <a:prstDash val="solid"/>
          </a:ln>
        </p:spPr>
      </p:sp>
      <p:sp>
        <p:nvSpPr>
          <p:cNvPr id="26" name="Shape 24"/>
          <p:cNvSpPr/>
          <p:nvPr/>
        </p:nvSpPr>
        <p:spPr>
          <a:xfrm>
            <a:off x="932688" y="4251960"/>
            <a:ext cx="128016" cy="128016"/>
          </a:xfrm>
          <a:prstGeom prst="rect">
            <a:avLst/>
          </a:prstGeom>
          <a:solidFill>
            <a:srgbClr val="7DAE5C"/>
          </a:solidFill>
          <a:ln w="5080">
            <a:solidFill>
              <a:srgbClr val="BBDBA8"/>
            </a:solidFill>
            <a:prstDash val="solid"/>
          </a:ln>
        </p:spPr>
      </p:sp>
      <p:sp>
        <p:nvSpPr>
          <p:cNvPr id="27" name="Shape 25"/>
          <p:cNvSpPr/>
          <p:nvPr/>
        </p:nvSpPr>
        <p:spPr>
          <a:xfrm>
            <a:off x="1069848" y="4251960"/>
            <a:ext cx="128016" cy="128016"/>
          </a:xfrm>
          <a:prstGeom prst="rect">
            <a:avLst/>
          </a:prstGeom>
          <a:solidFill>
            <a:srgbClr val="D5EBC8"/>
          </a:solidFill>
          <a:ln w="5080">
            <a:solidFill>
              <a:srgbClr val="BBDBA8"/>
            </a:solidFill>
            <a:prstDash val="solid"/>
          </a:ln>
        </p:spPr>
      </p:sp>
      <p:sp>
        <p:nvSpPr>
          <p:cNvPr id="28" name="Shape 26"/>
          <p:cNvSpPr/>
          <p:nvPr/>
        </p:nvSpPr>
        <p:spPr>
          <a:xfrm>
            <a:off x="1207008" y="4251960"/>
            <a:ext cx="128016" cy="128016"/>
          </a:xfrm>
          <a:prstGeom prst="rect">
            <a:avLst/>
          </a:prstGeom>
          <a:solidFill>
            <a:srgbClr val="D5EBC8"/>
          </a:solidFill>
          <a:ln w="5080">
            <a:solidFill>
              <a:srgbClr val="BBDBA8"/>
            </a:solidFill>
            <a:prstDash val="solid"/>
          </a:ln>
        </p:spPr>
      </p:sp>
      <p:sp>
        <p:nvSpPr>
          <p:cNvPr id="29" name="Shape 27"/>
          <p:cNvSpPr/>
          <p:nvPr/>
        </p:nvSpPr>
        <p:spPr>
          <a:xfrm>
            <a:off x="1344168" y="4251960"/>
            <a:ext cx="128016" cy="128016"/>
          </a:xfrm>
          <a:prstGeom prst="rect">
            <a:avLst/>
          </a:prstGeom>
          <a:solidFill>
            <a:srgbClr val="7DAE5C"/>
          </a:solidFill>
          <a:ln w="5080">
            <a:solidFill>
              <a:srgbClr val="BBDBA8"/>
            </a:solidFill>
            <a:prstDash val="solid"/>
          </a:ln>
        </p:spPr>
      </p:sp>
      <p:sp>
        <p:nvSpPr>
          <p:cNvPr id="30" name="Shape 28"/>
          <p:cNvSpPr/>
          <p:nvPr/>
        </p:nvSpPr>
        <p:spPr>
          <a:xfrm>
            <a:off x="384048" y="4389120"/>
            <a:ext cx="128016" cy="128016"/>
          </a:xfrm>
          <a:prstGeom prst="rect">
            <a:avLst/>
          </a:prstGeom>
          <a:solidFill>
            <a:srgbClr val="7DAE5C"/>
          </a:solidFill>
          <a:ln w="5080">
            <a:solidFill>
              <a:srgbClr val="BBDBA8"/>
            </a:solidFill>
            <a:prstDash val="solid"/>
          </a:ln>
        </p:spPr>
      </p:sp>
      <p:sp>
        <p:nvSpPr>
          <p:cNvPr id="31" name="Shape 29"/>
          <p:cNvSpPr/>
          <p:nvPr/>
        </p:nvSpPr>
        <p:spPr>
          <a:xfrm>
            <a:off x="521208" y="4389120"/>
            <a:ext cx="128016" cy="128016"/>
          </a:xfrm>
          <a:prstGeom prst="rect">
            <a:avLst/>
          </a:prstGeom>
          <a:solidFill>
            <a:srgbClr val="7DAE5C"/>
          </a:solidFill>
          <a:ln w="5080">
            <a:solidFill>
              <a:srgbClr val="BBDBA8"/>
            </a:solidFill>
            <a:prstDash val="solid"/>
          </a:ln>
        </p:spPr>
      </p:sp>
      <p:sp>
        <p:nvSpPr>
          <p:cNvPr id="32" name="Shape 30"/>
          <p:cNvSpPr/>
          <p:nvPr/>
        </p:nvSpPr>
        <p:spPr>
          <a:xfrm>
            <a:off x="658368" y="4389120"/>
            <a:ext cx="128016" cy="128016"/>
          </a:xfrm>
          <a:prstGeom prst="rect">
            <a:avLst/>
          </a:prstGeom>
          <a:solidFill>
            <a:srgbClr val="7DAE5C"/>
          </a:solidFill>
          <a:ln w="5080">
            <a:solidFill>
              <a:srgbClr val="BBDBA8"/>
            </a:solidFill>
            <a:prstDash val="solid"/>
          </a:ln>
        </p:spPr>
      </p:sp>
      <p:sp>
        <p:nvSpPr>
          <p:cNvPr id="33" name="Shape 31"/>
          <p:cNvSpPr/>
          <p:nvPr/>
        </p:nvSpPr>
        <p:spPr>
          <a:xfrm>
            <a:off x="795528" y="4389120"/>
            <a:ext cx="128016" cy="128016"/>
          </a:xfrm>
          <a:prstGeom prst="rect">
            <a:avLst/>
          </a:prstGeom>
          <a:solidFill>
            <a:srgbClr val="7DAE5C"/>
          </a:solidFill>
          <a:ln w="5080">
            <a:solidFill>
              <a:srgbClr val="BBDBA8"/>
            </a:solidFill>
            <a:prstDash val="solid"/>
          </a:ln>
        </p:spPr>
      </p:sp>
      <p:sp>
        <p:nvSpPr>
          <p:cNvPr id="34" name="Shape 32"/>
          <p:cNvSpPr/>
          <p:nvPr/>
        </p:nvSpPr>
        <p:spPr>
          <a:xfrm>
            <a:off x="932688" y="4389120"/>
            <a:ext cx="128016" cy="128016"/>
          </a:xfrm>
          <a:prstGeom prst="rect">
            <a:avLst/>
          </a:prstGeom>
          <a:solidFill>
            <a:srgbClr val="7DAE5C"/>
          </a:solidFill>
          <a:ln w="5080">
            <a:solidFill>
              <a:srgbClr val="BBDBA8"/>
            </a:solidFill>
            <a:prstDash val="solid"/>
          </a:ln>
        </p:spPr>
      </p:sp>
      <p:sp>
        <p:nvSpPr>
          <p:cNvPr id="35" name="Shape 33"/>
          <p:cNvSpPr/>
          <p:nvPr/>
        </p:nvSpPr>
        <p:spPr>
          <a:xfrm>
            <a:off x="1069848" y="4389120"/>
            <a:ext cx="128016" cy="128016"/>
          </a:xfrm>
          <a:prstGeom prst="rect">
            <a:avLst/>
          </a:prstGeom>
          <a:solidFill>
            <a:srgbClr val="7DAE5C"/>
          </a:solidFill>
          <a:ln w="5080">
            <a:solidFill>
              <a:srgbClr val="BBDBA8"/>
            </a:solidFill>
            <a:prstDash val="solid"/>
          </a:ln>
        </p:spPr>
      </p:sp>
      <p:sp>
        <p:nvSpPr>
          <p:cNvPr id="36" name="Shape 34"/>
          <p:cNvSpPr/>
          <p:nvPr/>
        </p:nvSpPr>
        <p:spPr>
          <a:xfrm>
            <a:off x="1207008" y="4389120"/>
            <a:ext cx="128016" cy="128016"/>
          </a:xfrm>
          <a:prstGeom prst="rect">
            <a:avLst/>
          </a:prstGeom>
          <a:solidFill>
            <a:srgbClr val="7DAE5C"/>
          </a:solidFill>
          <a:ln w="5080">
            <a:solidFill>
              <a:srgbClr val="BBDBA8"/>
            </a:solidFill>
            <a:prstDash val="solid"/>
          </a:ln>
        </p:spPr>
      </p:sp>
      <p:sp>
        <p:nvSpPr>
          <p:cNvPr id="37" name="Shape 35"/>
          <p:cNvSpPr/>
          <p:nvPr/>
        </p:nvSpPr>
        <p:spPr>
          <a:xfrm>
            <a:off x="1344168" y="4389120"/>
            <a:ext cx="128016" cy="128016"/>
          </a:xfrm>
          <a:prstGeom prst="rect">
            <a:avLst/>
          </a:prstGeom>
          <a:solidFill>
            <a:srgbClr val="7DAE5C"/>
          </a:solidFill>
          <a:ln w="5080">
            <a:solidFill>
              <a:srgbClr val="BBDBA8"/>
            </a:solidFill>
            <a:prstDash val="solid"/>
          </a:ln>
        </p:spPr>
      </p:sp>
      <p:sp>
        <p:nvSpPr>
          <p:cNvPr id="38" name="Shape 36"/>
          <p:cNvSpPr/>
          <p:nvPr/>
        </p:nvSpPr>
        <p:spPr>
          <a:xfrm>
            <a:off x="384048" y="4526280"/>
            <a:ext cx="128016" cy="128016"/>
          </a:xfrm>
          <a:prstGeom prst="rect">
            <a:avLst/>
          </a:prstGeom>
          <a:solidFill>
            <a:srgbClr val="7DAE5C"/>
          </a:solidFill>
          <a:ln w="5080">
            <a:solidFill>
              <a:srgbClr val="BBDBA8"/>
            </a:solidFill>
            <a:prstDash val="solid"/>
          </a:ln>
        </p:spPr>
      </p:sp>
      <p:sp>
        <p:nvSpPr>
          <p:cNvPr id="39" name="Shape 37"/>
          <p:cNvSpPr/>
          <p:nvPr/>
        </p:nvSpPr>
        <p:spPr>
          <a:xfrm>
            <a:off x="521208" y="4526280"/>
            <a:ext cx="128016" cy="128016"/>
          </a:xfrm>
          <a:prstGeom prst="rect">
            <a:avLst/>
          </a:prstGeom>
          <a:solidFill>
            <a:srgbClr val="7DAE5C"/>
          </a:solidFill>
          <a:ln w="5080">
            <a:solidFill>
              <a:srgbClr val="BBDBA8"/>
            </a:solidFill>
            <a:prstDash val="solid"/>
          </a:ln>
        </p:spPr>
      </p:sp>
      <p:sp>
        <p:nvSpPr>
          <p:cNvPr id="40" name="Shape 38"/>
          <p:cNvSpPr/>
          <p:nvPr/>
        </p:nvSpPr>
        <p:spPr>
          <a:xfrm>
            <a:off x="658368" y="4526280"/>
            <a:ext cx="128016" cy="128016"/>
          </a:xfrm>
          <a:prstGeom prst="rect">
            <a:avLst/>
          </a:prstGeom>
          <a:solidFill>
            <a:srgbClr val="D5EBC8"/>
          </a:solidFill>
          <a:ln w="5080">
            <a:solidFill>
              <a:srgbClr val="BBDBA8"/>
            </a:solidFill>
            <a:prstDash val="solid"/>
          </a:ln>
        </p:spPr>
      </p:sp>
      <p:sp>
        <p:nvSpPr>
          <p:cNvPr id="41" name="Shape 39"/>
          <p:cNvSpPr/>
          <p:nvPr/>
        </p:nvSpPr>
        <p:spPr>
          <a:xfrm>
            <a:off x="795528" y="4526280"/>
            <a:ext cx="128016" cy="128016"/>
          </a:xfrm>
          <a:prstGeom prst="rect">
            <a:avLst/>
          </a:prstGeom>
          <a:solidFill>
            <a:srgbClr val="7DAE5C"/>
          </a:solidFill>
          <a:ln w="5080">
            <a:solidFill>
              <a:srgbClr val="BBDBA8"/>
            </a:solidFill>
            <a:prstDash val="solid"/>
          </a:ln>
        </p:spPr>
      </p:sp>
      <p:sp>
        <p:nvSpPr>
          <p:cNvPr id="42" name="Shape 40"/>
          <p:cNvSpPr/>
          <p:nvPr/>
        </p:nvSpPr>
        <p:spPr>
          <a:xfrm>
            <a:off x="932688" y="4526280"/>
            <a:ext cx="128016" cy="128016"/>
          </a:xfrm>
          <a:prstGeom prst="rect">
            <a:avLst/>
          </a:prstGeom>
          <a:solidFill>
            <a:srgbClr val="7DAE5C"/>
          </a:solidFill>
          <a:ln w="5080">
            <a:solidFill>
              <a:srgbClr val="BBDBA8"/>
            </a:solidFill>
            <a:prstDash val="solid"/>
          </a:ln>
        </p:spPr>
      </p:sp>
      <p:sp>
        <p:nvSpPr>
          <p:cNvPr id="43" name="Shape 41"/>
          <p:cNvSpPr/>
          <p:nvPr/>
        </p:nvSpPr>
        <p:spPr>
          <a:xfrm>
            <a:off x="1069848" y="4526280"/>
            <a:ext cx="128016" cy="128016"/>
          </a:xfrm>
          <a:prstGeom prst="rect">
            <a:avLst/>
          </a:prstGeom>
          <a:solidFill>
            <a:srgbClr val="D5EBC8"/>
          </a:solidFill>
          <a:ln w="5080">
            <a:solidFill>
              <a:srgbClr val="BBDBA8"/>
            </a:solidFill>
            <a:prstDash val="solid"/>
          </a:ln>
        </p:spPr>
      </p:sp>
      <p:sp>
        <p:nvSpPr>
          <p:cNvPr id="44" name="Shape 42"/>
          <p:cNvSpPr/>
          <p:nvPr/>
        </p:nvSpPr>
        <p:spPr>
          <a:xfrm>
            <a:off x="1207008" y="4526280"/>
            <a:ext cx="128016" cy="128016"/>
          </a:xfrm>
          <a:prstGeom prst="rect">
            <a:avLst/>
          </a:prstGeom>
          <a:solidFill>
            <a:srgbClr val="7DAE5C"/>
          </a:solidFill>
          <a:ln w="5080">
            <a:solidFill>
              <a:srgbClr val="BBDBA8"/>
            </a:solidFill>
            <a:prstDash val="solid"/>
          </a:ln>
        </p:spPr>
      </p:sp>
      <p:sp>
        <p:nvSpPr>
          <p:cNvPr id="45" name="Shape 43"/>
          <p:cNvSpPr/>
          <p:nvPr/>
        </p:nvSpPr>
        <p:spPr>
          <a:xfrm>
            <a:off x="1344168" y="4526280"/>
            <a:ext cx="128016" cy="128016"/>
          </a:xfrm>
          <a:prstGeom prst="rect">
            <a:avLst/>
          </a:prstGeom>
          <a:solidFill>
            <a:srgbClr val="7DAE5C"/>
          </a:solidFill>
          <a:ln w="5080">
            <a:solidFill>
              <a:srgbClr val="BBDBA8"/>
            </a:solidFill>
            <a:prstDash val="solid"/>
          </a:ln>
        </p:spPr>
      </p:sp>
      <p:sp>
        <p:nvSpPr>
          <p:cNvPr id="46" name="Shape 44"/>
          <p:cNvSpPr/>
          <p:nvPr/>
        </p:nvSpPr>
        <p:spPr>
          <a:xfrm>
            <a:off x="384048" y="4663440"/>
            <a:ext cx="128016" cy="128016"/>
          </a:xfrm>
          <a:prstGeom prst="rect">
            <a:avLst/>
          </a:prstGeom>
          <a:solidFill>
            <a:srgbClr val="7DAE5C"/>
          </a:solidFill>
          <a:ln w="5080">
            <a:solidFill>
              <a:srgbClr val="BBDBA8"/>
            </a:solidFill>
            <a:prstDash val="solid"/>
          </a:ln>
        </p:spPr>
      </p:sp>
      <p:sp>
        <p:nvSpPr>
          <p:cNvPr id="47" name="Shape 45"/>
          <p:cNvSpPr/>
          <p:nvPr/>
        </p:nvSpPr>
        <p:spPr>
          <a:xfrm>
            <a:off x="521208" y="4663440"/>
            <a:ext cx="128016" cy="128016"/>
          </a:xfrm>
          <a:prstGeom prst="rect">
            <a:avLst/>
          </a:prstGeom>
          <a:solidFill>
            <a:srgbClr val="7DAE5C"/>
          </a:solidFill>
          <a:ln w="5080">
            <a:solidFill>
              <a:srgbClr val="BBDBA8"/>
            </a:solidFill>
            <a:prstDash val="solid"/>
          </a:ln>
        </p:spPr>
      </p:sp>
      <p:sp>
        <p:nvSpPr>
          <p:cNvPr id="48" name="Shape 46"/>
          <p:cNvSpPr/>
          <p:nvPr/>
        </p:nvSpPr>
        <p:spPr>
          <a:xfrm>
            <a:off x="658368" y="4663440"/>
            <a:ext cx="128016" cy="128016"/>
          </a:xfrm>
          <a:prstGeom prst="rect">
            <a:avLst/>
          </a:prstGeom>
          <a:solidFill>
            <a:srgbClr val="7DAE5C"/>
          </a:solidFill>
          <a:ln w="5080">
            <a:solidFill>
              <a:srgbClr val="BBDBA8"/>
            </a:solidFill>
            <a:prstDash val="solid"/>
          </a:ln>
        </p:spPr>
      </p:sp>
      <p:sp>
        <p:nvSpPr>
          <p:cNvPr id="49" name="Shape 47"/>
          <p:cNvSpPr/>
          <p:nvPr/>
        </p:nvSpPr>
        <p:spPr>
          <a:xfrm>
            <a:off x="795528" y="4663440"/>
            <a:ext cx="128016" cy="128016"/>
          </a:xfrm>
          <a:prstGeom prst="rect">
            <a:avLst/>
          </a:prstGeom>
          <a:solidFill>
            <a:srgbClr val="D5EBC8"/>
          </a:solidFill>
          <a:ln w="5080">
            <a:solidFill>
              <a:srgbClr val="BBDBA8"/>
            </a:solidFill>
            <a:prstDash val="solid"/>
          </a:ln>
        </p:spPr>
      </p:sp>
      <p:sp>
        <p:nvSpPr>
          <p:cNvPr id="50" name="Shape 48"/>
          <p:cNvSpPr/>
          <p:nvPr/>
        </p:nvSpPr>
        <p:spPr>
          <a:xfrm>
            <a:off x="932688" y="4663440"/>
            <a:ext cx="128016" cy="128016"/>
          </a:xfrm>
          <a:prstGeom prst="rect">
            <a:avLst/>
          </a:prstGeom>
          <a:solidFill>
            <a:srgbClr val="D5EBC8"/>
          </a:solidFill>
          <a:ln w="5080">
            <a:solidFill>
              <a:srgbClr val="BBDBA8"/>
            </a:solidFill>
            <a:prstDash val="solid"/>
          </a:ln>
        </p:spPr>
      </p:sp>
      <p:sp>
        <p:nvSpPr>
          <p:cNvPr id="51" name="Shape 49"/>
          <p:cNvSpPr/>
          <p:nvPr/>
        </p:nvSpPr>
        <p:spPr>
          <a:xfrm>
            <a:off x="1069848" y="4663440"/>
            <a:ext cx="128016" cy="128016"/>
          </a:xfrm>
          <a:prstGeom prst="rect">
            <a:avLst/>
          </a:prstGeom>
          <a:solidFill>
            <a:srgbClr val="7DAE5C"/>
          </a:solidFill>
          <a:ln w="5080">
            <a:solidFill>
              <a:srgbClr val="BBDBA8"/>
            </a:solidFill>
            <a:prstDash val="solid"/>
          </a:ln>
        </p:spPr>
      </p:sp>
      <p:sp>
        <p:nvSpPr>
          <p:cNvPr id="52" name="Shape 50"/>
          <p:cNvSpPr/>
          <p:nvPr/>
        </p:nvSpPr>
        <p:spPr>
          <a:xfrm>
            <a:off x="1207008" y="4663440"/>
            <a:ext cx="128016" cy="128016"/>
          </a:xfrm>
          <a:prstGeom prst="rect">
            <a:avLst/>
          </a:prstGeom>
          <a:solidFill>
            <a:srgbClr val="7DAE5C"/>
          </a:solidFill>
          <a:ln w="5080">
            <a:solidFill>
              <a:srgbClr val="BBDBA8"/>
            </a:solidFill>
            <a:prstDash val="solid"/>
          </a:ln>
        </p:spPr>
      </p:sp>
      <p:sp>
        <p:nvSpPr>
          <p:cNvPr id="53" name="Shape 51"/>
          <p:cNvSpPr/>
          <p:nvPr/>
        </p:nvSpPr>
        <p:spPr>
          <a:xfrm>
            <a:off x="1344168" y="4663440"/>
            <a:ext cx="128016" cy="128016"/>
          </a:xfrm>
          <a:prstGeom prst="rect">
            <a:avLst/>
          </a:prstGeom>
          <a:solidFill>
            <a:srgbClr val="7DAE5C"/>
          </a:solidFill>
          <a:ln w="5080">
            <a:solidFill>
              <a:srgbClr val="BBDBA8"/>
            </a:solidFill>
            <a:prstDash val="solid"/>
          </a:ln>
        </p:spPr>
      </p:sp>
      <p:sp>
        <p:nvSpPr>
          <p:cNvPr id="54" name="Shape 52"/>
          <p:cNvSpPr/>
          <p:nvPr/>
        </p:nvSpPr>
        <p:spPr>
          <a:xfrm>
            <a:off x="384048" y="4800600"/>
            <a:ext cx="128016" cy="128016"/>
          </a:xfrm>
          <a:prstGeom prst="rect">
            <a:avLst/>
          </a:prstGeom>
          <a:solidFill>
            <a:srgbClr val="D5EBC8"/>
          </a:solidFill>
          <a:ln w="5080">
            <a:solidFill>
              <a:srgbClr val="BBDBA8"/>
            </a:solidFill>
            <a:prstDash val="solid"/>
          </a:ln>
        </p:spPr>
      </p:sp>
      <p:sp>
        <p:nvSpPr>
          <p:cNvPr id="55" name="Shape 53"/>
          <p:cNvSpPr/>
          <p:nvPr/>
        </p:nvSpPr>
        <p:spPr>
          <a:xfrm>
            <a:off x="521208" y="4800600"/>
            <a:ext cx="128016" cy="128016"/>
          </a:xfrm>
          <a:prstGeom prst="rect">
            <a:avLst/>
          </a:prstGeom>
          <a:solidFill>
            <a:srgbClr val="7DAE5C"/>
          </a:solidFill>
          <a:ln w="5080">
            <a:solidFill>
              <a:srgbClr val="BBDBA8"/>
            </a:solidFill>
            <a:prstDash val="solid"/>
          </a:ln>
        </p:spPr>
      </p:sp>
      <p:sp>
        <p:nvSpPr>
          <p:cNvPr id="56" name="Shape 54"/>
          <p:cNvSpPr/>
          <p:nvPr/>
        </p:nvSpPr>
        <p:spPr>
          <a:xfrm>
            <a:off x="658368" y="4800600"/>
            <a:ext cx="128016" cy="128016"/>
          </a:xfrm>
          <a:prstGeom prst="rect">
            <a:avLst/>
          </a:prstGeom>
          <a:solidFill>
            <a:srgbClr val="7DAE5C"/>
          </a:solidFill>
          <a:ln w="5080">
            <a:solidFill>
              <a:srgbClr val="BBDBA8"/>
            </a:solidFill>
            <a:prstDash val="solid"/>
          </a:ln>
        </p:spPr>
      </p:sp>
      <p:sp>
        <p:nvSpPr>
          <p:cNvPr id="57" name="Shape 55"/>
          <p:cNvSpPr/>
          <p:nvPr/>
        </p:nvSpPr>
        <p:spPr>
          <a:xfrm>
            <a:off x="795528" y="4800600"/>
            <a:ext cx="128016" cy="128016"/>
          </a:xfrm>
          <a:prstGeom prst="rect">
            <a:avLst/>
          </a:prstGeom>
          <a:solidFill>
            <a:srgbClr val="7DAE5C"/>
          </a:solidFill>
          <a:ln w="5080">
            <a:solidFill>
              <a:srgbClr val="BBDBA8"/>
            </a:solidFill>
            <a:prstDash val="solid"/>
          </a:ln>
        </p:spPr>
      </p:sp>
      <p:sp>
        <p:nvSpPr>
          <p:cNvPr id="58" name="Shape 56"/>
          <p:cNvSpPr/>
          <p:nvPr/>
        </p:nvSpPr>
        <p:spPr>
          <a:xfrm>
            <a:off x="932688" y="4800600"/>
            <a:ext cx="128016" cy="128016"/>
          </a:xfrm>
          <a:prstGeom prst="rect">
            <a:avLst/>
          </a:prstGeom>
          <a:solidFill>
            <a:srgbClr val="7DAE5C"/>
          </a:solidFill>
          <a:ln w="5080">
            <a:solidFill>
              <a:srgbClr val="BBDBA8"/>
            </a:solidFill>
            <a:prstDash val="solid"/>
          </a:ln>
        </p:spPr>
      </p:sp>
      <p:sp>
        <p:nvSpPr>
          <p:cNvPr id="59" name="Shape 57"/>
          <p:cNvSpPr/>
          <p:nvPr/>
        </p:nvSpPr>
        <p:spPr>
          <a:xfrm>
            <a:off x="1069848" y="4800600"/>
            <a:ext cx="128016" cy="128016"/>
          </a:xfrm>
          <a:prstGeom prst="rect">
            <a:avLst/>
          </a:prstGeom>
          <a:solidFill>
            <a:srgbClr val="7DAE5C"/>
          </a:solidFill>
          <a:ln w="5080">
            <a:solidFill>
              <a:srgbClr val="BBDBA8"/>
            </a:solidFill>
            <a:prstDash val="solid"/>
          </a:ln>
        </p:spPr>
      </p:sp>
      <p:sp>
        <p:nvSpPr>
          <p:cNvPr id="60" name="Shape 58"/>
          <p:cNvSpPr/>
          <p:nvPr/>
        </p:nvSpPr>
        <p:spPr>
          <a:xfrm>
            <a:off x="1207008" y="4800600"/>
            <a:ext cx="128016" cy="128016"/>
          </a:xfrm>
          <a:prstGeom prst="rect">
            <a:avLst/>
          </a:prstGeom>
          <a:solidFill>
            <a:srgbClr val="7DAE5C"/>
          </a:solidFill>
          <a:ln w="5080">
            <a:solidFill>
              <a:srgbClr val="BBDBA8"/>
            </a:solidFill>
            <a:prstDash val="solid"/>
          </a:ln>
        </p:spPr>
      </p:sp>
      <p:sp>
        <p:nvSpPr>
          <p:cNvPr id="61" name="Shape 59"/>
          <p:cNvSpPr/>
          <p:nvPr/>
        </p:nvSpPr>
        <p:spPr>
          <a:xfrm>
            <a:off x="1344168" y="4800600"/>
            <a:ext cx="128016" cy="128016"/>
          </a:xfrm>
          <a:prstGeom prst="rect">
            <a:avLst/>
          </a:prstGeom>
          <a:solidFill>
            <a:srgbClr val="D5EBC8"/>
          </a:solidFill>
          <a:ln w="5080">
            <a:solidFill>
              <a:srgbClr val="BBDBA8"/>
            </a:solidFill>
            <a:prstDash val="solid"/>
          </a:ln>
        </p:spPr>
      </p:sp>
      <p:sp>
        <p:nvSpPr>
          <p:cNvPr id="62" name="Shape 60"/>
          <p:cNvSpPr/>
          <p:nvPr/>
        </p:nvSpPr>
        <p:spPr>
          <a:xfrm>
            <a:off x="384048" y="4937760"/>
            <a:ext cx="128016" cy="128016"/>
          </a:xfrm>
          <a:prstGeom prst="rect">
            <a:avLst/>
          </a:prstGeom>
          <a:solidFill>
            <a:srgbClr val="D5EBC8"/>
          </a:solidFill>
          <a:ln w="5080">
            <a:solidFill>
              <a:srgbClr val="BBDBA8"/>
            </a:solidFill>
            <a:prstDash val="solid"/>
          </a:ln>
        </p:spPr>
      </p:sp>
      <p:sp>
        <p:nvSpPr>
          <p:cNvPr id="63" name="Shape 61"/>
          <p:cNvSpPr/>
          <p:nvPr/>
        </p:nvSpPr>
        <p:spPr>
          <a:xfrm>
            <a:off x="521208" y="4937760"/>
            <a:ext cx="128016" cy="128016"/>
          </a:xfrm>
          <a:prstGeom prst="rect">
            <a:avLst/>
          </a:prstGeom>
          <a:solidFill>
            <a:srgbClr val="D5EBC8"/>
          </a:solidFill>
          <a:ln w="5080">
            <a:solidFill>
              <a:srgbClr val="BBDBA8"/>
            </a:solidFill>
            <a:prstDash val="solid"/>
          </a:ln>
        </p:spPr>
      </p:sp>
      <p:sp>
        <p:nvSpPr>
          <p:cNvPr id="64" name="Shape 62"/>
          <p:cNvSpPr/>
          <p:nvPr/>
        </p:nvSpPr>
        <p:spPr>
          <a:xfrm>
            <a:off x="658368" y="4937760"/>
            <a:ext cx="128016" cy="128016"/>
          </a:xfrm>
          <a:prstGeom prst="rect">
            <a:avLst/>
          </a:prstGeom>
          <a:solidFill>
            <a:srgbClr val="7DAE5C"/>
          </a:solidFill>
          <a:ln w="5080">
            <a:solidFill>
              <a:srgbClr val="BBDBA8"/>
            </a:solidFill>
            <a:prstDash val="solid"/>
          </a:ln>
        </p:spPr>
      </p:sp>
      <p:sp>
        <p:nvSpPr>
          <p:cNvPr id="65" name="Shape 63"/>
          <p:cNvSpPr/>
          <p:nvPr/>
        </p:nvSpPr>
        <p:spPr>
          <a:xfrm>
            <a:off x="795528" y="4937760"/>
            <a:ext cx="128016" cy="128016"/>
          </a:xfrm>
          <a:prstGeom prst="rect">
            <a:avLst/>
          </a:prstGeom>
          <a:solidFill>
            <a:srgbClr val="7DAE5C"/>
          </a:solidFill>
          <a:ln w="5080">
            <a:solidFill>
              <a:srgbClr val="BBDBA8"/>
            </a:solidFill>
            <a:prstDash val="solid"/>
          </a:ln>
        </p:spPr>
      </p:sp>
      <p:sp>
        <p:nvSpPr>
          <p:cNvPr id="66" name="Shape 64"/>
          <p:cNvSpPr/>
          <p:nvPr/>
        </p:nvSpPr>
        <p:spPr>
          <a:xfrm>
            <a:off x="932688" y="4937760"/>
            <a:ext cx="128016" cy="128016"/>
          </a:xfrm>
          <a:prstGeom prst="rect">
            <a:avLst/>
          </a:prstGeom>
          <a:solidFill>
            <a:srgbClr val="7DAE5C"/>
          </a:solidFill>
          <a:ln w="5080">
            <a:solidFill>
              <a:srgbClr val="BBDBA8"/>
            </a:solidFill>
            <a:prstDash val="solid"/>
          </a:ln>
        </p:spPr>
      </p:sp>
      <p:sp>
        <p:nvSpPr>
          <p:cNvPr id="67" name="Shape 65"/>
          <p:cNvSpPr/>
          <p:nvPr/>
        </p:nvSpPr>
        <p:spPr>
          <a:xfrm>
            <a:off x="1069848" y="4937760"/>
            <a:ext cx="128016" cy="128016"/>
          </a:xfrm>
          <a:prstGeom prst="rect">
            <a:avLst/>
          </a:prstGeom>
          <a:solidFill>
            <a:srgbClr val="7DAE5C"/>
          </a:solidFill>
          <a:ln w="5080">
            <a:solidFill>
              <a:srgbClr val="BBDBA8"/>
            </a:solidFill>
            <a:prstDash val="solid"/>
          </a:ln>
        </p:spPr>
      </p:sp>
      <p:sp>
        <p:nvSpPr>
          <p:cNvPr id="68" name="Shape 66"/>
          <p:cNvSpPr/>
          <p:nvPr/>
        </p:nvSpPr>
        <p:spPr>
          <a:xfrm>
            <a:off x="1207008" y="4937760"/>
            <a:ext cx="128016" cy="128016"/>
          </a:xfrm>
          <a:prstGeom prst="rect">
            <a:avLst/>
          </a:prstGeom>
          <a:solidFill>
            <a:srgbClr val="D5EBC8"/>
          </a:solidFill>
          <a:ln w="5080">
            <a:solidFill>
              <a:srgbClr val="BBDBA8"/>
            </a:solidFill>
            <a:prstDash val="solid"/>
          </a:ln>
        </p:spPr>
      </p:sp>
      <p:sp>
        <p:nvSpPr>
          <p:cNvPr id="69" name="Shape 67"/>
          <p:cNvSpPr/>
          <p:nvPr/>
        </p:nvSpPr>
        <p:spPr>
          <a:xfrm>
            <a:off x="1344168" y="4937760"/>
            <a:ext cx="128016" cy="128016"/>
          </a:xfrm>
          <a:prstGeom prst="rect">
            <a:avLst/>
          </a:prstGeom>
          <a:solidFill>
            <a:srgbClr val="D5EBC8"/>
          </a:solidFill>
          <a:ln w="5080">
            <a:solidFill>
              <a:srgbClr val="BBDBA8"/>
            </a:solidFill>
            <a:prstDash val="solid"/>
          </a:ln>
        </p:spPr>
      </p:sp>
      <p:sp>
        <p:nvSpPr>
          <p:cNvPr id="70" name="Text 68"/>
          <p:cNvSpPr/>
          <p:nvPr/>
        </p:nvSpPr>
        <p:spPr>
          <a:xfrm>
            <a:off x="384048" y="3776472"/>
            <a:ext cx="1280160" cy="182880"/>
          </a:xfrm>
          <a:prstGeom prst="rect">
            <a:avLst/>
          </a:prstGeom>
          <a:noFill/>
          <a:ln/>
        </p:spPr>
        <p:txBody>
          <a:bodyPr wrap="square" lIns="0" tIns="0" rIns="0" bIns="0" rtlCol="0" anchor="ctr"/>
          <a:lstStyle/>
          <a:p>
            <a:pPr indent="0" marL="0">
              <a:buNone/>
            </a:pPr>
            <a:r>
              <a:rPr lang="en-US" sz="800" dirty="0">
                <a:solidFill>
                  <a:srgbClr val="2D3436"/>
                </a:solidFill>
                <a:latin typeface="Calibri" pitchFamily="34" charset="0"/>
                <a:ea typeface="Calibri" pitchFamily="34" charset="-122"/>
                <a:cs typeface="Calibri" pitchFamily="34" charset="-120"/>
              </a:rPr>
              <a:t>Pixel food sprite (32x32)</a:t>
            </a:r>
            <a:endParaRPr lang="en-US" sz="800" dirty="0"/>
          </a:p>
        </p:txBody>
      </p:sp>
      <p:sp>
        <p:nvSpPr>
          <p:cNvPr id="71" name="Shape 69"/>
          <p:cNvSpPr/>
          <p:nvPr/>
        </p:nvSpPr>
        <p:spPr>
          <a:xfrm>
            <a:off x="5349240" y="896112"/>
            <a:ext cx="3429000" cy="3657600"/>
          </a:xfrm>
          <a:prstGeom prst="roundRect">
            <a:avLst>
              <a:gd name="adj" fmla="val 2667"/>
            </a:avLst>
          </a:prstGeom>
          <a:solidFill>
            <a:srgbClr val="E8F1E0"/>
          </a:solidFill>
          <a:ln w="19050">
            <a:solidFill>
              <a:srgbClr val="7DAE5C"/>
            </a:solidFill>
            <a:prstDash val="solid"/>
          </a:ln>
          <a:effectLst>
            <a:outerShdw sx="100000" sy="100000" kx="0" ky="0" algn="bl" rotWithShape="0" blurRad="101600" dist="38100" dir="2700000">
              <a:srgbClr val="000000">
                <a:alpha val="12000"/>
              </a:srgbClr>
            </a:outerShdw>
          </a:effectLst>
        </p:spPr>
      </p:sp>
      <p:sp>
        <p:nvSpPr>
          <p:cNvPr id="72" name="Text 70"/>
          <p:cNvSpPr/>
          <p:nvPr/>
        </p:nvSpPr>
        <p:spPr>
          <a:xfrm>
            <a:off x="5440680" y="996696"/>
            <a:ext cx="3246120" cy="274320"/>
          </a:xfrm>
          <a:prstGeom prst="rect">
            <a:avLst/>
          </a:prstGeom>
          <a:noFill/>
          <a:ln/>
        </p:spPr>
        <p:txBody>
          <a:bodyPr wrap="square" lIns="0" tIns="0" rIns="0" bIns="0" rtlCol="0" anchor="ctr"/>
          <a:lstStyle/>
          <a:p>
            <a:pPr algn="ctr" indent="0" marL="0">
              <a:buNone/>
            </a:pPr>
            <a:r>
              <a:rPr lang="en-US" sz="950" b="1" spc="150" kern="0" dirty="0">
                <a:solidFill>
                  <a:srgbClr val="7DAE5C"/>
                </a:solidFill>
                <a:latin typeface="Calibri" pitchFamily="34" charset="0"/>
                <a:ea typeface="Calibri" pitchFamily="34" charset="-122"/>
                <a:cs typeface="Calibri" pitchFamily="34" charset="-120"/>
              </a:rPr>
              <a:t>POTENTIAL PATENT CLAIM</a:t>
            </a:r>
            <a:endParaRPr lang="en-US" sz="950" dirty="0"/>
          </a:p>
        </p:txBody>
      </p:sp>
      <p:sp>
        <p:nvSpPr>
          <p:cNvPr id="73" name="Text 71"/>
          <p:cNvSpPr/>
          <p:nvPr/>
        </p:nvSpPr>
        <p:spPr>
          <a:xfrm>
            <a:off x="5440680" y="1325880"/>
            <a:ext cx="3246120" cy="2331720"/>
          </a:xfrm>
          <a:prstGeom prst="rect">
            <a:avLst/>
          </a:prstGeom>
          <a:noFill/>
          <a:ln/>
        </p:spPr>
        <p:txBody>
          <a:bodyPr wrap="square" lIns="0" tIns="0" rIns="0" bIns="0" rtlCol="0" anchor="ctr"/>
          <a:lstStyle/>
          <a:p>
            <a:pPr indent="0" marL="0">
              <a:buNone/>
            </a:pPr>
            <a:r>
              <a:rPr lang="en-US" sz="1150" i="1" dirty="0">
                <a:solidFill>
                  <a:srgbClr val="2C5F2D"/>
                </a:solidFill>
                <a:latin typeface="Calibri" pitchFamily="34" charset="0"/>
                <a:ea typeface="Calibri" pitchFamily="34" charset="-122"/>
                <a:cs typeface="Calibri" pitchFamily="34" charset="-120"/>
              </a:rPr>
              <a:t>The integration of a pixel art food avatar creator — using median-cut palette extraction for real-time photo-to-pixel conversion and named culinary/gaming-themed color palettes — with a real-world retail check-in reward economy where physical store visits earn virtual currency redeemable for digital avatar cosmetic items.</a:t>
            </a:r>
            <a:endParaRPr lang="en-US" sz="1150" dirty="0"/>
          </a:p>
          <a:p>
            <a:pPr indent="0" marL="0">
              <a:buNone/>
            </a:pPr>
            <a:endParaRPr lang="en-US" sz="1150" dirty="0"/>
          </a:p>
          <a:p>
            <a:pPr indent="0" marL="0">
              <a:buNone/>
            </a:pPr>
            <a:r>
              <a:rPr lang="en-US" sz="1150" i="1" dirty="0">
                <a:solidFill>
                  <a:srgbClr val="2C5F2D"/>
                </a:solidFill>
                <a:latin typeface="Calibri" pitchFamily="34" charset="0"/>
                <a:ea typeface="Calibri" pitchFamily="34" charset="-122"/>
                <a:cs typeface="Calibri" pitchFamily="34" charset="-120"/>
              </a:rPr>
              <a:t>Also: design patent for the pixel art food character visual aesthetic and named palette identities.</a:t>
            </a:r>
            <a:endParaRPr lang="en-US" sz="1150" dirty="0"/>
          </a:p>
        </p:txBody>
      </p:sp>
      <p:sp>
        <p:nvSpPr>
          <p:cNvPr id="74" name="Shape 72"/>
          <p:cNvSpPr/>
          <p:nvPr/>
        </p:nvSpPr>
        <p:spPr>
          <a:xfrm>
            <a:off x="5440680" y="3703320"/>
            <a:ext cx="3246120" cy="640080"/>
          </a:xfrm>
          <a:prstGeom prst="roundRect">
            <a:avLst>
              <a:gd name="adj" fmla="val 11429"/>
            </a:avLst>
          </a:prstGeom>
          <a:solidFill>
            <a:srgbClr val="D4EBC8"/>
          </a:solidFill>
          <a:ln/>
        </p:spPr>
      </p:sp>
      <p:sp>
        <p:nvSpPr>
          <p:cNvPr id="75" name="Text 73"/>
          <p:cNvSpPr/>
          <p:nvPr/>
        </p:nvSpPr>
        <p:spPr>
          <a:xfrm>
            <a:off x="5440680" y="3749040"/>
            <a:ext cx="3246120" cy="548640"/>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Photo→pixel conversion</a:t>
            </a:r>
            <a:endParaRPr lang="en-US" sz="1200" dirty="0"/>
          </a:p>
          <a:p>
            <a:pPr algn="ctr" indent="0" marL="0">
              <a:buNone/>
            </a:pPr>
            <a:r>
              <a:rPr lang="en-US" sz="1200" b="1" dirty="0">
                <a:solidFill>
                  <a:srgbClr val="1B2A4A"/>
                </a:solidFill>
                <a:latin typeface="Cambria" pitchFamily="34" charset="0"/>
                <a:ea typeface="Cambria" pitchFamily="34" charset="-122"/>
                <a:cs typeface="Cambria" pitchFamily="34" charset="-120"/>
              </a:rPr>
              <a:t>in a food app is novel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01168"/>
            <a:ext cx="8412480" cy="512064"/>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Prior Art Awareness</a:t>
            </a:r>
            <a:endParaRPr lang="en-US" sz="3200" dirty="0"/>
          </a:p>
        </p:txBody>
      </p:sp>
      <p:sp>
        <p:nvSpPr>
          <p:cNvPr id="3" name="Text 1"/>
          <p:cNvSpPr/>
          <p:nvPr/>
        </p:nvSpPr>
        <p:spPr>
          <a:xfrm>
            <a:off x="365760" y="713232"/>
            <a:ext cx="8412480" cy="256032"/>
          </a:xfrm>
          <a:prstGeom prst="rect">
            <a:avLst/>
          </a:prstGeom>
          <a:noFill/>
          <a:ln/>
        </p:spPr>
        <p:txBody>
          <a:bodyPr wrap="square" lIns="0" tIns="0" rIns="0" bIns="0" rtlCol="0" anchor="ctr"/>
          <a:lstStyle/>
          <a:p>
            <a:pPr indent="0" marL="0">
              <a:buNone/>
            </a:pPr>
            <a:r>
              <a:rPr lang="en-US" sz="1350" i="1" dirty="0">
                <a:solidFill>
                  <a:srgbClr val="637074"/>
                </a:solidFill>
                <a:latin typeface="Calibri" pitchFamily="34" charset="0"/>
                <a:ea typeface="Calibri" pitchFamily="34" charset="-122"/>
                <a:cs typeface="Calibri" pitchFamily="34" charset="-120"/>
              </a:rPr>
              <a:t>Overlapping products exist — none combine all five elements or the dual-backend dual-sided architecture</a:t>
            </a:r>
            <a:endParaRPr lang="en-US" sz="13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024128"/>
          <a:ext cx="8412480" cy="914400"/>
        </p:xfrm>
        <a:graphic>
          <a:graphicData uri="http://schemas.openxmlformats.org/drawingml/2006/table">
            <a:tbl>
              <a:tblPr/>
              <a:tblGrid>
                <a:gridCol w="1828800"/>
                <a:gridCol w="2286000"/>
                <a:gridCol w="4297680"/>
              </a:tblGrid>
              <a:tr h="402336">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Competitor</a:t>
                      </a:r>
                      <a:endParaRPr lang="en-US" sz="1150" dirty="0">
                        <a:latin typeface="Cambria" charset="0"/>
                        <a:ea typeface="Cambria" charset="0"/>
                        <a:cs typeface="Cambria"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Overlap</a:t>
                      </a:r>
                      <a:endParaRPr lang="en-US" sz="1150" dirty="0">
                        <a:latin typeface="Cambria" charset="0"/>
                        <a:ea typeface="Cambria" charset="0"/>
                        <a:cs typeface="Cambria"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c>
                  <a:txBody>
                    <a:bodyPr/>
                    <a:lstStyle/>
                    <a:p>
                      <a:pPr indent="0" marL="0">
                        <a:buNone/>
                      </a:pPr>
                      <a:r>
                        <a:rPr lang="en-US" sz="1150" b="1" dirty="0">
                          <a:solidFill>
                            <a:srgbClr val="FFFFFF"/>
                          </a:solidFill>
                          <a:latin typeface="Cambria" pitchFamily="34" charset="0"/>
                          <a:ea typeface="Cambria" pitchFamily="34" charset="-122"/>
                          <a:cs typeface="Cambria" pitchFamily="34" charset="-120"/>
                        </a:rPr>
                        <a:t>Why Dig In's IP Is Distinct</a:t>
                      </a:r>
                      <a:endParaRPr lang="en-US" sz="1150" dirty="0">
                        <a:latin typeface="Cambria" charset="0"/>
                        <a:ea typeface="Cambria" charset="0"/>
                        <a:cs typeface="Cambria"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B2A4A"/>
                    </a:solidFill>
                  </a:tcPr>
                </a:tc>
              </a:tr>
              <a:tr h="402336">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Foursquare / Swarm</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Location check-ins, badges, gamification</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No food data, no B2B retail intelligence, no recipes, no pixel art, no AI cooking critique</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Yummly</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Recipe database, personalization</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No check-ins, no B2B data layer, no avatar creator, no store map, no Nova AI vision critique</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r>
              <a:tr h="402336">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Numerator</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Retail behavioral data</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Passive receipt scanning — no consumer engagement loop, no gamification, no IP moat</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Instacart</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Grocery discovery, ingredient lists</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Online orders only — no gamification, no cross-retailer intelligence, no recipes, no avatar</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r>
              <a:tr h="402336">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Google Maps / Yelp</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Store locations, check-ins, reviews</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No food recipes, no coin economy, no B2B reports sold to stores, no pixel art, no AI cooking critique</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02336">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Allrecipes / FoodNetwork</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Recipe content, cooking guidance</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c>
                  <a:txBody>
                    <a:bodyPr/>
                    <a:lstStyle/>
                    <a:p>
                      <a:pPr indent="0" marL="0">
                        <a:buNone/>
                      </a:pPr>
                      <a:r>
                        <a:rPr lang="en-US" sz="1050" dirty="0">
                          <a:solidFill>
                            <a:srgbClr val="2D3436"/>
                          </a:solidFill>
                          <a:latin typeface="Calibri" pitchFamily="34" charset="0"/>
                          <a:ea typeface="Calibri" pitchFamily="34" charset="-122"/>
                          <a:cs typeface="Calibri" pitchFamily="34" charset="-120"/>
                        </a:rPr>
                        <a:t>No location data, no B2B layer, no gamification, no pixel art, no Nova photo critique mode</a:t>
                      </a:r>
                      <a:endParaRPr lang="en-US" sz="1050" dirty="0">
                        <a:latin typeface="Calibri" charset="0"/>
                        <a:ea typeface="Calibri" charset="0"/>
                        <a:cs typeface="Calibri" charset="0"/>
                      </a:endParaRPr>
                    </a:p>
                  </a:txBody>
                  <a:tcPr marL="91440" marR="91440" marT="45720" marB="45720"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8FAFC"/>
                    </a:solidFill>
                  </a:tcPr>
                </a:tc>
              </a:tr>
            </a:tbl>
          </a:graphicData>
        </a:graphic>
      </p:graphicFrame>
      <p:sp>
        <p:nvSpPr>
          <p:cNvPr id="5" name="Shape 2"/>
          <p:cNvSpPr/>
          <p:nvPr/>
        </p:nvSpPr>
        <p:spPr>
          <a:xfrm>
            <a:off x="365760" y="4507992"/>
            <a:ext cx="8412480" cy="512064"/>
          </a:xfrm>
          <a:prstGeom prst="roundRect">
            <a:avLst>
              <a:gd name="adj" fmla="val 10714"/>
            </a:avLst>
          </a:prstGeom>
          <a:solidFill>
            <a:srgbClr val="E8F1E0"/>
          </a:solidFill>
          <a:ln w="12700">
            <a:solidFill>
              <a:srgbClr val="7DAE5C"/>
            </a:solidFill>
            <a:prstDash val="solid"/>
          </a:ln>
        </p:spPr>
      </p:sp>
      <p:sp>
        <p:nvSpPr>
          <p:cNvPr id="6" name="Text 3"/>
          <p:cNvSpPr/>
          <p:nvPr/>
        </p:nvSpPr>
        <p:spPr>
          <a:xfrm>
            <a:off x="502920" y="4535424"/>
            <a:ext cx="8229600" cy="420624"/>
          </a:xfrm>
          <a:prstGeom prst="rect">
            <a:avLst/>
          </a:prstGeom>
          <a:noFill/>
          <a:ln/>
        </p:spPr>
        <p:txBody>
          <a:bodyPr wrap="square" lIns="0" tIns="0" rIns="0" bIns="0" rtlCol="0" anchor="ctr"/>
          <a:lstStyle/>
          <a:p>
            <a:pPr algn="ctr" indent="0" marL="0">
              <a:buNone/>
            </a:pPr>
            <a:r>
              <a:rPr lang="en-US" sz="1250" b="1" dirty="0">
                <a:solidFill>
                  <a:srgbClr val="2C5F2D"/>
                </a:solidFill>
                <a:latin typeface="Cambria" pitchFamily="34" charset="0"/>
                <a:ea typeface="Cambria" pitchFamily="34" charset="-122"/>
                <a:cs typeface="Cambria" pitchFamily="34" charset="-120"/>
              </a:rPr>
              <a:t>No existing product combines: gamified check-ins + AI cooking critique + B2B retail intelligence + pixel art food creator + culinary science engine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Why This IP Creates an Unbreakable Moat</a:t>
            </a:r>
            <a:endParaRPr lang="en-US" sz="3200" dirty="0"/>
          </a:p>
        </p:txBody>
      </p:sp>
      <p:sp>
        <p:nvSpPr>
          <p:cNvPr id="3" name="Text 1"/>
          <p:cNvSpPr/>
          <p:nvPr/>
        </p:nvSpPr>
        <p:spPr>
          <a:xfrm>
            <a:off x="365760" y="731520"/>
            <a:ext cx="8412480" cy="256032"/>
          </a:xfrm>
          <a:prstGeom prst="rect">
            <a:avLst/>
          </a:prstGeom>
          <a:noFill/>
          <a:ln/>
        </p:spPr>
        <p:txBody>
          <a:bodyPr wrap="square" lIns="0" tIns="0" rIns="0" bIns="0" rtlCol="0" anchor="ctr"/>
          <a:lstStyle/>
          <a:p>
            <a:pPr indent="0" marL="0">
              <a:buNone/>
            </a:pPr>
            <a:r>
              <a:rPr lang="en-US" sz="1300" i="1" dirty="0">
                <a:solidFill>
                  <a:srgbClr val="8EB4E3"/>
                </a:solidFill>
                <a:latin typeface="Calibri" pitchFamily="34" charset="0"/>
                <a:ea typeface="Calibri" pitchFamily="34" charset="-122"/>
                <a:cs typeface="Calibri" pitchFamily="34" charset="-120"/>
              </a:rPr>
              <a:t>Every pillar below is already coded — not a concept. Evidence is in the repository.</a:t>
            </a:r>
            <a:endParaRPr lang="en-US" sz="1300" dirty="0"/>
          </a:p>
        </p:txBody>
      </p:sp>
      <p:sp>
        <p:nvSpPr>
          <p:cNvPr id="4" name="Shape 2"/>
          <p:cNvSpPr/>
          <p:nvPr/>
        </p:nvSpPr>
        <p:spPr>
          <a:xfrm>
            <a:off x="320040" y="1097280"/>
            <a:ext cx="4160520" cy="1691640"/>
          </a:xfrm>
          <a:prstGeom prst="roundRect">
            <a:avLst>
              <a:gd name="adj" fmla="val 5405"/>
            </a:avLst>
          </a:prstGeom>
          <a:solidFill>
            <a:srgbClr val="243A5E"/>
          </a:solidFill>
          <a:ln w="15240">
            <a:solidFill>
              <a:srgbClr val="7DAE5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429768" y="1188720"/>
            <a:ext cx="384048" cy="384048"/>
          </a:xfrm>
          <a:prstGeom prst="rect">
            <a:avLst/>
          </a:prstGeom>
          <a:noFill/>
          <a:ln/>
        </p:spPr>
        <p:txBody>
          <a:bodyPr wrap="square" lIns="0" tIns="0" rIns="0" bIns="0" rtlCol="0" anchor="ctr"/>
          <a:lstStyle/>
          <a:p>
            <a:pPr indent="0" marL="0">
              <a:buNone/>
            </a:pPr>
            <a:r>
              <a:rPr lang="en-US" sz="2000" b="1" dirty="0">
                <a:solidFill>
                  <a:srgbClr val="7DAE5C"/>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850392" y="1188720"/>
            <a:ext cx="3502152"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Data Density Advantage</a:t>
            </a:r>
            <a:endParaRPr lang="en-US" sz="1300" dirty="0"/>
          </a:p>
        </p:txBody>
      </p:sp>
      <p:sp>
        <p:nvSpPr>
          <p:cNvPr id="7" name="Text 5"/>
          <p:cNvSpPr/>
          <p:nvPr/>
        </p:nvSpPr>
        <p:spPr>
          <a:xfrm>
            <a:off x="429768" y="1645920"/>
            <a:ext cx="3959352" cy="1051560"/>
          </a:xfrm>
          <a:prstGeom prst="rect">
            <a:avLst/>
          </a:prstGeom>
          <a:noFill/>
          <a:ln/>
        </p:spPr>
        <p:txBody>
          <a:bodyPr wrap="square" lIns="0" tIns="0" rIns="0" bIns="0" rtlCol="0" anchor="ctr"/>
          <a:lstStyle/>
          <a:p>
            <a:pPr indent="0" marL="0">
              <a:buNone/>
            </a:pPr>
            <a:r>
              <a:rPr lang="en-US" sz="1050" dirty="0">
                <a:solidFill>
                  <a:srgbClr val="8EB4E3"/>
                </a:solidFill>
                <a:latin typeface="Calibri" pitchFamily="34" charset="0"/>
                <a:ea typeface="Calibri" pitchFamily="34" charset="-122"/>
                <a:cs typeface="Calibri" pitchFamily="34" charset="-120"/>
              </a:rPr>
              <a:t>behavioral_intelligence.py requires user density per zip code to generate meaningful reports. 12–18 months of behavioral data in key markets cannot be replicated by a competitor starting today. The data backlog is the moat — and Prometheus monitoring already tracks extraction_duration proving this pipeline runs in production.</a:t>
            </a:r>
            <a:endParaRPr lang="en-US" sz="1050" dirty="0"/>
          </a:p>
        </p:txBody>
      </p:sp>
      <p:sp>
        <p:nvSpPr>
          <p:cNvPr id="8" name="Shape 6"/>
          <p:cNvSpPr/>
          <p:nvPr/>
        </p:nvSpPr>
        <p:spPr>
          <a:xfrm>
            <a:off x="4663440" y="1097280"/>
            <a:ext cx="4160520" cy="1691640"/>
          </a:xfrm>
          <a:prstGeom prst="roundRect">
            <a:avLst>
              <a:gd name="adj" fmla="val 5405"/>
            </a:avLst>
          </a:prstGeom>
          <a:solidFill>
            <a:srgbClr val="243A5E"/>
          </a:solidFill>
          <a:ln w="15240">
            <a:solidFill>
              <a:srgbClr val="7DAE5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4773168" y="1188720"/>
            <a:ext cx="384048" cy="384048"/>
          </a:xfrm>
          <a:prstGeom prst="rect">
            <a:avLst/>
          </a:prstGeom>
          <a:noFill/>
          <a:ln/>
        </p:spPr>
        <p:txBody>
          <a:bodyPr wrap="square" lIns="0" tIns="0" rIns="0" bIns="0" rtlCol="0" anchor="ctr"/>
          <a:lstStyle/>
          <a:p>
            <a:pPr indent="0" marL="0">
              <a:buNone/>
            </a:pPr>
            <a:r>
              <a:rPr lang="en-US" sz="2000" b="1" dirty="0">
                <a:solidFill>
                  <a:srgbClr val="7DAE5C"/>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5193792" y="1188720"/>
            <a:ext cx="3502152"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Coin Economy Switching Cost</a:t>
            </a:r>
            <a:endParaRPr lang="en-US" sz="1300" dirty="0"/>
          </a:p>
        </p:txBody>
      </p:sp>
      <p:sp>
        <p:nvSpPr>
          <p:cNvPr id="11" name="Text 9"/>
          <p:cNvSpPr/>
          <p:nvPr/>
        </p:nvSpPr>
        <p:spPr>
          <a:xfrm>
            <a:off x="4773168" y="1645920"/>
            <a:ext cx="3959352" cy="1051560"/>
          </a:xfrm>
          <a:prstGeom prst="rect">
            <a:avLst/>
          </a:prstGeom>
          <a:noFill/>
          <a:ln/>
        </p:spPr>
        <p:txBody>
          <a:bodyPr wrap="square" lIns="0" tIns="0" rIns="0" bIns="0" rtlCol="0" anchor="ctr"/>
          <a:lstStyle/>
          <a:p>
            <a:pPr indent="0" marL="0">
              <a:buNone/>
            </a:pPr>
            <a:r>
              <a:rPr lang="en-US" sz="1050" dirty="0">
                <a:solidFill>
                  <a:srgbClr val="8EB4E3"/>
                </a:solidFill>
                <a:latin typeface="Calibri" pitchFamily="34" charset="0"/>
                <a:ea typeface="Calibri" pitchFamily="34" charset="-122"/>
                <a:cs typeface="Calibri" pitchFamily="34" charset="-120"/>
              </a:rPr>
              <a:t>useCoins.js ties a user's accumulated balance to their avatar items and check-in streak. A user with 2,000 coins, 15 pixel items, and a 90-day streak does not leave. The feature-flags.js route and ab-analytics.js route show the coin economy is being actively A/B tested — not just designed.</a:t>
            </a:r>
            <a:endParaRPr lang="en-US" sz="1050" dirty="0"/>
          </a:p>
        </p:txBody>
      </p:sp>
      <p:sp>
        <p:nvSpPr>
          <p:cNvPr id="12" name="Shape 10"/>
          <p:cNvSpPr/>
          <p:nvPr/>
        </p:nvSpPr>
        <p:spPr>
          <a:xfrm>
            <a:off x="320040" y="3063240"/>
            <a:ext cx="4160520" cy="1691640"/>
          </a:xfrm>
          <a:prstGeom prst="roundRect">
            <a:avLst>
              <a:gd name="adj" fmla="val 5405"/>
            </a:avLst>
          </a:prstGeom>
          <a:solidFill>
            <a:srgbClr val="243A5E"/>
          </a:solidFill>
          <a:ln w="15240">
            <a:solidFill>
              <a:srgbClr val="7DAE5C"/>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29768" y="3154680"/>
            <a:ext cx="384048" cy="384048"/>
          </a:xfrm>
          <a:prstGeom prst="rect">
            <a:avLst/>
          </a:prstGeom>
          <a:noFill/>
          <a:ln/>
        </p:spPr>
        <p:txBody>
          <a:bodyPr wrap="square" lIns="0" tIns="0" rIns="0" bIns="0" rtlCol="0" anchor="ctr"/>
          <a:lstStyle/>
          <a:p>
            <a:pPr indent="0" marL="0">
              <a:buNone/>
            </a:pPr>
            <a:r>
              <a:rPr lang="en-US" sz="2000" b="1" dirty="0">
                <a:solidFill>
                  <a:srgbClr val="7DAE5C"/>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850392" y="3154680"/>
            <a:ext cx="3502152"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First-Mover B2B Relationships</a:t>
            </a:r>
            <a:endParaRPr lang="en-US" sz="1300" dirty="0"/>
          </a:p>
        </p:txBody>
      </p:sp>
      <p:sp>
        <p:nvSpPr>
          <p:cNvPr id="15" name="Text 13"/>
          <p:cNvSpPr/>
          <p:nvPr/>
        </p:nvSpPr>
        <p:spPr>
          <a:xfrm>
            <a:off x="429768" y="3611880"/>
            <a:ext cx="3959352" cy="1051560"/>
          </a:xfrm>
          <a:prstGeom prst="rect">
            <a:avLst/>
          </a:prstGeom>
          <a:noFill/>
          <a:ln/>
        </p:spPr>
        <p:txBody>
          <a:bodyPr wrap="square" lIns="0" tIns="0" rIns="0" bIns="0" rtlCol="0" anchor="ctr"/>
          <a:lstStyle/>
          <a:p>
            <a:pPr indent="0" marL="0">
              <a:buNone/>
            </a:pPr>
            <a:r>
              <a:rPr lang="en-US" sz="1050" dirty="0">
                <a:solidFill>
                  <a:srgbClr val="8EB4E3"/>
                </a:solidFill>
                <a:latin typeface="Calibri" pitchFamily="34" charset="0"/>
                <a:ea typeface="Calibri" pitchFamily="34" charset="-122"/>
                <a:cs typeface="Calibri" pitchFamily="34" charset="-120"/>
              </a:rPr>
              <a:t>The first grocery store to sign a Dig In B2B contract gets a borough_badges.py integration and becomes a QR code distributor. Each B2B client makes the consumer product stronger. A competitor with no B2B clients has no in-store distribution flywheel.</a:t>
            </a:r>
            <a:endParaRPr lang="en-US" sz="1050" dirty="0"/>
          </a:p>
        </p:txBody>
      </p:sp>
      <p:sp>
        <p:nvSpPr>
          <p:cNvPr id="16" name="Shape 14"/>
          <p:cNvSpPr/>
          <p:nvPr/>
        </p:nvSpPr>
        <p:spPr>
          <a:xfrm>
            <a:off x="4663440" y="3063240"/>
            <a:ext cx="4160520" cy="1691640"/>
          </a:xfrm>
          <a:prstGeom prst="roundRect">
            <a:avLst>
              <a:gd name="adj" fmla="val 5405"/>
            </a:avLst>
          </a:prstGeom>
          <a:solidFill>
            <a:srgbClr val="243A5E"/>
          </a:solidFill>
          <a:ln w="15240">
            <a:solidFill>
              <a:srgbClr val="7DAE5C"/>
            </a:solidFill>
            <a:prstDash val="solid"/>
          </a:ln>
          <a:effectLst>
            <a:outerShdw sx="100000" sy="100000" kx="0" ky="0" algn="bl" rotWithShape="0" blurRad="101600" dist="38100" dir="2700000">
              <a:srgbClr val="000000">
                <a:alpha val="12000"/>
              </a:srgbClr>
            </a:outerShdw>
          </a:effectLst>
        </p:spPr>
      </p:sp>
      <p:sp>
        <p:nvSpPr>
          <p:cNvPr id="17" name="Text 15"/>
          <p:cNvSpPr/>
          <p:nvPr/>
        </p:nvSpPr>
        <p:spPr>
          <a:xfrm>
            <a:off x="4773168" y="3154680"/>
            <a:ext cx="384048" cy="384048"/>
          </a:xfrm>
          <a:prstGeom prst="rect">
            <a:avLst/>
          </a:prstGeom>
          <a:noFill/>
          <a:ln/>
        </p:spPr>
        <p:txBody>
          <a:bodyPr wrap="square" lIns="0" tIns="0" rIns="0" bIns="0" rtlCol="0" anchor="ctr"/>
          <a:lstStyle/>
          <a:p>
            <a:pPr indent="0" marL="0">
              <a:buNone/>
            </a:pPr>
            <a:r>
              <a:rPr lang="en-US" sz="2000" b="1" dirty="0">
                <a:solidFill>
                  <a:srgbClr val="7DAE5C"/>
                </a:solidFill>
                <a:latin typeface="Cambria" pitchFamily="34" charset="0"/>
                <a:ea typeface="Cambria" pitchFamily="34" charset="-122"/>
                <a:cs typeface="Cambria" pitchFamily="34" charset="-120"/>
              </a:rPr>
              <a:t>4</a:t>
            </a:r>
            <a:endParaRPr lang="en-US" sz="2000" dirty="0"/>
          </a:p>
        </p:txBody>
      </p:sp>
      <p:sp>
        <p:nvSpPr>
          <p:cNvPr id="18" name="Text 16"/>
          <p:cNvSpPr/>
          <p:nvPr/>
        </p:nvSpPr>
        <p:spPr>
          <a:xfrm>
            <a:off x="5193792" y="3154680"/>
            <a:ext cx="3502152" cy="384048"/>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Nova AI Vision Layer</a:t>
            </a:r>
            <a:endParaRPr lang="en-US" sz="1300" dirty="0"/>
          </a:p>
        </p:txBody>
      </p:sp>
      <p:sp>
        <p:nvSpPr>
          <p:cNvPr id="19" name="Text 17"/>
          <p:cNvSpPr/>
          <p:nvPr/>
        </p:nvSpPr>
        <p:spPr>
          <a:xfrm>
            <a:off x="4773168" y="3611880"/>
            <a:ext cx="3959352" cy="1051560"/>
          </a:xfrm>
          <a:prstGeom prst="rect">
            <a:avLst/>
          </a:prstGeom>
          <a:noFill/>
          <a:ln/>
        </p:spPr>
        <p:txBody>
          <a:bodyPr wrap="square" lIns="0" tIns="0" rIns="0" bIns="0" rtlCol="0" anchor="ctr"/>
          <a:lstStyle/>
          <a:p>
            <a:pPr indent="0" marL="0">
              <a:buNone/>
            </a:pPr>
            <a:r>
              <a:rPr lang="en-US" sz="1050" dirty="0">
                <a:solidFill>
                  <a:srgbClr val="8EB4E3"/>
                </a:solidFill>
                <a:latin typeface="Calibri" pitchFamily="34" charset="0"/>
                <a:ea typeface="Calibri" pitchFamily="34" charset="-122"/>
                <a:cs typeface="Calibri" pitchFamily="34" charset="-120"/>
              </a:rPr>
              <a:t>The photo cooking critique mode (mode:'photo' in novaAI.js) means Dig In can see what you're cooking in real time. Combined with chemical_knowledge_graph.py and thermodynamic_engine.py, this creates a cooking intelligence layer competitors cannot instantly replicate — it requires proprietary science data, not just an API call.</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82880"/>
            <a:ext cx="8412480" cy="512064"/>
          </a:xfrm>
          <a:prstGeom prst="rect">
            <a:avLst/>
          </a:prstGeom>
          <a:noFill/>
          <a:ln/>
        </p:spPr>
        <p:txBody>
          <a:bodyPr wrap="square" lIns="0" tIns="0" rIns="0" bIns="0"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National Expansion — Already In the Code</a:t>
            </a:r>
            <a:endParaRPr lang="en-US" sz="3200" dirty="0"/>
          </a:p>
        </p:txBody>
      </p:sp>
      <p:sp>
        <p:nvSpPr>
          <p:cNvPr id="3" name="Text 1"/>
          <p:cNvSpPr/>
          <p:nvPr/>
        </p:nvSpPr>
        <p:spPr>
          <a:xfrm>
            <a:off x="365760" y="694944"/>
            <a:ext cx="8412480" cy="274320"/>
          </a:xfrm>
          <a:prstGeom prst="rect">
            <a:avLst/>
          </a:prstGeom>
          <a:noFill/>
          <a:ln/>
        </p:spPr>
        <p:txBody>
          <a:bodyPr wrap="square" lIns="0" tIns="0" rIns="0" bIns="0" rtlCol="0" anchor="ctr"/>
          <a:lstStyle/>
          <a:p>
            <a:pPr indent="0" marL="0">
              <a:buNone/>
            </a:pPr>
            <a:r>
              <a:rPr lang="en-US" sz="1350" i="1" dirty="0">
                <a:solidFill>
                  <a:srgbClr val="637074"/>
                </a:solidFill>
                <a:latin typeface="Calibri" pitchFamily="34" charset="0"/>
                <a:ea typeface="Calibri" pitchFamily="34" charset="-122"/>
                <a:cs typeface="Calibri" pitchFamily="34" charset="-120"/>
              </a:rPr>
              <a:t>Multi-state expansion is not planned — it is already coded. This changes the IP filing urgency.</a:t>
            </a:r>
            <a:endParaRPr lang="en-US" sz="1350" dirty="0"/>
          </a:p>
        </p:txBody>
      </p:sp>
      <p:sp>
        <p:nvSpPr>
          <p:cNvPr id="4" name="Text 2"/>
          <p:cNvSpPr/>
          <p:nvPr/>
        </p:nvSpPr>
        <p:spPr>
          <a:xfrm>
            <a:off x="365760" y="1078992"/>
            <a:ext cx="429768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State Coverage Already Written</a:t>
            </a:r>
            <a:endParaRPr lang="en-US" sz="1450" dirty="0"/>
          </a:p>
        </p:txBody>
      </p:sp>
      <p:sp>
        <p:nvSpPr>
          <p:cNvPr id="5" name="Shape 3"/>
          <p:cNvSpPr/>
          <p:nvPr/>
        </p:nvSpPr>
        <p:spPr>
          <a:xfrm>
            <a:off x="365760" y="1481328"/>
            <a:ext cx="4206240" cy="512064"/>
          </a:xfrm>
          <a:prstGeom prst="roundRect">
            <a:avLst>
              <a:gd name="adj" fmla="val 10714"/>
            </a:avLst>
          </a:prstGeom>
          <a:solidFill>
            <a:srgbClr val="F0F4F8"/>
          </a:solidFill>
          <a:ln/>
          <a:effectLst>
            <a:outerShdw sx="100000" sy="100000" kx="0" ky="0" algn="bl" rotWithShape="0" blurRad="101600" dist="38100" dir="2700000">
              <a:srgbClr val="000000">
                <a:alpha val="12000"/>
              </a:srgbClr>
            </a:outerShdw>
          </a:effectLst>
        </p:spPr>
      </p:sp>
      <p:sp>
        <p:nvSpPr>
          <p:cNvPr id="6" name="Text 4"/>
          <p:cNvSpPr/>
          <p:nvPr/>
        </p:nvSpPr>
        <p:spPr>
          <a:xfrm>
            <a:off x="502920" y="1536192"/>
            <a:ext cx="3931920" cy="201168"/>
          </a:xfrm>
          <a:prstGeom prst="rect">
            <a:avLst/>
          </a:prstGeom>
          <a:noFill/>
          <a:ln/>
        </p:spPr>
        <p:txBody>
          <a:bodyPr wrap="square" lIns="0" tIns="0" rIns="0" bIns="0" rtlCol="0" anchor="ctr"/>
          <a:lstStyle/>
          <a:p>
            <a:pPr indent="0" marL="0">
              <a:buNone/>
            </a:pPr>
            <a:r>
              <a:rPr lang="en-US" sz="950" i="1" dirty="0">
                <a:solidFill>
                  <a:srgbClr val="7DAE5C"/>
                </a:solidFill>
                <a:latin typeface="Calibri" pitchFamily="34" charset="0"/>
                <a:ea typeface="Calibri" pitchFamily="34" charset="-122"/>
                <a:cs typeface="Calibri" pitchFamily="34" charset="-120"/>
              </a:rPr>
              <a:t>Regions/TexasRegionSelector.jsx</a:t>
            </a:r>
            <a:endParaRPr lang="en-US" sz="950" dirty="0"/>
          </a:p>
        </p:txBody>
      </p:sp>
      <p:sp>
        <p:nvSpPr>
          <p:cNvPr id="7" name="Text 5"/>
          <p:cNvSpPr/>
          <p:nvPr/>
        </p:nvSpPr>
        <p:spPr>
          <a:xfrm>
            <a:off x="502920" y="1737360"/>
            <a:ext cx="3931920" cy="201168"/>
          </a:xfrm>
          <a:prstGeom prst="rect">
            <a:avLst/>
          </a:prstGeom>
          <a:noFill/>
          <a:ln/>
        </p:spPr>
        <p:txBody>
          <a:bodyPr wrap="square" lIns="0" tIns="0" rIns="0" bIns="0" rtlCol="0" anchor="ctr"/>
          <a:lstStyle/>
          <a:p>
            <a:pPr indent="0" marL="0">
              <a:buNone/>
            </a:pPr>
            <a:r>
              <a:rPr lang="en-US" sz="1000" dirty="0">
                <a:solidFill>
                  <a:srgbClr val="2D3436"/>
                </a:solidFill>
                <a:latin typeface="Calibri" pitchFamily="34" charset="0"/>
                <a:ea typeface="Calibri" pitchFamily="34" charset="-122"/>
                <a:cs typeface="Calibri" pitchFamily="34" charset="-120"/>
              </a:rPr>
              <a:t>Texas regional store selector — already deployed in codebase</a:t>
            </a:r>
            <a:endParaRPr lang="en-US" sz="1000" dirty="0"/>
          </a:p>
        </p:txBody>
      </p:sp>
      <p:sp>
        <p:nvSpPr>
          <p:cNvPr id="8" name="Shape 6"/>
          <p:cNvSpPr/>
          <p:nvPr/>
        </p:nvSpPr>
        <p:spPr>
          <a:xfrm>
            <a:off x="365760" y="2066544"/>
            <a:ext cx="4206240" cy="512064"/>
          </a:xfrm>
          <a:prstGeom prst="roundRect">
            <a:avLst>
              <a:gd name="adj" fmla="val 10714"/>
            </a:avLst>
          </a:prstGeom>
          <a:solidFill>
            <a:srgbClr val="F0F4F8"/>
          </a:solidFill>
          <a:ln/>
          <a:effectLst>
            <a:outerShdw sx="100000" sy="100000" kx="0" ky="0" algn="bl" rotWithShape="0" blurRad="101600" dist="38100" dir="2700000">
              <a:srgbClr val="000000">
                <a:alpha val="12000"/>
              </a:srgbClr>
            </a:outerShdw>
          </a:effectLst>
        </p:spPr>
      </p:sp>
      <p:sp>
        <p:nvSpPr>
          <p:cNvPr id="9" name="Text 7"/>
          <p:cNvSpPr/>
          <p:nvPr/>
        </p:nvSpPr>
        <p:spPr>
          <a:xfrm>
            <a:off x="502920" y="2121408"/>
            <a:ext cx="3931920" cy="201168"/>
          </a:xfrm>
          <a:prstGeom prst="rect">
            <a:avLst/>
          </a:prstGeom>
          <a:noFill/>
          <a:ln/>
        </p:spPr>
        <p:txBody>
          <a:bodyPr wrap="square" lIns="0" tIns="0" rIns="0" bIns="0" rtlCol="0" anchor="ctr"/>
          <a:lstStyle/>
          <a:p>
            <a:pPr indent="0" marL="0">
              <a:buNone/>
            </a:pPr>
            <a:r>
              <a:rPr lang="en-US" sz="950" i="1" dirty="0">
                <a:solidFill>
                  <a:srgbClr val="7DAE5C"/>
                </a:solidFill>
                <a:latin typeface="Calibri" pitchFamily="34" charset="0"/>
                <a:ea typeface="Calibri" pitchFamily="34" charset="-122"/>
                <a:cs typeface="Calibri" pitchFamily="34" charset="-120"/>
              </a:rPr>
              <a:t>Regions/TexasStoreMap.jsx</a:t>
            </a:r>
            <a:endParaRPr lang="en-US" sz="950" dirty="0"/>
          </a:p>
        </p:txBody>
      </p:sp>
      <p:sp>
        <p:nvSpPr>
          <p:cNvPr id="10" name="Text 8"/>
          <p:cNvSpPr/>
          <p:nvPr/>
        </p:nvSpPr>
        <p:spPr>
          <a:xfrm>
            <a:off x="502920" y="2322576"/>
            <a:ext cx="3931920" cy="201168"/>
          </a:xfrm>
          <a:prstGeom prst="rect">
            <a:avLst/>
          </a:prstGeom>
          <a:noFill/>
          <a:ln/>
        </p:spPr>
        <p:txBody>
          <a:bodyPr wrap="square" lIns="0" tIns="0" rIns="0" bIns="0" rtlCol="0" anchor="ctr"/>
          <a:lstStyle/>
          <a:p>
            <a:pPr indent="0" marL="0">
              <a:buNone/>
            </a:pPr>
            <a:r>
              <a:rPr lang="en-US" sz="1000" dirty="0">
                <a:solidFill>
                  <a:srgbClr val="2D3436"/>
                </a:solidFill>
                <a:latin typeface="Calibri" pitchFamily="34" charset="0"/>
                <a:ea typeface="Calibri" pitchFamily="34" charset="-122"/>
                <a:cs typeface="Calibri" pitchFamily="34" charset="-120"/>
              </a:rPr>
              <a:t>Full Texas store map with Leaflet.js layer — region #2 after NYC</a:t>
            </a:r>
            <a:endParaRPr lang="en-US" sz="1000" dirty="0"/>
          </a:p>
        </p:txBody>
      </p:sp>
      <p:sp>
        <p:nvSpPr>
          <p:cNvPr id="11" name="Shape 9"/>
          <p:cNvSpPr/>
          <p:nvPr/>
        </p:nvSpPr>
        <p:spPr>
          <a:xfrm>
            <a:off x="365760" y="2651760"/>
            <a:ext cx="4206240" cy="512064"/>
          </a:xfrm>
          <a:prstGeom prst="roundRect">
            <a:avLst>
              <a:gd name="adj" fmla="val 10714"/>
            </a:avLst>
          </a:prstGeom>
          <a:solidFill>
            <a:srgbClr val="F0F4F8"/>
          </a:solidFill>
          <a:ln/>
          <a:effectLst>
            <a:outerShdw sx="100000" sy="100000" kx="0" ky="0" algn="bl" rotWithShape="0" blurRad="101600" dist="38100" dir="2700000">
              <a:srgbClr val="000000">
                <a:alpha val="12000"/>
              </a:srgbClr>
            </a:outerShdw>
          </a:effectLst>
        </p:spPr>
      </p:sp>
      <p:sp>
        <p:nvSpPr>
          <p:cNvPr id="12" name="Text 10"/>
          <p:cNvSpPr/>
          <p:nvPr/>
        </p:nvSpPr>
        <p:spPr>
          <a:xfrm>
            <a:off x="502920" y="2706624"/>
            <a:ext cx="3931920" cy="201168"/>
          </a:xfrm>
          <a:prstGeom prst="rect">
            <a:avLst/>
          </a:prstGeom>
          <a:noFill/>
          <a:ln/>
        </p:spPr>
        <p:txBody>
          <a:bodyPr wrap="square" lIns="0" tIns="0" rIns="0" bIns="0" rtlCol="0" anchor="ctr"/>
          <a:lstStyle/>
          <a:p>
            <a:pPr indent="0" marL="0">
              <a:buNone/>
            </a:pPr>
            <a:r>
              <a:rPr lang="en-US" sz="950" i="1" dirty="0">
                <a:solidFill>
                  <a:srgbClr val="7DAE5C"/>
                </a:solidFill>
                <a:latin typeface="Calibri" pitchFamily="34" charset="0"/>
                <a:ea typeface="Calibri" pitchFamily="34" charset="-122"/>
                <a:cs typeface="Calibri" pitchFamily="34" charset="-120"/>
              </a:rPr>
              <a:t>Chicago/ChicagoStoreMap.jsx</a:t>
            </a:r>
            <a:endParaRPr lang="en-US" sz="950" dirty="0"/>
          </a:p>
        </p:txBody>
      </p:sp>
      <p:sp>
        <p:nvSpPr>
          <p:cNvPr id="13" name="Text 11"/>
          <p:cNvSpPr/>
          <p:nvPr/>
        </p:nvSpPr>
        <p:spPr>
          <a:xfrm>
            <a:off x="502920" y="2907792"/>
            <a:ext cx="3931920" cy="201168"/>
          </a:xfrm>
          <a:prstGeom prst="rect">
            <a:avLst/>
          </a:prstGeom>
          <a:noFill/>
          <a:ln/>
        </p:spPr>
        <p:txBody>
          <a:bodyPr wrap="square" lIns="0" tIns="0" rIns="0" bIns="0" rtlCol="0" anchor="ctr"/>
          <a:lstStyle/>
          <a:p>
            <a:pPr indent="0" marL="0">
              <a:buNone/>
            </a:pPr>
            <a:r>
              <a:rPr lang="en-US" sz="1000" dirty="0">
                <a:solidFill>
                  <a:srgbClr val="2D3436"/>
                </a:solidFill>
                <a:latin typeface="Calibri" pitchFamily="34" charset="0"/>
                <a:ea typeface="Calibri" pitchFamily="34" charset="-122"/>
                <a:cs typeface="Calibri" pitchFamily="34" charset="-120"/>
              </a:rPr>
              <a:t>Illinois/Chicago store map — region #3 already coded</a:t>
            </a:r>
            <a:endParaRPr lang="en-US" sz="1000" dirty="0"/>
          </a:p>
        </p:txBody>
      </p:sp>
      <p:sp>
        <p:nvSpPr>
          <p:cNvPr id="14" name="Shape 12"/>
          <p:cNvSpPr/>
          <p:nvPr/>
        </p:nvSpPr>
        <p:spPr>
          <a:xfrm>
            <a:off x="365760" y="3236976"/>
            <a:ext cx="4206240" cy="512064"/>
          </a:xfrm>
          <a:prstGeom prst="roundRect">
            <a:avLst>
              <a:gd name="adj" fmla="val 10714"/>
            </a:avLst>
          </a:prstGeom>
          <a:solidFill>
            <a:srgbClr val="F0F4F8"/>
          </a:solidFill>
          <a:ln/>
          <a:effectLst>
            <a:outerShdw sx="100000" sy="100000" kx="0" ky="0" algn="bl" rotWithShape="0" blurRad="101600" dist="38100" dir="2700000">
              <a:srgbClr val="000000">
                <a:alpha val="12000"/>
              </a:srgbClr>
            </a:outerShdw>
          </a:effectLst>
        </p:spPr>
      </p:sp>
      <p:sp>
        <p:nvSpPr>
          <p:cNvPr id="15" name="Text 13"/>
          <p:cNvSpPr/>
          <p:nvPr/>
        </p:nvSpPr>
        <p:spPr>
          <a:xfrm>
            <a:off x="502920" y="3291840"/>
            <a:ext cx="3931920" cy="201168"/>
          </a:xfrm>
          <a:prstGeom prst="rect">
            <a:avLst/>
          </a:prstGeom>
          <a:noFill/>
          <a:ln/>
        </p:spPr>
        <p:txBody>
          <a:bodyPr wrap="square" lIns="0" tIns="0" rIns="0" bIns="0" rtlCol="0" anchor="ctr"/>
          <a:lstStyle/>
          <a:p>
            <a:pPr indent="0" marL="0">
              <a:buNone/>
            </a:pPr>
            <a:r>
              <a:rPr lang="en-US" sz="950" i="1" dirty="0">
                <a:solidFill>
                  <a:srgbClr val="7DAE5C"/>
                </a:solidFill>
                <a:latin typeface="Calibri" pitchFamily="34" charset="0"/>
                <a:ea typeface="Calibri" pitchFamily="34" charset="-122"/>
                <a:cs typeface="Calibri" pitchFamily="34" charset="-120"/>
              </a:rPr>
              <a:t>src/lib/zipToState.js</a:t>
            </a:r>
            <a:endParaRPr lang="en-US" sz="950" dirty="0"/>
          </a:p>
        </p:txBody>
      </p:sp>
      <p:sp>
        <p:nvSpPr>
          <p:cNvPr id="16" name="Text 14"/>
          <p:cNvSpPr/>
          <p:nvPr/>
        </p:nvSpPr>
        <p:spPr>
          <a:xfrm>
            <a:off x="502920" y="3493008"/>
            <a:ext cx="3931920" cy="201168"/>
          </a:xfrm>
          <a:prstGeom prst="rect">
            <a:avLst/>
          </a:prstGeom>
          <a:noFill/>
          <a:ln/>
        </p:spPr>
        <p:txBody>
          <a:bodyPr wrap="square" lIns="0" tIns="0" rIns="0" bIns="0" rtlCol="0" anchor="ctr"/>
          <a:lstStyle/>
          <a:p>
            <a:pPr indent="0" marL="0">
              <a:buNone/>
            </a:pPr>
            <a:r>
              <a:rPr lang="en-US" sz="1000" dirty="0">
                <a:solidFill>
                  <a:srgbClr val="2D3436"/>
                </a:solidFill>
                <a:latin typeface="Calibri" pitchFamily="34" charset="0"/>
                <a:ea typeface="Calibri" pitchFamily="34" charset="-122"/>
                <a:cs typeface="Calibri" pitchFamily="34" charset="-120"/>
              </a:rPr>
              <a:t>ZIP-code-to-state routing utility — maps any U.S. ZIP to state</a:t>
            </a:r>
            <a:endParaRPr lang="en-US" sz="1000" dirty="0"/>
          </a:p>
        </p:txBody>
      </p:sp>
      <p:sp>
        <p:nvSpPr>
          <p:cNvPr id="17" name="Shape 15"/>
          <p:cNvSpPr/>
          <p:nvPr/>
        </p:nvSpPr>
        <p:spPr>
          <a:xfrm>
            <a:off x="365760" y="3822192"/>
            <a:ext cx="4206240" cy="512064"/>
          </a:xfrm>
          <a:prstGeom prst="roundRect">
            <a:avLst>
              <a:gd name="adj" fmla="val 10714"/>
            </a:avLst>
          </a:prstGeom>
          <a:solidFill>
            <a:srgbClr val="F0F4F8"/>
          </a:solidFill>
          <a:ln/>
          <a:effectLst>
            <a:outerShdw sx="100000" sy="100000" kx="0" ky="0" algn="bl" rotWithShape="0" blurRad="101600" dist="38100" dir="2700000">
              <a:srgbClr val="000000">
                <a:alpha val="12000"/>
              </a:srgbClr>
            </a:outerShdw>
          </a:effectLst>
        </p:spPr>
      </p:sp>
      <p:sp>
        <p:nvSpPr>
          <p:cNvPr id="18" name="Text 16"/>
          <p:cNvSpPr/>
          <p:nvPr/>
        </p:nvSpPr>
        <p:spPr>
          <a:xfrm>
            <a:off x="502920" y="3877056"/>
            <a:ext cx="3931920" cy="201168"/>
          </a:xfrm>
          <a:prstGeom prst="rect">
            <a:avLst/>
          </a:prstGeom>
          <a:noFill/>
          <a:ln/>
        </p:spPr>
        <p:txBody>
          <a:bodyPr wrap="square" lIns="0" tIns="0" rIns="0" bIns="0" rtlCol="0" anchor="ctr"/>
          <a:lstStyle/>
          <a:p>
            <a:pPr indent="0" marL="0">
              <a:buNone/>
            </a:pPr>
            <a:r>
              <a:rPr lang="en-US" sz="950" i="1" dirty="0">
                <a:solidFill>
                  <a:srgbClr val="7DAE5C"/>
                </a:solidFill>
                <a:latin typeface="Calibri" pitchFamily="34" charset="0"/>
                <a:ea typeface="Calibri" pitchFamily="34" charset="-122"/>
                <a:cs typeface="Calibri" pitchFamily="34" charset="-120"/>
              </a:rPr>
              <a:t>src/lib/regions.js</a:t>
            </a:r>
            <a:endParaRPr lang="en-US" sz="950" dirty="0"/>
          </a:p>
        </p:txBody>
      </p:sp>
      <p:sp>
        <p:nvSpPr>
          <p:cNvPr id="19" name="Text 17"/>
          <p:cNvSpPr/>
          <p:nvPr/>
        </p:nvSpPr>
        <p:spPr>
          <a:xfrm>
            <a:off x="502920" y="4078224"/>
            <a:ext cx="3931920" cy="201168"/>
          </a:xfrm>
          <a:prstGeom prst="rect">
            <a:avLst/>
          </a:prstGeom>
          <a:noFill/>
          <a:ln/>
        </p:spPr>
        <p:txBody>
          <a:bodyPr wrap="square" lIns="0" tIns="0" rIns="0" bIns="0" rtlCol="0" anchor="ctr"/>
          <a:lstStyle/>
          <a:p>
            <a:pPr indent="0" marL="0">
              <a:buNone/>
            </a:pPr>
            <a:r>
              <a:rPr lang="en-US" sz="1000" dirty="0">
                <a:solidFill>
                  <a:srgbClr val="2D3436"/>
                </a:solidFill>
                <a:latin typeface="Calibri" pitchFamily="34" charset="0"/>
                <a:ea typeface="Calibri" pitchFamily="34" charset="-122"/>
                <a:cs typeface="Calibri" pitchFamily="34" charset="-120"/>
              </a:rPr>
              <a:t>Geographic routing logic — architecture ready for all 50 states</a:t>
            </a:r>
            <a:endParaRPr lang="en-US" sz="1000" dirty="0"/>
          </a:p>
        </p:txBody>
      </p:sp>
      <p:sp>
        <p:nvSpPr>
          <p:cNvPr id="20" name="Text 18"/>
          <p:cNvSpPr/>
          <p:nvPr/>
        </p:nvSpPr>
        <p:spPr>
          <a:xfrm>
            <a:off x="4800600" y="1078992"/>
            <a:ext cx="3977640" cy="310896"/>
          </a:xfrm>
          <a:prstGeom prst="rect">
            <a:avLst/>
          </a:prstGeom>
          <a:noFill/>
          <a:ln/>
        </p:spPr>
        <p:txBody>
          <a:bodyPr wrap="square" lIns="0" tIns="0" rIns="0" bIns="0" rtlCol="0" anchor="ctr"/>
          <a:lstStyle/>
          <a:p>
            <a:pPr indent="0" marL="0">
              <a:buNone/>
            </a:pPr>
            <a:r>
              <a:rPr lang="en-US" sz="1450" b="1" dirty="0">
                <a:solidFill>
                  <a:srgbClr val="1B2A4A"/>
                </a:solidFill>
                <a:latin typeface="Cambria" pitchFamily="34" charset="0"/>
                <a:ea typeface="Cambria" pitchFamily="34" charset="-122"/>
                <a:cs typeface="Cambria" pitchFamily="34" charset="-120"/>
              </a:rPr>
              <a:t>New IP Questions at National Scale</a:t>
            </a:r>
            <a:endParaRPr lang="en-US" sz="1450" dirty="0"/>
          </a:p>
        </p:txBody>
      </p:sp>
      <p:sp>
        <p:nvSpPr>
          <p:cNvPr id="21" name="Shape 19"/>
          <p:cNvSpPr/>
          <p:nvPr/>
        </p:nvSpPr>
        <p:spPr>
          <a:xfrm>
            <a:off x="4800600" y="1481328"/>
            <a:ext cx="3977640" cy="694944"/>
          </a:xfrm>
          <a:prstGeom prst="roundRect">
            <a:avLst>
              <a:gd name="adj" fmla="val 10526"/>
            </a:avLst>
          </a:prstGeom>
          <a:solidFill>
            <a:srgbClr val="E8F1E0"/>
          </a:solidFill>
          <a:ln w="12700">
            <a:solidFill>
              <a:srgbClr val="7DAE5C"/>
            </a:solidFill>
            <a:prstDash val="solid"/>
          </a:ln>
        </p:spPr>
      </p:sp>
      <p:sp>
        <p:nvSpPr>
          <p:cNvPr id="22" name="Text 20"/>
          <p:cNvSpPr/>
          <p:nvPr/>
        </p:nvSpPr>
        <p:spPr>
          <a:xfrm>
            <a:off x="4919472" y="1545336"/>
            <a:ext cx="3749040" cy="201168"/>
          </a:xfrm>
          <a:prstGeom prst="rect">
            <a:avLst/>
          </a:prstGeom>
          <a:noFill/>
          <a:ln/>
        </p:spPr>
        <p:txBody>
          <a:bodyPr wrap="square" lIns="0" tIns="0" rIns="0" bIns="0" rtlCol="0" anchor="ctr"/>
          <a:lstStyle/>
          <a:p>
            <a:pPr indent="0" marL="0">
              <a:buNone/>
            </a:pPr>
            <a:r>
              <a:rPr lang="en-US" sz="1150" b="1" dirty="0">
                <a:solidFill>
                  <a:srgbClr val="2C5F2D"/>
                </a:solidFill>
                <a:latin typeface="Cambria" pitchFamily="34" charset="0"/>
                <a:ea typeface="Cambria" pitchFamily="34" charset="-122"/>
                <a:cs typeface="Cambria" pitchFamily="34" charset="-120"/>
              </a:rPr>
              <a:t>Trademark urgency</a:t>
            </a:r>
            <a:endParaRPr lang="en-US" sz="1150" dirty="0"/>
          </a:p>
        </p:txBody>
      </p:sp>
      <p:sp>
        <p:nvSpPr>
          <p:cNvPr id="23" name="Text 21"/>
          <p:cNvSpPr/>
          <p:nvPr/>
        </p:nvSpPr>
        <p:spPr>
          <a:xfrm>
            <a:off x="4919472" y="1755648"/>
            <a:ext cx="3749040" cy="365760"/>
          </a:xfrm>
          <a:prstGeom prst="rect">
            <a:avLst/>
          </a:prstGeom>
          <a:noFill/>
          <a:ln/>
        </p:spPr>
        <p:txBody>
          <a:bodyPr wrap="square" lIns="0" tIns="0" rIns="0" bIns="0" rtlCol="0" anchor="ctr"/>
          <a:lstStyle/>
          <a:p>
            <a:pPr indent="0" marL="0">
              <a:buNone/>
            </a:pPr>
            <a:r>
              <a:rPr lang="en-US" sz="950" dirty="0">
                <a:solidFill>
                  <a:srgbClr val="2D3436"/>
                </a:solidFill>
                <a:latin typeface="Calibri" pitchFamily="34" charset="0"/>
                <a:ea typeface="Calibri" pitchFamily="34" charset="-122"/>
                <a:cs typeface="Calibri" pitchFamily="34" charset="-120"/>
              </a:rPr>
              <a:t>Three states already coded. 'Dig In' must be federally registered in Class 42 and Class 43 before I expand further — or a competitor in a new state could register it first.</a:t>
            </a:r>
            <a:endParaRPr lang="en-US" sz="950" dirty="0"/>
          </a:p>
        </p:txBody>
      </p:sp>
      <p:sp>
        <p:nvSpPr>
          <p:cNvPr id="24" name="Shape 22"/>
          <p:cNvSpPr/>
          <p:nvPr/>
        </p:nvSpPr>
        <p:spPr>
          <a:xfrm>
            <a:off x="4800600" y="2286000"/>
            <a:ext cx="3977640" cy="694944"/>
          </a:xfrm>
          <a:prstGeom prst="roundRect">
            <a:avLst>
              <a:gd name="adj" fmla="val 10526"/>
            </a:avLst>
          </a:prstGeom>
          <a:solidFill>
            <a:srgbClr val="E8F1E0"/>
          </a:solidFill>
          <a:ln w="12700">
            <a:solidFill>
              <a:srgbClr val="7DAE5C"/>
            </a:solidFill>
            <a:prstDash val="solid"/>
          </a:ln>
        </p:spPr>
      </p:sp>
      <p:sp>
        <p:nvSpPr>
          <p:cNvPr id="25" name="Text 23"/>
          <p:cNvSpPr/>
          <p:nvPr/>
        </p:nvSpPr>
        <p:spPr>
          <a:xfrm>
            <a:off x="4919472" y="2350008"/>
            <a:ext cx="3749040" cy="201168"/>
          </a:xfrm>
          <a:prstGeom prst="rect">
            <a:avLst/>
          </a:prstGeom>
          <a:noFill/>
          <a:ln/>
        </p:spPr>
        <p:txBody>
          <a:bodyPr wrap="square" lIns="0" tIns="0" rIns="0" bIns="0" rtlCol="0" anchor="ctr"/>
          <a:lstStyle/>
          <a:p>
            <a:pPr indent="0" marL="0">
              <a:buNone/>
            </a:pPr>
            <a:r>
              <a:rPr lang="en-US" sz="1150" b="1" dirty="0">
                <a:solidFill>
                  <a:srgbClr val="2C5F2D"/>
                </a:solidFill>
                <a:latin typeface="Cambria" pitchFamily="34" charset="0"/>
                <a:ea typeface="Cambria" pitchFamily="34" charset="-122"/>
                <a:cs typeface="Cambria" pitchFamily="34" charset="-120"/>
              </a:rPr>
              <a:t>State data privacy laws</a:t>
            </a:r>
            <a:endParaRPr lang="en-US" sz="1150" dirty="0"/>
          </a:p>
        </p:txBody>
      </p:sp>
      <p:sp>
        <p:nvSpPr>
          <p:cNvPr id="26" name="Text 24"/>
          <p:cNvSpPr/>
          <p:nvPr/>
        </p:nvSpPr>
        <p:spPr>
          <a:xfrm>
            <a:off x="4919472" y="2560320"/>
            <a:ext cx="3749040" cy="365760"/>
          </a:xfrm>
          <a:prstGeom prst="rect">
            <a:avLst/>
          </a:prstGeom>
          <a:noFill/>
          <a:ln/>
        </p:spPr>
        <p:txBody>
          <a:bodyPr wrap="square" lIns="0" tIns="0" rIns="0" bIns="0" rtlCol="0" anchor="ctr"/>
          <a:lstStyle/>
          <a:p>
            <a:pPr indent="0" marL="0">
              <a:buNone/>
            </a:pPr>
            <a:r>
              <a:rPr lang="en-US" sz="950" dirty="0">
                <a:solidFill>
                  <a:srgbClr val="2D3436"/>
                </a:solidFill>
                <a:latin typeface="Calibri" pitchFamily="34" charset="0"/>
                <a:ea typeface="Calibri" pitchFamily="34" charset="-122"/>
                <a:cs typeface="Calibri" pitchFamily="34" charset="-120"/>
              </a:rPr>
              <a:t>CCPA (California), CDPA (Virginia), CPA (Colorado) differ. SHA-256 hashing in behaviorTracker.js must satisfy all 50 states' requirements for B2B behavioral data sales.</a:t>
            </a:r>
            <a:endParaRPr lang="en-US" sz="950" dirty="0"/>
          </a:p>
        </p:txBody>
      </p:sp>
      <p:sp>
        <p:nvSpPr>
          <p:cNvPr id="27" name="Shape 25"/>
          <p:cNvSpPr/>
          <p:nvPr/>
        </p:nvSpPr>
        <p:spPr>
          <a:xfrm>
            <a:off x="4800600" y="3090672"/>
            <a:ext cx="3977640" cy="694944"/>
          </a:xfrm>
          <a:prstGeom prst="roundRect">
            <a:avLst>
              <a:gd name="adj" fmla="val 10526"/>
            </a:avLst>
          </a:prstGeom>
          <a:solidFill>
            <a:srgbClr val="E8F1E0"/>
          </a:solidFill>
          <a:ln w="12700">
            <a:solidFill>
              <a:srgbClr val="7DAE5C"/>
            </a:solidFill>
            <a:prstDash val="solid"/>
          </a:ln>
        </p:spPr>
      </p:sp>
      <p:sp>
        <p:nvSpPr>
          <p:cNvPr id="28" name="Text 26"/>
          <p:cNvSpPr/>
          <p:nvPr/>
        </p:nvSpPr>
        <p:spPr>
          <a:xfrm>
            <a:off x="4919472" y="3154680"/>
            <a:ext cx="3749040" cy="201168"/>
          </a:xfrm>
          <a:prstGeom prst="rect">
            <a:avLst/>
          </a:prstGeom>
          <a:noFill/>
          <a:ln/>
        </p:spPr>
        <p:txBody>
          <a:bodyPr wrap="square" lIns="0" tIns="0" rIns="0" bIns="0" rtlCol="0" anchor="ctr"/>
          <a:lstStyle/>
          <a:p>
            <a:pPr indent="0" marL="0">
              <a:buNone/>
            </a:pPr>
            <a:r>
              <a:rPr lang="en-US" sz="1150" b="1" dirty="0">
                <a:solidFill>
                  <a:srgbClr val="2C5F2D"/>
                </a:solidFill>
                <a:latin typeface="Cambria" pitchFamily="34" charset="0"/>
                <a:ea typeface="Cambria" pitchFamily="34" charset="-122"/>
                <a:cs typeface="Cambria" pitchFamily="34" charset="-120"/>
              </a:rPr>
              <a:t>Patent claim geography</a:t>
            </a:r>
            <a:endParaRPr lang="en-US" sz="1150" dirty="0"/>
          </a:p>
        </p:txBody>
      </p:sp>
      <p:sp>
        <p:nvSpPr>
          <p:cNvPr id="29" name="Text 27"/>
          <p:cNvSpPr/>
          <p:nvPr/>
        </p:nvSpPr>
        <p:spPr>
          <a:xfrm>
            <a:off x="4919472" y="3364992"/>
            <a:ext cx="3749040" cy="365760"/>
          </a:xfrm>
          <a:prstGeom prst="rect">
            <a:avLst/>
          </a:prstGeom>
          <a:noFill/>
          <a:ln/>
        </p:spPr>
        <p:txBody>
          <a:bodyPr wrap="square" lIns="0" tIns="0" rIns="0" bIns="0" rtlCol="0" anchor="ctr"/>
          <a:lstStyle/>
          <a:p>
            <a:pPr indent="0" marL="0">
              <a:buNone/>
            </a:pPr>
            <a:r>
              <a:rPr lang="en-US" sz="950" dirty="0">
                <a:solidFill>
                  <a:srgbClr val="2D3436"/>
                </a:solidFill>
                <a:latin typeface="Calibri" pitchFamily="34" charset="0"/>
                <a:ea typeface="Calibri" pitchFamily="34" charset="-122"/>
                <a:cs typeface="Calibri" pitchFamily="34" charset="-120"/>
              </a:rPr>
              <a:t>zipToState.js and regions.js are built for geography-agnostic national coverage. Should utility patent claims name the national multi-state architecture explicitly?</a:t>
            </a:r>
            <a:endParaRPr lang="en-US" sz="950" dirty="0"/>
          </a:p>
        </p:txBody>
      </p:sp>
      <p:sp>
        <p:nvSpPr>
          <p:cNvPr id="30" name="Shape 28"/>
          <p:cNvSpPr/>
          <p:nvPr/>
        </p:nvSpPr>
        <p:spPr>
          <a:xfrm>
            <a:off x="4800600" y="3895344"/>
            <a:ext cx="3977640" cy="694944"/>
          </a:xfrm>
          <a:prstGeom prst="roundRect">
            <a:avLst>
              <a:gd name="adj" fmla="val 10526"/>
            </a:avLst>
          </a:prstGeom>
          <a:solidFill>
            <a:srgbClr val="E8F1E0"/>
          </a:solidFill>
          <a:ln w="12700">
            <a:solidFill>
              <a:srgbClr val="7DAE5C"/>
            </a:solidFill>
            <a:prstDash val="solid"/>
          </a:ln>
        </p:spPr>
      </p:sp>
      <p:sp>
        <p:nvSpPr>
          <p:cNvPr id="31" name="Text 29"/>
          <p:cNvSpPr/>
          <p:nvPr/>
        </p:nvSpPr>
        <p:spPr>
          <a:xfrm>
            <a:off x="4919472" y="3959352"/>
            <a:ext cx="3749040" cy="201168"/>
          </a:xfrm>
          <a:prstGeom prst="rect">
            <a:avLst/>
          </a:prstGeom>
          <a:noFill/>
          <a:ln/>
        </p:spPr>
        <p:txBody>
          <a:bodyPr wrap="square" lIns="0" tIns="0" rIns="0" bIns="0" rtlCol="0" anchor="ctr"/>
          <a:lstStyle/>
          <a:p>
            <a:pPr indent="0" marL="0">
              <a:buNone/>
            </a:pPr>
            <a:r>
              <a:rPr lang="en-US" sz="1150" b="1" dirty="0">
                <a:solidFill>
                  <a:srgbClr val="2C5F2D"/>
                </a:solidFill>
                <a:latin typeface="Cambria" pitchFamily="34" charset="0"/>
                <a:ea typeface="Cambria" pitchFamily="34" charset="-122"/>
                <a:cs typeface="Cambria" pitchFamily="34" charset="-120"/>
              </a:rPr>
              <a:t>PCT filing window</a:t>
            </a:r>
            <a:endParaRPr lang="en-US" sz="1150" dirty="0"/>
          </a:p>
        </p:txBody>
      </p:sp>
      <p:sp>
        <p:nvSpPr>
          <p:cNvPr id="32" name="Text 30"/>
          <p:cNvSpPr/>
          <p:nvPr/>
        </p:nvSpPr>
        <p:spPr>
          <a:xfrm>
            <a:off x="4919472" y="4169664"/>
            <a:ext cx="3749040" cy="365760"/>
          </a:xfrm>
          <a:prstGeom prst="rect">
            <a:avLst/>
          </a:prstGeom>
          <a:noFill/>
          <a:ln/>
        </p:spPr>
        <p:txBody>
          <a:bodyPr wrap="square" lIns="0" tIns="0" rIns="0" bIns="0" rtlCol="0" anchor="ctr"/>
          <a:lstStyle/>
          <a:p>
            <a:pPr indent="0" marL="0">
              <a:buNone/>
            </a:pPr>
            <a:r>
              <a:rPr lang="en-US" sz="950" dirty="0">
                <a:solidFill>
                  <a:srgbClr val="2D3436"/>
                </a:solidFill>
                <a:latin typeface="Calibri" pitchFamily="34" charset="0"/>
                <a:ea typeface="Calibri" pitchFamily="34" charset="-122"/>
                <a:cs typeface="Calibri" pitchFamily="34" charset="-120"/>
              </a:rPr>
              <a:t>TexasStoreMap.jsx and ChicagoStoreMap.jsx are evidence of U.S. use. The 12-month PCT window from first use is the key deadline. When does it start?</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182880"/>
            <a:ext cx="841248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Creation Timeline  &amp;  Priority Date Evidence</a:t>
            </a:r>
            <a:endParaRPr lang="en-US" sz="3200" dirty="0"/>
          </a:p>
        </p:txBody>
      </p:sp>
      <p:sp>
        <p:nvSpPr>
          <p:cNvPr id="3" name="Text 1"/>
          <p:cNvSpPr/>
          <p:nvPr/>
        </p:nvSpPr>
        <p:spPr>
          <a:xfrm>
            <a:off x="365760" y="731520"/>
            <a:ext cx="8412480" cy="256032"/>
          </a:xfrm>
          <a:prstGeom prst="rect">
            <a:avLst/>
          </a:prstGeom>
          <a:noFill/>
          <a:ln/>
        </p:spPr>
        <p:txBody>
          <a:bodyPr wrap="square" lIns="0" tIns="0" rIns="0" bIns="0" rtlCol="0" anchor="ctr"/>
          <a:lstStyle/>
          <a:p>
            <a:pPr indent="0" marL="0">
              <a:buNone/>
            </a:pPr>
            <a:r>
              <a:rPr lang="en-US" sz="1250" i="1" dirty="0">
                <a:solidFill>
                  <a:srgbClr val="8EB4E3"/>
                </a:solidFill>
                <a:latin typeface="Calibri" pitchFamily="34" charset="0"/>
                <a:ea typeface="Calibri" pitchFamily="34" charset="-122"/>
                <a:cs typeface="Calibri" pitchFamily="34" charset="-120"/>
              </a:rPr>
              <a:t>100+ timestamped commits · dual backend (Python/Flask + Node.js/Express) · production monitoring wired from day one</a:t>
            </a:r>
            <a:endParaRPr lang="en-US" sz="1250" dirty="0"/>
          </a:p>
        </p:txBody>
      </p:sp>
      <p:sp>
        <p:nvSpPr>
          <p:cNvPr id="4" name="Shape 2"/>
          <p:cNvSpPr/>
          <p:nvPr/>
        </p:nvSpPr>
        <p:spPr>
          <a:xfrm>
            <a:off x="301752" y="1115568"/>
            <a:ext cx="320040" cy="320040"/>
          </a:xfrm>
          <a:prstGeom prst="ellipse">
            <a:avLst/>
          </a:prstGeom>
          <a:solidFill>
            <a:srgbClr val="7DAE5C"/>
          </a:solidFill>
          <a:ln/>
        </p:spPr>
      </p:sp>
      <p:sp>
        <p:nvSpPr>
          <p:cNvPr id="5" name="Shape 3"/>
          <p:cNvSpPr/>
          <p:nvPr/>
        </p:nvSpPr>
        <p:spPr>
          <a:xfrm>
            <a:off x="461772" y="1444752"/>
            <a:ext cx="0" cy="210312"/>
          </a:xfrm>
          <a:prstGeom prst="line">
            <a:avLst/>
          </a:prstGeom>
          <a:noFill/>
          <a:ln w="19050">
            <a:solidFill>
              <a:srgbClr val="7DAE5C"/>
            </a:solidFill>
            <a:prstDash val="dash"/>
          </a:ln>
        </p:spPr>
      </p:sp>
      <p:sp>
        <p:nvSpPr>
          <p:cNvPr id="6" name="Text 4"/>
          <p:cNvSpPr/>
          <p:nvPr/>
        </p:nvSpPr>
        <p:spPr>
          <a:xfrm>
            <a:off x="749808" y="1078992"/>
            <a:ext cx="114300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3</a:t>
            </a:r>
            <a:endParaRPr lang="en-US" sz="1200" dirty="0"/>
          </a:p>
        </p:txBody>
      </p:sp>
      <p:sp>
        <p:nvSpPr>
          <p:cNvPr id="7" name="Text 5"/>
          <p:cNvSpPr/>
          <p:nvPr/>
        </p:nvSpPr>
        <p:spPr>
          <a:xfrm>
            <a:off x="1984248" y="1078992"/>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Backend foundation</a:t>
            </a:r>
            <a:endParaRPr lang="en-US" sz="1200" dirty="0"/>
          </a:p>
        </p:txBody>
      </p:sp>
      <p:sp>
        <p:nvSpPr>
          <p:cNvPr id="8" name="Text 6"/>
          <p:cNvSpPr/>
          <p:nvPr/>
        </p:nvSpPr>
        <p:spPr>
          <a:xfrm>
            <a:off x="4178808" y="1078992"/>
            <a:ext cx="461772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Python/Flask setup · Prometheus metrics wired · dual-sided data architecture defined in main.py</a:t>
            </a:r>
            <a:endParaRPr lang="en-US" sz="1050" dirty="0"/>
          </a:p>
        </p:txBody>
      </p:sp>
      <p:sp>
        <p:nvSpPr>
          <p:cNvPr id="9" name="Shape 7"/>
          <p:cNvSpPr/>
          <p:nvPr/>
        </p:nvSpPr>
        <p:spPr>
          <a:xfrm>
            <a:off x="301752" y="1691640"/>
            <a:ext cx="320040" cy="320040"/>
          </a:xfrm>
          <a:prstGeom prst="ellipse">
            <a:avLst/>
          </a:prstGeom>
          <a:solidFill>
            <a:srgbClr val="7DAE5C"/>
          </a:solidFill>
          <a:ln/>
        </p:spPr>
      </p:sp>
      <p:sp>
        <p:nvSpPr>
          <p:cNvPr id="10" name="Shape 8"/>
          <p:cNvSpPr/>
          <p:nvPr/>
        </p:nvSpPr>
        <p:spPr>
          <a:xfrm>
            <a:off x="461772" y="2020824"/>
            <a:ext cx="0" cy="210312"/>
          </a:xfrm>
          <a:prstGeom prst="line">
            <a:avLst/>
          </a:prstGeom>
          <a:noFill/>
          <a:ln w="19050">
            <a:solidFill>
              <a:srgbClr val="7DAE5C"/>
            </a:solidFill>
            <a:prstDash val="dash"/>
          </a:ln>
        </p:spPr>
      </p:sp>
      <p:sp>
        <p:nvSpPr>
          <p:cNvPr id="11" name="Text 9"/>
          <p:cNvSpPr/>
          <p:nvPr/>
        </p:nvSpPr>
        <p:spPr>
          <a:xfrm>
            <a:off x="749808" y="1655064"/>
            <a:ext cx="114300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11</a:t>
            </a:r>
            <a:endParaRPr lang="en-US" sz="1200" dirty="0"/>
          </a:p>
        </p:txBody>
      </p:sp>
      <p:sp>
        <p:nvSpPr>
          <p:cNvPr id="12" name="Text 10"/>
          <p:cNvSpPr/>
          <p:nvPr/>
        </p:nvSpPr>
        <p:spPr>
          <a:xfrm>
            <a:off x="1984248" y="1655064"/>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Frontend + pixel engine</a:t>
            </a:r>
            <a:endParaRPr lang="en-US" sz="1200" dirty="0"/>
          </a:p>
        </p:txBody>
      </p:sp>
      <p:sp>
        <p:nvSpPr>
          <p:cNvPr id="13" name="Text 11"/>
          <p:cNvSpPr/>
          <p:nvPr/>
        </p:nvSpPr>
        <p:spPr>
          <a:xfrm>
            <a:off x="4178808" y="1655064"/>
            <a:ext cx="461772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pixelArt.js with 6 palettes · Floyd-Steinberg dithering · Substitution engine · BarcodeScanner</a:t>
            </a:r>
            <a:endParaRPr lang="en-US" sz="1050" dirty="0"/>
          </a:p>
        </p:txBody>
      </p:sp>
      <p:sp>
        <p:nvSpPr>
          <p:cNvPr id="14" name="Shape 12"/>
          <p:cNvSpPr/>
          <p:nvPr/>
        </p:nvSpPr>
        <p:spPr>
          <a:xfrm>
            <a:off x="301752" y="2267712"/>
            <a:ext cx="320040" cy="320040"/>
          </a:xfrm>
          <a:prstGeom prst="ellipse">
            <a:avLst/>
          </a:prstGeom>
          <a:solidFill>
            <a:srgbClr val="7DAE5C"/>
          </a:solidFill>
          <a:ln/>
        </p:spPr>
      </p:sp>
      <p:sp>
        <p:nvSpPr>
          <p:cNvPr id="15" name="Shape 13"/>
          <p:cNvSpPr/>
          <p:nvPr/>
        </p:nvSpPr>
        <p:spPr>
          <a:xfrm>
            <a:off x="461772" y="2596896"/>
            <a:ext cx="0" cy="210312"/>
          </a:xfrm>
          <a:prstGeom prst="line">
            <a:avLst/>
          </a:prstGeom>
          <a:noFill/>
          <a:ln w="19050">
            <a:solidFill>
              <a:srgbClr val="7DAE5C"/>
            </a:solidFill>
            <a:prstDash val="dash"/>
          </a:ln>
        </p:spPr>
      </p:sp>
      <p:sp>
        <p:nvSpPr>
          <p:cNvPr id="16" name="Text 14"/>
          <p:cNvSpPr/>
          <p:nvPr/>
        </p:nvSpPr>
        <p:spPr>
          <a:xfrm>
            <a:off x="749808" y="2231136"/>
            <a:ext cx="114300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12</a:t>
            </a:r>
            <a:endParaRPr lang="en-US" sz="1200" dirty="0"/>
          </a:p>
        </p:txBody>
      </p:sp>
      <p:sp>
        <p:nvSpPr>
          <p:cNvPr id="17" name="Text 15"/>
          <p:cNvSpPr/>
          <p:nvPr/>
        </p:nvSpPr>
        <p:spPr>
          <a:xfrm>
            <a:off x="1984248" y="2231136"/>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29 commits (peak day)</a:t>
            </a:r>
            <a:endParaRPr lang="en-US" sz="1200" dirty="0"/>
          </a:p>
        </p:txBody>
      </p:sp>
      <p:sp>
        <p:nvSpPr>
          <p:cNvPr id="18" name="Text 16"/>
          <p:cNvSpPr/>
          <p:nvPr/>
        </p:nvSpPr>
        <p:spPr>
          <a:xfrm>
            <a:off x="4178808" y="2231136"/>
            <a:ext cx="461772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Global recipe DB: 43+ countries in one day · Gamification history reel · Nova AI skeleton</a:t>
            </a:r>
            <a:endParaRPr lang="en-US" sz="1050" dirty="0"/>
          </a:p>
        </p:txBody>
      </p:sp>
      <p:sp>
        <p:nvSpPr>
          <p:cNvPr id="19" name="Shape 17"/>
          <p:cNvSpPr/>
          <p:nvPr/>
        </p:nvSpPr>
        <p:spPr>
          <a:xfrm>
            <a:off x="301752" y="2843784"/>
            <a:ext cx="320040" cy="320040"/>
          </a:xfrm>
          <a:prstGeom prst="ellipse">
            <a:avLst/>
          </a:prstGeom>
          <a:solidFill>
            <a:srgbClr val="7DAE5C"/>
          </a:solidFill>
          <a:ln/>
        </p:spPr>
      </p:sp>
      <p:sp>
        <p:nvSpPr>
          <p:cNvPr id="20" name="Shape 18"/>
          <p:cNvSpPr/>
          <p:nvPr/>
        </p:nvSpPr>
        <p:spPr>
          <a:xfrm>
            <a:off x="461772" y="3172968"/>
            <a:ext cx="0" cy="210312"/>
          </a:xfrm>
          <a:prstGeom prst="line">
            <a:avLst/>
          </a:prstGeom>
          <a:noFill/>
          <a:ln w="19050">
            <a:solidFill>
              <a:srgbClr val="7DAE5C"/>
            </a:solidFill>
            <a:prstDash val="dash"/>
          </a:ln>
        </p:spPr>
      </p:sp>
      <p:sp>
        <p:nvSpPr>
          <p:cNvPr id="21" name="Text 19"/>
          <p:cNvSpPr/>
          <p:nvPr/>
        </p:nvSpPr>
        <p:spPr>
          <a:xfrm>
            <a:off x="749808" y="2807208"/>
            <a:ext cx="114300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17</a:t>
            </a:r>
            <a:endParaRPr lang="en-US" sz="1200" dirty="0"/>
          </a:p>
        </p:txBody>
      </p:sp>
      <p:sp>
        <p:nvSpPr>
          <p:cNvPr id="22" name="Text 20"/>
          <p:cNvSpPr/>
          <p:nvPr/>
        </p:nvSpPr>
        <p:spPr>
          <a:xfrm>
            <a:off x="1984248" y="2807208"/>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23 commits</a:t>
            </a:r>
            <a:endParaRPr lang="en-US" sz="1200" dirty="0"/>
          </a:p>
        </p:txBody>
      </p:sp>
      <p:sp>
        <p:nvSpPr>
          <p:cNvPr id="23" name="Text 21"/>
          <p:cNvSpPr/>
          <p:nvPr/>
        </p:nvSpPr>
        <p:spPr>
          <a:xfrm>
            <a:off x="4178808" y="2807208"/>
            <a:ext cx="461772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Full B2B data layer · behavioral_intelligence.py · ab-analytics + training Node routes</a:t>
            </a:r>
            <a:endParaRPr lang="en-US" sz="1050" dirty="0"/>
          </a:p>
        </p:txBody>
      </p:sp>
      <p:sp>
        <p:nvSpPr>
          <p:cNvPr id="24" name="Shape 22"/>
          <p:cNvSpPr/>
          <p:nvPr/>
        </p:nvSpPr>
        <p:spPr>
          <a:xfrm>
            <a:off x="301752" y="3419856"/>
            <a:ext cx="320040" cy="320040"/>
          </a:xfrm>
          <a:prstGeom prst="ellipse">
            <a:avLst/>
          </a:prstGeom>
          <a:solidFill>
            <a:srgbClr val="7DAE5C"/>
          </a:solidFill>
          <a:ln/>
        </p:spPr>
      </p:sp>
      <p:sp>
        <p:nvSpPr>
          <p:cNvPr id="25" name="Shape 23"/>
          <p:cNvSpPr/>
          <p:nvPr/>
        </p:nvSpPr>
        <p:spPr>
          <a:xfrm>
            <a:off x="461772" y="3749040"/>
            <a:ext cx="0" cy="210312"/>
          </a:xfrm>
          <a:prstGeom prst="line">
            <a:avLst/>
          </a:prstGeom>
          <a:noFill/>
          <a:ln w="19050">
            <a:solidFill>
              <a:srgbClr val="7DAE5C"/>
            </a:solidFill>
            <a:prstDash val="dash"/>
          </a:ln>
        </p:spPr>
      </p:sp>
      <p:sp>
        <p:nvSpPr>
          <p:cNvPr id="26" name="Text 24"/>
          <p:cNvSpPr/>
          <p:nvPr/>
        </p:nvSpPr>
        <p:spPr>
          <a:xfrm>
            <a:off x="749808" y="3383280"/>
            <a:ext cx="114300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 18</a:t>
            </a:r>
            <a:endParaRPr lang="en-US" sz="1200" dirty="0"/>
          </a:p>
        </p:txBody>
      </p:sp>
      <p:sp>
        <p:nvSpPr>
          <p:cNvPr id="27" name="Text 25"/>
          <p:cNvSpPr/>
          <p:nvPr/>
        </p:nvSpPr>
        <p:spPr>
          <a:xfrm>
            <a:off x="1984248" y="3383280"/>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Science layer complete</a:t>
            </a:r>
            <a:endParaRPr lang="en-US" sz="1200" dirty="0"/>
          </a:p>
        </p:txBody>
      </p:sp>
      <p:sp>
        <p:nvSpPr>
          <p:cNvPr id="28" name="Text 26"/>
          <p:cNvSpPr/>
          <p:nvPr/>
        </p:nvSpPr>
        <p:spPr>
          <a:xfrm>
            <a:off x="4178808" y="3383280"/>
            <a:ext cx="461772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chemical_knowledge_graph.py · thermodynamic_engine.py · tcm_food_culture_engine.py · novaAI.js</a:t>
            </a:r>
            <a:endParaRPr lang="en-US" sz="1050" dirty="0"/>
          </a:p>
        </p:txBody>
      </p:sp>
      <p:sp>
        <p:nvSpPr>
          <p:cNvPr id="29" name="Shape 27"/>
          <p:cNvSpPr/>
          <p:nvPr/>
        </p:nvSpPr>
        <p:spPr>
          <a:xfrm>
            <a:off x="301752" y="3995928"/>
            <a:ext cx="320040" cy="320040"/>
          </a:xfrm>
          <a:prstGeom prst="ellipse">
            <a:avLst/>
          </a:prstGeom>
          <a:solidFill>
            <a:srgbClr val="7DAE5C"/>
          </a:solidFill>
          <a:ln/>
        </p:spPr>
      </p:sp>
      <p:sp>
        <p:nvSpPr>
          <p:cNvPr id="30" name="Text 28"/>
          <p:cNvSpPr/>
          <p:nvPr/>
        </p:nvSpPr>
        <p:spPr>
          <a:xfrm>
            <a:off x="749808" y="3959352"/>
            <a:ext cx="1143000" cy="393192"/>
          </a:xfrm>
          <a:prstGeom prst="rect">
            <a:avLst/>
          </a:prstGeom>
          <a:noFill/>
          <a:ln/>
        </p:spPr>
        <p:txBody>
          <a:bodyPr wrap="square" lIns="0" tIns="0" rIns="0" bIns="0" rtlCol="0" anchor="ctr"/>
          <a:lstStyle/>
          <a:p>
            <a:pPr indent="0" marL="0">
              <a:buNone/>
            </a:pPr>
            <a:r>
              <a:rPr lang="en-US" sz="1200" b="1" dirty="0">
                <a:solidFill>
                  <a:srgbClr val="7DAE5C"/>
                </a:solidFill>
                <a:latin typeface="Cambria" pitchFamily="34" charset="0"/>
                <a:ea typeface="Cambria" pitchFamily="34" charset="-122"/>
                <a:cs typeface="Cambria" pitchFamily="34" charset="-120"/>
              </a:rPr>
              <a:t>June–July</a:t>
            </a:r>
            <a:endParaRPr lang="en-US" sz="1200" dirty="0"/>
          </a:p>
        </p:txBody>
      </p:sp>
      <p:sp>
        <p:nvSpPr>
          <p:cNvPr id="31" name="Text 29"/>
          <p:cNvSpPr/>
          <p:nvPr/>
        </p:nvSpPr>
        <p:spPr>
          <a:xfrm>
            <a:off x="1984248" y="3959352"/>
            <a:ext cx="2103120" cy="393192"/>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National expansion coded</a:t>
            </a:r>
            <a:endParaRPr lang="en-US" sz="1200" dirty="0"/>
          </a:p>
        </p:txBody>
      </p:sp>
      <p:sp>
        <p:nvSpPr>
          <p:cNvPr id="32" name="Text 30"/>
          <p:cNvSpPr/>
          <p:nvPr/>
        </p:nvSpPr>
        <p:spPr>
          <a:xfrm>
            <a:off x="4178808" y="3959352"/>
            <a:ext cx="4617720" cy="393192"/>
          </a:xfrm>
          <a:prstGeom prst="rect">
            <a:avLst/>
          </a:prstGeom>
          <a:noFill/>
          <a:ln/>
        </p:spPr>
        <p:txBody>
          <a:bodyPr wrap="square" lIns="0" tIns="0" rIns="0" bIns="0" rtlCol="0" anchor="ctr"/>
          <a:lstStyle/>
          <a:p>
            <a:pPr indent="0" marL="0">
              <a:buNone/>
            </a:pPr>
            <a:r>
              <a:rPr lang="en-US" sz="1050" i="1" dirty="0">
                <a:solidFill>
                  <a:srgbClr val="8EB4E3"/>
                </a:solidFill>
                <a:latin typeface="Calibri" pitchFamily="34" charset="0"/>
                <a:ea typeface="Calibri" pitchFamily="34" charset="-122"/>
                <a:cs typeface="Calibri" pitchFamily="34" charset="-120"/>
              </a:rPr>
              <a:t>TexasStoreMap · ChicagoStoreMap · zipToState.js · regions.js · RuralTrend (SNAP/WIC/OSRM)</a:t>
            </a:r>
            <a:endParaRPr lang="en-US" sz="1050" dirty="0"/>
          </a:p>
        </p:txBody>
      </p:sp>
      <p:sp>
        <p:nvSpPr>
          <p:cNvPr id="33" name="Text 31"/>
          <p:cNvSpPr/>
          <p:nvPr/>
        </p:nvSpPr>
        <p:spPr>
          <a:xfrm>
            <a:off x="365760" y="4754880"/>
            <a:ext cx="8412480" cy="256032"/>
          </a:xfrm>
          <a:prstGeom prst="rect">
            <a:avLst/>
          </a:prstGeom>
          <a:noFill/>
          <a:ln/>
        </p:spPr>
        <p:txBody>
          <a:bodyPr wrap="square" lIns="0" tIns="0" rIns="0" bIns="0" rtlCol="0" anchor="ctr"/>
          <a:lstStyle/>
          <a:p>
            <a:pPr algn="ctr" indent="0" marL="0">
              <a:buNone/>
            </a:pPr>
            <a:r>
              <a:rPr lang="en-US" sz="1000" b="1" dirty="0">
                <a:solidFill>
                  <a:srgbClr val="8EB4E3"/>
                </a:solidFill>
                <a:latin typeface="Calibri" pitchFamily="34" charset="0"/>
                <a:ea typeface="Calibri" pitchFamily="34" charset="-122"/>
                <a:cs typeface="Calibri" pitchFamily="34" charset="-120"/>
              </a:rPr>
              <a:t>100+ commits  ·  70+ countries  ·  26,000+ recipes  ·  58+ pages  ·  35+ Python modules  ·  23 Node routes  ·  Docker + Render</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365760" y="164592"/>
            <a:ext cx="8412480" cy="512064"/>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Questions for This Meeting</a:t>
            </a:r>
            <a:endParaRPr lang="en-US" sz="3400" dirty="0"/>
          </a:p>
        </p:txBody>
      </p:sp>
      <p:sp>
        <p:nvSpPr>
          <p:cNvPr id="3" name="Shape 1"/>
          <p:cNvSpPr/>
          <p:nvPr/>
        </p:nvSpPr>
        <p:spPr>
          <a:xfrm>
            <a:off x="320040" y="841248"/>
            <a:ext cx="329184" cy="329184"/>
          </a:xfrm>
          <a:prstGeom prst="ellipse">
            <a:avLst/>
          </a:prstGeom>
          <a:solidFill>
            <a:srgbClr val="7DAE5C"/>
          </a:solidFill>
          <a:ln/>
        </p:spPr>
      </p:sp>
      <p:sp>
        <p:nvSpPr>
          <p:cNvPr id="4" name="Text 2"/>
          <p:cNvSpPr/>
          <p:nvPr/>
        </p:nvSpPr>
        <p:spPr>
          <a:xfrm>
            <a:off x="320040" y="841248"/>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1</a:t>
            </a:r>
            <a:endParaRPr lang="en-US" sz="1200" dirty="0"/>
          </a:p>
        </p:txBody>
      </p:sp>
      <p:sp>
        <p:nvSpPr>
          <p:cNvPr id="5" name="Text 3"/>
          <p:cNvSpPr/>
          <p:nvPr/>
        </p:nvSpPr>
        <p:spPr>
          <a:xfrm>
            <a:off x="804672" y="786384"/>
            <a:ext cx="7973568"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Which of the five systems has the strongest basis for a utility patent — and should we file a provisional today to lock in the priority dates shown on slide 12?</a:t>
            </a:r>
            <a:endParaRPr lang="en-US" sz="1150" dirty="0"/>
          </a:p>
        </p:txBody>
      </p:sp>
      <p:sp>
        <p:nvSpPr>
          <p:cNvPr id="6" name="Shape 4"/>
          <p:cNvSpPr/>
          <p:nvPr/>
        </p:nvSpPr>
        <p:spPr>
          <a:xfrm>
            <a:off x="320040" y="1399032"/>
            <a:ext cx="329184" cy="329184"/>
          </a:xfrm>
          <a:prstGeom prst="ellipse">
            <a:avLst/>
          </a:prstGeom>
          <a:solidFill>
            <a:srgbClr val="7DAE5C"/>
          </a:solidFill>
          <a:ln/>
        </p:spPr>
      </p:sp>
      <p:sp>
        <p:nvSpPr>
          <p:cNvPr id="7" name="Text 5"/>
          <p:cNvSpPr/>
          <p:nvPr/>
        </p:nvSpPr>
        <p:spPr>
          <a:xfrm>
            <a:off x="320040" y="1399032"/>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2</a:t>
            </a:r>
            <a:endParaRPr lang="en-US" sz="1200" dirty="0"/>
          </a:p>
        </p:txBody>
      </p:sp>
      <p:sp>
        <p:nvSpPr>
          <p:cNvPr id="8" name="Text 6"/>
          <p:cNvSpPr/>
          <p:nvPr/>
        </p:nvSpPr>
        <p:spPr>
          <a:xfrm>
            <a:off x="804672" y="1344168"/>
            <a:ext cx="7973568"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Texas and Illinois store maps are already coded. Does operating in multiple states start the PCT filing window? What is my deadline to preserve international rights?</a:t>
            </a:r>
            <a:endParaRPr lang="en-US" sz="1150" dirty="0"/>
          </a:p>
        </p:txBody>
      </p:sp>
      <p:sp>
        <p:nvSpPr>
          <p:cNvPr id="9" name="Shape 7"/>
          <p:cNvSpPr/>
          <p:nvPr/>
        </p:nvSpPr>
        <p:spPr>
          <a:xfrm>
            <a:off x="320040" y="1956816"/>
            <a:ext cx="329184" cy="329184"/>
          </a:xfrm>
          <a:prstGeom prst="ellipse">
            <a:avLst/>
          </a:prstGeom>
          <a:solidFill>
            <a:srgbClr val="7DAE5C"/>
          </a:solidFill>
          <a:ln/>
        </p:spPr>
      </p:sp>
      <p:sp>
        <p:nvSpPr>
          <p:cNvPr id="10" name="Text 8"/>
          <p:cNvSpPr/>
          <p:nvPr/>
        </p:nvSpPr>
        <p:spPr>
          <a:xfrm>
            <a:off x="320040" y="1956816"/>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3</a:t>
            </a:r>
            <a:endParaRPr lang="en-US" sz="1200" dirty="0"/>
          </a:p>
        </p:txBody>
      </p:sp>
      <p:sp>
        <p:nvSpPr>
          <p:cNvPr id="11" name="Text 9"/>
          <p:cNvSpPr/>
          <p:nvPr/>
        </p:nvSpPr>
        <p:spPr>
          <a:xfrm>
            <a:off x="804672" y="1901952"/>
            <a:ext cx="7973568"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Our B2B product sells anonymized behavioral data. behaviorTracker.js does SHA-256 hashing — does that architecture satisfy CCPA, CDPA, and the other state privacy laws before I scale?</a:t>
            </a:r>
            <a:endParaRPr lang="en-US" sz="1150" dirty="0"/>
          </a:p>
        </p:txBody>
      </p:sp>
      <p:sp>
        <p:nvSpPr>
          <p:cNvPr id="12" name="Shape 10"/>
          <p:cNvSpPr/>
          <p:nvPr/>
        </p:nvSpPr>
        <p:spPr>
          <a:xfrm>
            <a:off x="320040" y="2514600"/>
            <a:ext cx="329184" cy="329184"/>
          </a:xfrm>
          <a:prstGeom prst="ellipse">
            <a:avLst/>
          </a:prstGeom>
          <a:solidFill>
            <a:srgbClr val="7DAE5C"/>
          </a:solidFill>
          <a:ln/>
        </p:spPr>
      </p:sp>
      <p:sp>
        <p:nvSpPr>
          <p:cNvPr id="13" name="Text 11"/>
          <p:cNvSpPr/>
          <p:nvPr/>
        </p:nvSpPr>
        <p:spPr>
          <a:xfrm>
            <a:off x="320040" y="2514600"/>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4</a:t>
            </a:r>
            <a:endParaRPr lang="en-US" sz="1200" dirty="0"/>
          </a:p>
        </p:txBody>
      </p:sp>
      <p:sp>
        <p:nvSpPr>
          <p:cNvPr id="14" name="Text 12"/>
          <p:cNvSpPr/>
          <p:nvPr/>
        </p:nvSpPr>
        <p:spPr>
          <a:xfrm>
            <a:off x="804672" y="2459736"/>
            <a:ext cx="7973568"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The trademark 'Dig In': with three states already coded, is there urgency to file federal registration in Class 42 and Class 43 before a competitor registers it in Texas or Illinois?</a:t>
            </a:r>
            <a:endParaRPr lang="en-US" sz="1150" dirty="0"/>
          </a:p>
        </p:txBody>
      </p:sp>
      <p:sp>
        <p:nvSpPr>
          <p:cNvPr id="15" name="Shape 13"/>
          <p:cNvSpPr/>
          <p:nvPr/>
        </p:nvSpPr>
        <p:spPr>
          <a:xfrm>
            <a:off x="320040" y="3072384"/>
            <a:ext cx="329184" cy="329184"/>
          </a:xfrm>
          <a:prstGeom prst="ellipse">
            <a:avLst/>
          </a:prstGeom>
          <a:solidFill>
            <a:srgbClr val="7DAE5C"/>
          </a:solidFill>
          <a:ln/>
        </p:spPr>
      </p:sp>
      <p:sp>
        <p:nvSpPr>
          <p:cNvPr id="16" name="Text 14"/>
          <p:cNvSpPr/>
          <p:nvPr/>
        </p:nvSpPr>
        <p:spPr>
          <a:xfrm>
            <a:off x="320040" y="3072384"/>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5</a:t>
            </a:r>
            <a:endParaRPr lang="en-US" sz="1200" dirty="0"/>
          </a:p>
        </p:txBody>
      </p:sp>
      <p:sp>
        <p:nvSpPr>
          <p:cNvPr id="17" name="Text 15"/>
          <p:cNvSpPr/>
          <p:nvPr/>
        </p:nvSpPr>
        <p:spPr>
          <a:xfrm>
            <a:off x="804672" y="3017520"/>
            <a:ext cx="7973568"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Nova AI uses OpenAI's API for photo cooking critique and Q&amp;A. Does using a third-party AI API affect my IP position or inventorship rights in those system features?</a:t>
            </a:r>
            <a:endParaRPr lang="en-US" sz="1150" dirty="0"/>
          </a:p>
        </p:txBody>
      </p:sp>
      <p:sp>
        <p:nvSpPr>
          <p:cNvPr id="18" name="Shape 16"/>
          <p:cNvSpPr/>
          <p:nvPr/>
        </p:nvSpPr>
        <p:spPr>
          <a:xfrm>
            <a:off x="320040" y="3630168"/>
            <a:ext cx="329184" cy="329184"/>
          </a:xfrm>
          <a:prstGeom prst="ellipse">
            <a:avLst/>
          </a:prstGeom>
          <a:solidFill>
            <a:srgbClr val="7DAE5C"/>
          </a:solidFill>
          <a:ln/>
        </p:spPr>
      </p:sp>
      <p:sp>
        <p:nvSpPr>
          <p:cNvPr id="19" name="Text 17"/>
          <p:cNvSpPr/>
          <p:nvPr/>
        </p:nvSpPr>
        <p:spPr>
          <a:xfrm>
            <a:off x="320040" y="3630168"/>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6</a:t>
            </a:r>
            <a:endParaRPr lang="en-US" sz="1200" dirty="0"/>
          </a:p>
        </p:txBody>
      </p:sp>
      <p:sp>
        <p:nvSpPr>
          <p:cNvPr id="20" name="Text 18"/>
          <p:cNvSpPr/>
          <p:nvPr/>
        </p:nvSpPr>
        <p:spPr>
          <a:xfrm>
            <a:off x="804672" y="3575304"/>
            <a:ext cx="7973568"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The chemical_knowledge_graph.py module maps molecular flavor compounds — should that be protected as a trade secret rather than a patent (since patents require public disclosure)?</a:t>
            </a:r>
            <a:endParaRPr lang="en-US" sz="1150" dirty="0"/>
          </a:p>
        </p:txBody>
      </p:sp>
      <p:sp>
        <p:nvSpPr>
          <p:cNvPr id="21" name="Shape 19"/>
          <p:cNvSpPr/>
          <p:nvPr/>
        </p:nvSpPr>
        <p:spPr>
          <a:xfrm>
            <a:off x="320040" y="4187952"/>
            <a:ext cx="329184" cy="329184"/>
          </a:xfrm>
          <a:prstGeom prst="ellipse">
            <a:avLst/>
          </a:prstGeom>
          <a:solidFill>
            <a:srgbClr val="7DAE5C"/>
          </a:solidFill>
          <a:ln/>
        </p:spPr>
      </p:sp>
      <p:sp>
        <p:nvSpPr>
          <p:cNvPr id="22" name="Text 20"/>
          <p:cNvSpPr/>
          <p:nvPr/>
        </p:nvSpPr>
        <p:spPr>
          <a:xfrm>
            <a:off x="320040" y="4187952"/>
            <a:ext cx="329184" cy="329184"/>
          </a:xfrm>
          <a:prstGeom prst="rect">
            <a:avLst/>
          </a:prstGeom>
          <a:noFill/>
          <a:ln/>
        </p:spPr>
        <p:txBody>
          <a:bodyPr wrap="square" lIns="0" tIns="0" rIns="0" bIns="0" rtlCol="0" anchor="ctr"/>
          <a:lstStyle/>
          <a:p>
            <a:pPr algn="ctr" indent="0" marL="0">
              <a:buNone/>
            </a:pPr>
            <a:r>
              <a:rPr lang="en-US" sz="1200" b="1" dirty="0">
                <a:solidFill>
                  <a:srgbClr val="1B2A4A"/>
                </a:solidFill>
                <a:latin typeface="Cambria" pitchFamily="34" charset="0"/>
                <a:ea typeface="Cambria" pitchFamily="34" charset="-122"/>
                <a:cs typeface="Cambria" pitchFamily="34" charset="-120"/>
              </a:rPr>
              <a:t>7</a:t>
            </a:r>
            <a:endParaRPr lang="en-US" sz="1200" dirty="0"/>
          </a:p>
        </p:txBody>
      </p:sp>
      <p:sp>
        <p:nvSpPr>
          <p:cNvPr id="23" name="Text 21"/>
          <p:cNvSpPr/>
          <p:nvPr/>
        </p:nvSpPr>
        <p:spPr>
          <a:xfrm>
            <a:off x="804672" y="4133088"/>
            <a:ext cx="7973568" cy="457200"/>
          </a:xfrm>
          <a:prstGeom prst="rect">
            <a:avLst/>
          </a:prstGeom>
          <a:noFill/>
          <a:ln/>
        </p:spPr>
        <p:txBody>
          <a:bodyPr wrap="square" lIns="0" tIns="0" rIns="0" bIns="0" rtlCol="0" anchor="ctr"/>
          <a:lstStyle/>
          <a:p>
            <a:pPr indent="0" marL="0">
              <a:buNone/>
            </a:pPr>
            <a:r>
              <a:rPr lang="en-US" sz="1150" dirty="0">
                <a:solidFill>
                  <a:srgbClr val="FFFFFF"/>
                </a:solidFill>
                <a:latin typeface="Calibri" pitchFamily="34" charset="0"/>
                <a:ea typeface="Calibri" pitchFamily="34" charset="-122"/>
                <a:cs typeface="Calibri" pitchFamily="34" charset="-120"/>
              </a:rPr>
              <a:t>Does using Claude (an AI coding tool) to help write portions of the code affect my inventorship rights or copyright ownership of the codebase?</a:t>
            </a:r>
            <a:endParaRPr lang="en-US" sz="1150" dirty="0"/>
          </a:p>
        </p:txBody>
      </p:sp>
      <p:sp>
        <p:nvSpPr>
          <p:cNvPr id="24" name="Text 22"/>
          <p:cNvSpPr/>
          <p:nvPr/>
        </p:nvSpPr>
        <p:spPr>
          <a:xfrm>
            <a:off x="365760" y="4864608"/>
            <a:ext cx="8412480" cy="201168"/>
          </a:xfrm>
          <a:prstGeom prst="rect">
            <a:avLst/>
          </a:prstGeom>
          <a:noFill/>
          <a:ln/>
        </p:spPr>
        <p:txBody>
          <a:bodyPr wrap="square" lIns="0" tIns="0" rIns="0" bIns="0" rtlCol="0" anchor="ctr"/>
          <a:lstStyle/>
          <a:p>
            <a:pPr algn="ctr" indent="0" marL="0">
              <a:buNone/>
            </a:pPr>
            <a:r>
              <a:rPr lang="en-US" sz="950" dirty="0">
                <a:solidFill>
                  <a:srgbClr val="8EB4E3"/>
                </a:solidFill>
                <a:latin typeface="Calibri" pitchFamily="34" charset="0"/>
                <a:ea typeface="Calibri" pitchFamily="34" charset="-122"/>
                <a:cs typeface="Calibri" pitchFamily="34" charset="-120"/>
              </a:rPr>
              <a:t>Inventor: Olive Phillips  ·  July 24, 2026  ·  Confidential — Attorney-Client Privilege</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 In — Patent Attorney Briefing v3</dc:title>
  <dc:subject>PptxGenJS Presentation</dc:subject>
  <dc:creator>Olive Phillips</dc:creator>
  <cp:lastModifiedBy>Olive Phillips</cp:lastModifiedBy>
  <cp:revision>1</cp:revision>
  <dcterms:created xsi:type="dcterms:W3CDTF">2026-07-24T14:42:00Z</dcterms:created>
  <dcterms:modified xsi:type="dcterms:W3CDTF">2026-07-24T14:42:00Z</dcterms:modified>
</cp:coreProperties>
</file>