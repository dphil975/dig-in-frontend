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548640"/>
            <a:ext cx="2926080" cy="2926080"/>
          </a:xfrm>
          <a:prstGeom prst="ellipse">
            <a:avLst/>
          </a:prstGeom>
          <a:solidFill>
            <a:srgbClr val="7DAE5C">
              <a:alpha val="15000"/>
            </a:srgbClr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474720"/>
            <a:ext cx="2194560" cy="2194560"/>
          </a:xfrm>
          <a:prstGeom prst="ellipse">
            <a:avLst/>
          </a:prstGeom>
          <a:solidFill>
            <a:srgbClr val="8EB4E3">
              <a:alpha val="10000"/>
            </a:srgbClr>
          </a:solidFill>
          <a:ln w="12700">
            <a:solidFill>
              <a:srgbClr val="8EB4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4630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 IN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E8F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Emotional &amp; Scientific Layer Beneath Every Meal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297680" y="3493008"/>
            <a:ext cx="137160" cy="137160"/>
          </a:xfrm>
          <a:prstGeom prst="ellipse">
            <a:avLst/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26280" y="3493008"/>
            <a:ext cx="137160" cy="137160"/>
          </a:xfrm>
          <a:prstGeom prst="ellipse">
            <a:avLst/>
          </a:prstGeom>
          <a:solidFill>
            <a:srgbClr val="8EB4E3"/>
          </a:solidFill>
          <a:ln w="12700">
            <a:solidFill>
              <a:srgbClr val="8EB4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3493008"/>
            <a:ext cx="137160" cy="1371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221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&amp; Investor Overview  ·  July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 ·  Python/Flask  ·  Node.js/Express  ·  Supabase  ·  Built in New York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Dig In?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663440" cy="1463040"/>
          </a:xfrm>
          <a:prstGeom prst="roundRect">
            <a:avLst>
              <a:gd name="adj" fmla="val 5625"/>
            </a:avLst>
          </a:prstGeom>
          <a:solidFill>
            <a:srgbClr val="F0F4F8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618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pages built in React 18 + Vite. Nova AI companion, Girl Dinner, KitchenAlchemist, CravingCompass, ZeroProof, Remix Engine, Badges, Wellness, Commute, and much more.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2761488"/>
            <a:ext cx="4663440" cy="1463040"/>
          </a:xfrm>
          <a:prstGeom prst="roundRect">
            <a:avLst>
              <a:gd name="adj" fmla="val 5625"/>
            </a:avLst>
          </a:prstGeom>
          <a:solidFill>
            <a:srgbClr val="F0F4F8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8529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Backend Architecture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236976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Python/Flask handles ML + food science. Node.js/Express runs the API layer. Docker containerized. Supabase authentication. Prometheus monitoring live in production.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4352544"/>
            <a:ext cx="4663440" cy="1463040"/>
          </a:xfrm>
          <a:prstGeom prst="roundRect">
            <a:avLst>
              <a:gd name="adj" fmla="val 5625"/>
            </a:avLst>
          </a:prstGeom>
          <a:solidFill>
            <a:srgbClr val="F0F4F8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444398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National Reach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26,000+ recipes across 249 countries. Multi-state infrastructure already coded — NYC, Texas, Illinois. OSM store data imported. Real lat/lng routing ready to ship.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57800" y="1115568"/>
            <a:ext cx="3566160" cy="1188720"/>
          </a:xfrm>
          <a:prstGeom prst="roundRect">
            <a:avLst>
              <a:gd name="adj" fmla="val 692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57800" y="1161288"/>
            <a:ext cx="3566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349240" y="18745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Pages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7800" y="2441448"/>
            <a:ext cx="3566160" cy="1188720"/>
          </a:xfrm>
          <a:prstGeom prst="roundRect">
            <a:avLst>
              <a:gd name="adj" fmla="val 6923"/>
            </a:avLst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57800" y="2487168"/>
            <a:ext cx="3566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80+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5349240" y="32004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Libraries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57800" y="3767328"/>
            <a:ext cx="3566160" cy="1188720"/>
          </a:xfrm>
          <a:prstGeom prst="roundRect">
            <a:avLst>
              <a:gd name="adj" fmla="val 6923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57800" y="3813048"/>
            <a:ext cx="3566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249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5349240" y="4526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in Recipe DB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57800" y="5093208"/>
            <a:ext cx="3566160" cy="1188720"/>
          </a:xfrm>
          <a:prstGeom prst="roundRect">
            <a:avLst>
              <a:gd name="adj" fmla="val 6923"/>
            </a:avLst>
          </a:prstGeom>
          <a:solidFill>
            <a:srgbClr val="E8654A"/>
          </a:solidFill>
          <a:ln w="12700">
            <a:solidFill>
              <a:srgbClr val="E865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57800" y="5138928"/>
            <a:ext cx="3566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5349240" y="5852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Fee to Users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 — The Platform's Beating Heart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E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is not a chatbot feature. Nova is the reason someone opens the app.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56032" y="1325880"/>
            <a:ext cx="2816352" cy="5120640"/>
          </a:xfrm>
          <a:prstGeom prst="roundRect">
            <a:avLst>
              <a:gd name="adj" fmla="val 2922"/>
            </a:avLst>
          </a:prstGeom>
          <a:solidFill>
            <a:srgbClr val="243A5E"/>
          </a:solidFill>
          <a:ln w="19050">
            <a:solidFill>
              <a:srgbClr val="7DAE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61872" y="1463040"/>
            <a:ext cx="713232" cy="713232"/>
          </a:xfrm>
          <a:prstGeom prst="ellipse">
            <a:avLst/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2304288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Culinary Intelligence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7472" y="27614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DA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novaAI.js  ·  OpenAI-backed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0624" y="3108960"/>
            <a:ext cx="248716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Ask mode: real cooking Q&amp;A, sourced answers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Photo mode: vision critique of your dish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Trending: live dish discovery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Graceful 503 / offline fallback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Works with ZERO API key (offline brain)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55264" y="1325880"/>
            <a:ext cx="2816352" cy="5120640"/>
          </a:xfrm>
          <a:prstGeom prst="roundRect">
            <a:avLst>
              <a:gd name="adj" fmla="val 2922"/>
            </a:avLst>
          </a:prstGeom>
          <a:solidFill>
            <a:srgbClr val="243A5E"/>
          </a:solidFill>
          <a:ln w="19050">
            <a:solidFill>
              <a:srgbClr val="7C5DA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61104" y="1463040"/>
            <a:ext cx="713232" cy="713232"/>
          </a:xfrm>
          <a:prstGeom prst="ellipse">
            <a:avLst/>
          </a:prstGeom>
          <a:solidFill>
            <a:srgbClr val="7C5DAF"/>
          </a:solidFill>
          <a:ln w="12700">
            <a:solidFill>
              <a:srgbClr val="7C5D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704" y="2304288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46704" y="27614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C5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Companion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19856" y="3108960"/>
            <a:ext cx="248716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7-phase Shadow-to-Light protocol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Safe Vent + Gratitude Log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Trophy Case (wins collected)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Crisis detection → human resources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 a therapist — a companion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54496" y="1325880"/>
            <a:ext cx="2816352" cy="5120640"/>
          </a:xfrm>
          <a:prstGeom prst="roundRect">
            <a:avLst>
              <a:gd name="adj" fmla="val 2922"/>
            </a:avLst>
          </a:prstGeom>
          <a:solidFill>
            <a:srgbClr val="243A5E"/>
          </a:solidFill>
          <a:ln w="1905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60336" y="1463040"/>
            <a:ext cx="713232" cy="71323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2304288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Layer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45936" y="27614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novaKnowledge.js  ·  Fully Offline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19088" y="3108960"/>
            <a:ext cx="248716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40+ deterministic ingredient substitutions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Technique + troubleshooting database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Maillard, browning, food safety built-in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Works with zero network — no API key needed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OpenAI enriches answers on top when live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Nest: Shadow-to-Light Protocol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emotional recovery journey — built in code, not vibes.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1170432"/>
            <a:ext cx="1078992" cy="1463040"/>
          </a:xfrm>
          <a:prstGeom prst="roundRect">
            <a:avLst>
              <a:gd name="adj" fmla="val 7627"/>
            </a:avLst>
          </a:prstGeom>
          <a:solidFill>
            <a:srgbClr val="E8654A"/>
          </a:solidFill>
          <a:ln w="12700">
            <a:solidFill>
              <a:srgbClr val="E865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216152"/>
            <a:ext cx="1078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1627632"/>
            <a:ext cx="1078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44168" y="1572768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85900" y="1170432"/>
            <a:ext cx="1078992" cy="1463040"/>
          </a:xfrm>
          <a:prstGeom prst="roundRect">
            <a:avLst>
              <a:gd name="adj" fmla="val 7627"/>
            </a:avLst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85900" y="1216152"/>
            <a:ext cx="1078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485900" y="1627632"/>
            <a:ext cx="1078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feelings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74036" y="1572768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15768" y="1170432"/>
            <a:ext cx="1078992" cy="1463040"/>
          </a:xfrm>
          <a:prstGeom prst="roundRect">
            <a:avLst>
              <a:gd name="adj" fmla="val 7627"/>
            </a:avLst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5768" y="1216152"/>
            <a:ext cx="1078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MIRROR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15768" y="1627632"/>
            <a:ext cx="1078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flopped too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03904" y="1572768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45636" y="1170432"/>
            <a:ext cx="1078992" cy="1463040"/>
          </a:xfrm>
          <a:prstGeom prst="roundRect">
            <a:avLst>
              <a:gd name="adj" fmla="val 7627"/>
            </a:avLst>
          </a:prstGeom>
          <a:solidFill>
            <a:srgbClr val="8EB4E3"/>
          </a:solidFill>
          <a:ln w="12700">
            <a:solidFill>
              <a:srgbClr val="8EB4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45636" y="1216152"/>
            <a:ext cx="1078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REFRAME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945636" y="1627632"/>
            <a:ext cx="1078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lens,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facts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33772" y="1572768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75504" y="1170432"/>
            <a:ext cx="1078992" cy="1463040"/>
          </a:xfrm>
          <a:prstGeom prst="roundRect">
            <a:avLst>
              <a:gd name="adj" fmla="val 7627"/>
            </a:avLst>
          </a:prstGeom>
          <a:solidFill>
            <a:srgbClr val="7C5DAF"/>
          </a:solidFill>
          <a:ln w="12700">
            <a:solidFill>
              <a:srgbClr val="7C5D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75504" y="1216152"/>
            <a:ext cx="1078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175504" y="1627632"/>
            <a:ext cx="1078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572768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5372" y="1170432"/>
            <a:ext cx="1078992" cy="1463040"/>
          </a:xfrm>
          <a:prstGeom prst="roundRect">
            <a:avLst>
              <a:gd name="adj" fmla="val 7627"/>
            </a:avLst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5372" y="1216152"/>
            <a:ext cx="1078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5372" y="1627632"/>
            <a:ext cx="1078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3508" y="1572768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35240" y="1170432"/>
            <a:ext cx="1078992" cy="1463040"/>
          </a:xfrm>
          <a:prstGeom prst="roundRect">
            <a:avLst>
              <a:gd name="adj" fmla="val 762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1216152"/>
            <a:ext cx="1078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635240" y="1627632"/>
            <a:ext cx="1078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2834640"/>
            <a:ext cx="4160520" cy="3657600"/>
          </a:xfrm>
          <a:prstGeom prst="roundRect">
            <a:avLst>
              <a:gd name="adj" fmla="val 2250"/>
            </a:avLst>
          </a:prstGeom>
          <a:solidFill>
            <a:srgbClr val="1B2A4A"/>
          </a:solidFill>
          <a:ln w="12700">
            <a:solidFill>
              <a:srgbClr val="8EB4E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38912" y="2944368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Nova's 5 Tone Personalities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38912" y="3456432"/>
            <a:ext cx="1042416" cy="365760"/>
          </a:xfrm>
          <a:prstGeom prst="roundRect">
            <a:avLst>
              <a:gd name="adj" fmla="val 22500"/>
            </a:avLst>
          </a:prstGeom>
          <a:solidFill>
            <a:srgbClr val="7C5DAF"/>
          </a:solidFill>
          <a:ln w="12700">
            <a:solidFill>
              <a:srgbClr val="7C5DA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456432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572768" y="35112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present — no unsolicited advice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8912" y="4005072"/>
            <a:ext cx="1042416" cy="365760"/>
          </a:xfrm>
          <a:prstGeom prst="roundRect">
            <a:avLst>
              <a:gd name="adj" fmla="val 22500"/>
            </a:avLst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4005072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572768" y="405993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Soothing, stable, grounded energy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38912" y="4553712"/>
            <a:ext cx="1042416" cy="365760"/>
          </a:xfrm>
          <a:prstGeom prst="roundRect">
            <a:avLst>
              <a:gd name="adj" fmla="val 22500"/>
            </a:avLst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4553712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572768" y="46085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motivating, clear next steps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38912" y="5102352"/>
            <a:ext cx="1042416" cy="365760"/>
          </a:xfrm>
          <a:prstGeom prst="roundRect">
            <a:avLst>
              <a:gd name="adj" fmla="val 22500"/>
            </a:avLst>
          </a:prstGeom>
          <a:solidFill>
            <a:srgbClr val="E8654A"/>
          </a:solidFill>
          <a:ln w="12700">
            <a:solidFill>
              <a:srgbClr val="E865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5102352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Cheerleader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572768" y="515721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Energizing, celebratory, hype energy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38912" y="5650992"/>
            <a:ext cx="1042416" cy="365760"/>
          </a:xfrm>
          <a:prstGeom prst="roundRect">
            <a:avLst>
              <a:gd name="adj" fmla="val 22500"/>
            </a:avLst>
          </a:prstGeom>
          <a:solidFill>
            <a:srgbClr val="8EB4E3"/>
          </a:solidFill>
          <a:ln w="12700">
            <a:solidFill>
              <a:srgbClr val="8EB4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5650992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Sassy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572768" y="57058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Witty, keeps it real, light touch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27448" y="2834640"/>
            <a:ext cx="4160520" cy="2980944"/>
          </a:xfrm>
          <a:prstGeom prst="roundRect">
            <a:avLst>
              <a:gd name="adj" fmla="val 2761"/>
            </a:avLst>
          </a:prstGeom>
          <a:solidFill>
            <a:srgbClr val="1B2A4A"/>
          </a:solidFill>
          <a:ln w="12700">
            <a:solidFill>
              <a:srgbClr val="7DAE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910328" y="2944368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Happiness Engine — 5 Loops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910328" y="3438144"/>
            <a:ext cx="379476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GRATITUDE LOG  —  daily streak tracking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COLLECTION  —  Trophy Case (cooking wins)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KINDNESS CHAIN  —  tag someone, both get a lift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HAND  —  altruism badge tier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LIGHTNESS INDEX  —  Nova reads it to pace her tone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727448" y="5943600"/>
            <a:ext cx="4160520" cy="438912"/>
          </a:xfrm>
          <a:prstGeom prst="roundRect">
            <a:avLst>
              <a:gd name="adj" fmla="val 18750"/>
            </a:avLst>
          </a:prstGeom>
          <a:solidFill>
            <a:srgbClr val="E8654A"/>
          </a:solidFill>
          <a:ln w="12700">
            <a:solidFill>
              <a:srgbClr val="E865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27448" y="594360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terms detected → routes to real human resources, not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Chemistry Underneath the Cooking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4663440" cy="1243584"/>
          </a:xfrm>
          <a:prstGeom prst="roundRect">
            <a:avLst>
              <a:gd name="adj" fmla="val 6618"/>
            </a:avLst>
          </a:prstGeom>
          <a:solidFill>
            <a:srgbClr val="F0F4F8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24128"/>
            <a:ext cx="1426464" cy="320040"/>
          </a:xfrm>
          <a:prstGeom prst="roundRect">
            <a:avLst>
              <a:gd name="adj" fmla="val 25714"/>
            </a:avLst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24128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Maillard Reaction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92224" y="1060704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Amino acids + reducing sugars (glucose, fructose)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0624" y="1444752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Activates: 140°C  ·  Optimal: 150–180°C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0624" y="1737360"/>
            <a:ext cx="4343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Byproducts: Melanoidins (color) · Pyrazines (nutty) · Thiazoles (meaty) · Furans (caramel)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2414016"/>
            <a:ext cx="4663440" cy="1243584"/>
          </a:xfrm>
          <a:prstGeom prst="roundRect">
            <a:avLst>
              <a:gd name="adj" fmla="val 6618"/>
            </a:avLst>
          </a:prstGeom>
          <a:solidFill>
            <a:srgbClr val="F0F4F8"/>
          </a:solidFill>
          <a:ln w="25400">
            <a:solidFill>
              <a:srgbClr val="E865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2414016"/>
            <a:ext cx="1426464" cy="320040"/>
          </a:xfrm>
          <a:prstGeom prst="roundRect">
            <a:avLst>
              <a:gd name="adj" fmla="val 25714"/>
            </a:avLst>
          </a:prstGeom>
          <a:solidFill>
            <a:srgbClr val="E8654A"/>
          </a:solidFill>
          <a:ln w="12700">
            <a:solidFill>
              <a:srgbClr val="E865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2414016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Denaturation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92224" y="2450592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chain unfolding → coagulation + water trapping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0624" y="283464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 white: 62°C  ·  Yolk: 68°C  ·  Meat actin: 79°C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0624" y="3127248"/>
            <a:ext cx="4343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 at 79°C = why well-done meat is dry — coded as real temp targets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3803904"/>
            <a:ext cx="4663440" cy="1243584"/>
          </a:xfrm>
          <a:prstGeom prst="roundRect">
            <a:avLst>
              <a:gd name="adj" fmla="val 6618"/>
            </a:avLst>
          </a:prstGeom>
          <a:solidFill>
            <a:srgbClr val="F0F4F8"/>
          </a:solidFill>
          <a:ln w="25400">
            <a:solidFill>
              <a:srgbClr val="7DAE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3803904"/>
            <a:ext cx="1426464" cy="320040"/>
          </a:xfrm>
          <a:prstGeom prst="roundRect">
            <a:avLst>
              <a:gd name="adj" fmla="val 25714"/>
            </a:avLst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803904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Collagen Hydrolysis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792224" y="38404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Collagen triple-helix → soluble gelatin (time + heat)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0624" y="4224528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Unwind: 55°C  ·  Rapid gelatin conversion: 70°C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0624" y="4517136"/>
            <a:ext cx="4343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temp = more moisture retained — time–moisture tradeoff modeled in code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5193792"/>
            <a:ext cx="4663440" cy="1243584"/>
          </a:xfrm>
          <a:prstGeom prst="roundRect">
            <a:avLst>
              <a:gd name="adj" fmla="val 6618"/>
            </a:avLst>
          </a:prstGeom>
          <a:solidFill>
            <a:srgbClr val="F0F4F8"/>
          </a:solidFill>
          <a:ln w="25400">
            <a:solidFill>
              <a:srgbClr val="8EB4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5193792"/>
            <a:ext cx="1426464" cy="320040"/>
          </a:xfrm>
          <a:prstGeom prst="roundRect">
            <a:avLst>
              <a:gd name="adj" fmla="val 25714"/>
            </a:avLst>
          </a:prstGeom>
          <a:solidFill>
            <a:srgbClr val="8EB4E3"/>
          </a:solidFill>
          <a:ln w="12700">
            <a:solidFill>
              <a:srgbClr val="8EB4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51937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Emulsion Stabilization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792224" y="523036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droplets in water via tensioactive molecules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0624" y="5614416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Lecithin (egg yolk)  ·  Casein micelles (dairy)  ·  Mustard polysaccharides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0624" y="5907024"/>
            <a:ext cx="4343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on insufficient coating or extreme temp shift — breakpoint tracked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20640" y="1024128"/>
            <a:ext cx="3767328" cy="5486400"/>
          </a:xfrm>
          <a:prstGeom prst="roundRect">
            <a:avLst>
              <a:gd name="adj" fmla="val 2184"/>
            </a:avLst>
          </a:prstGeom>
          <a:solidFill>
            <a:srgbClr val="1B2A4A"/>
          </a:solidFill>
          <a:ln w="25400">
            <a:solidFill>
              <a:srgbClr val="7DAE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03520" y="1133856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 Behind the Chemistry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03520" y="1609344"/>
            <a:ext cx="3401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Hervé This — “Molecular Gastronomy” + Cook's Science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285232" y="1956816"/>
            <a:ext cx="3438144" cy="786384"/>
          </a:xfrm>
          <a:prstGeom prst="roundRect">
            <a:avLst>
              <a:gd name="adj" fmla="val 10465"/>
            </a:avLst>
          </a:prstGeom>
          <a:solidFill>
            <a:srgbClr val="243A5E"/>
          </a:solidFill>
          <a:ln w="12700">
            <a:solidFill>
              <a:srgbClr val="8EB4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2011680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A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chemical_knowledge_graph.py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40680" y="2304288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flavor compound network. Maps Maillard byproducts, pairing affinities, pH acceleration effects.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85232" y="2852928"/>
            <a:ext cx="3438144" cy="786384"/>
          </a:xfrm>
          <a:prstGeom prst="roundRect">
            <a:avLst>
              <a:gd name="adj" fmla="val 10465"/>
            </a:avLst>
          </a:prstGeom>
          <a:solidFill>
            <a:srgbClr val="243A5E"/>
          </a:solidFill>
          <a:ln w="12700">
            <a:solidFill>
              <a:srgbClr val="8EB4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0680" y="2907792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A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thermodynamic_engine.py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40680" y="3200400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duration = f(thickness, temp_target). High-heat vs. slow-braise variance adjustment built in.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285232" y="3749040"/>
            <a:ext cx="3438144" cy="786384"/>
          </a:xfrm>
          <a:prstGeom prst="roundRect">
            <a:avLst>
              <a:gd name="adj" fmla="val 10465"/>
            </a:avLst>
          </a:prstGeom>
          <a:solidFill>
            <a:srgbClr val="243A5E"/>
          </a:solidFill>
          <a:ln w="12700">
            <a:solidFill>
              <a:srgbClr val="8EB4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0680" y="3803904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A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food_science_encyclopedia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7DA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_engine.py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40680" y="4096512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cooking science knowledge base. Technique, food safety, substitution logic.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285232" y="4645152"/>
            <a:ext cx="3438144" cy="786384"/>
          </a:xfrm>
          <a:prstGeom prst="roundRect">
            <a:avLst>
              <a:gd name="adj" fmla="val 10465"/>
            </a:avLst>
          </a:prstGeom>
          <a:solidFill>
            <a:srgbClr val="243A5E"/>
          </a:solidFill>
          <a:ln w="12700">
            <a:solidFill>
              <a:srgbClr val="8EB4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0680" y="4700016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A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nutrition_science_engine.py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40680" y="4992624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tracking + dietary adaptation engine powering Healthify Lab.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285232" y="5541264"/>
            <a:ext cx="3438144" cy="786384"/>
          </a:xfrm>
          <a:prstGeom prst="roundRect">
            <a:avLst>
              <a:gd name="adj" fmla="val 10465"/>
            </a:avLst>
          </a:prstGeom>
          <a:solidFill>
            <a:srgbClr val="243A5E"/>
          </a:solidFill>
          <a:ln w="12700">
            <a:solidFill>
              <a:srgbClr val="8EB4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40680" y="5596128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A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tcm_food_culture_engine.py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40680" y="5888736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Chinese Medicine food principles mapped to modern biochemistry.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E8F1E0"/>
          </a:solidFill>
          <a:ln w="12700">
            <a:solidFill>
              <a:srgbClr val="E8F1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80560" y="0"/>
            <a:ext cx="4663440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82880"/>
            <a:ext cx="4078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Girl Dinner, Elevated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1168" y="804672"/>
            <a:ext cx="40782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"Zero-activation-energy effort.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3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where the money goes."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1444752"/>
            <a:ext cx="2029968" cy="420624"/>
          </a:xfrm>
          <a:prstGeom prst="roundRect">
            <a:avLst>
              <a:gd name="adj" fmla="val 1956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444752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DISHES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40864" y="1444752"/>
            <a:ext cx="2029968" cy="420624"/>
          </a:xfrm>
          <a:prstGeom prst="roundRect">
            <a:avLst>
              <a:gd name="adj" fmla="val 19565"/>
            </a:avLst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40864" y="1444752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ENERGY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" y="1956816"/>
            <a:ext cx="2029968" cy="420624"/>
          </a:xfrm>
          <a:prstGeom prst="roundRect">
            <a:avLst>
              <a:gd name="adj" fmla="val 19565"/>
            </a:avLst>
          </a:prstGeom>
          <a:solidFill>
            <a:srgbClr val="637074"/>
          </a:solidFill>
          <a:ln w="12700">
            <a:solidFill>
              <a:srgbClr val="6370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956816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40864" y="1956816"/>
            <a:ext cx="2029968" cy="420624"/>
          </a:xfrm>
          <a:prstGeom prst="roundRect">
            <a:avLst>
              <a:gd name="adj" fmla="val 19565"/>
            </a:avLst>
          </a:prstGeom>
          <a:solidFill>
            <a:srgbClr val="E8654A"/>
          </a:solidFill>
          <a:ln w="12700">
            <a:solidFill>
              <a:srgbClr val="E865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40864" y="1956816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1168" y="2468880"/>
            <a:ext cx="2029968" cy="420624"/>
          </a:xfrm>
          <a:prstGeom prst="roundRect">
            <a:avLst>
              <a:gd name="adj" fmla="val 19565"/>
            </a:avLst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2468880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40864" y="2468880"/>
            <a:ext cx="2029968" cy="420624"/>
          </a:xfrm>
          <a:prstGeom prst="roundRect">
            <a:avLst>
              <a:gd name="adj" fmla="val 19565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40864" y="2468880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1168" y="2980944"/>
            <a:ext cx="2029968" cy="420624"/>
          </a:xfrm>
          <a:prstGeom prst="roundRect">
            <a:avLst>
              <a:gd name="adj" fmla="val 19565"/>
            </a:avLst>
          </a:prstGeom>
          <a:solidFill>
            <a:srgbClr val="243A5E"/>
          </a:solidFill>
          <a:ln w="12700">
            <a:solidFill>
              <a:srgbClr val="243A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980944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40864" y="2980944"/>
            <a:ext cx="2029968" cy="420624"/>
          </a:xfrm>
          <a:prstGeom prst="roundRect">
            <a:avLst>
              <a:gd name="adj" fmla="val 19565"/>
            </a:avLst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40864" y="2980944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1168" y="3602736"/>
            <a:ext cx="4078224" cy="1408176"/>
          </a:xfrm>
          <a:prstGeom prst="roundRect">
            <a:avLst>
              <a:gd name="adj" fmla="val 5844"/>
            </a:avLst>
          </a:prstGeom>
          <a:solidFill>
            <a:srgbClr val="FFFFFF"/>
          </a:solidFill>
          <a:ln w="19050">
            <a:solidFill>
              <a:srgbClr val="7DAE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69417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SATIETY PRINCIPLE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4059936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variety (colors + textures)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Protein / fiber anchor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Visual presentation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 calorie math — actually feeling full.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" y="5138928"/>
            <a:ext cx="4078224" cy="585216"/>
          </a:xfrm>
          <a:prstGeom prst="roundRect">
            <a:avLst>
              <a:gd name="adj" fmla="val 14063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5138928"/>
            <a:ext cx="37856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dupeSavings() annualizes grocery savings at modest habit frequency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" y="5833872"/>
            <a:ext cx="4078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3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Encyclopedia of Food Science &amp; Nutrition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45152" y="182880"/>
            <a:ext cx="4242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CravingCompass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645152" y="804672"/>
            <a:ext cx="4242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craving → real-world store routing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45152" y="1371600"/>
            <a:ext cx="402336" cy="402336"/>
          </a:xfrm>
          <a:prstGeom prst="ellipse">
            <a:avLst/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13716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57216" y="1353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types a craving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57216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"Something warm and salty with crunch"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45152" y="2267712"/>
            <a:ext cx="402336" cy="402336"/>
          </a:xfrm>
          <a:prstGeom prst="ellipse">
            <a:avLst/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267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57216" y="22494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8-Flavor Decode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57216" y="2542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decodeCraving() maps to flavor layer profile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45152" y="3163824"/>
            <a:ext cx="402336" cy="402336"/>
          </a:xfrm>
          <a:prstGeom prst="ellipse">
            <a:avLst/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45152" y="31638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57216" y="3145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Seasoning Layer Match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57216" y="34381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seasoningPairingEngine finds the right profile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45152" y="4059936"/>
            <a:ext cx="402336" cy="402336"/>
          </a:xfrm>
          <a:prstGeom prst="ellipse">
            <a:avLst/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45152" y="4059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57216" y="4041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Store Routing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57216" y="43342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Foods · TJ's · ALDI · Key Food · C-Town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45152" y="4956048"/>
            <a:ext cx="402336" cy="402336"/>
          </a:xfrm>
          <a:prstGeom prst="ellipse">
            <a:avLst/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45152" y="49560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57216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Life-Stage Context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57216" y="52303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/ postpartum tagging layer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45152" y="5943600"/>
            <a:ext cx="4242816" cy="530352"/>
          </a:xfrm>
          <a:prstGeom prst="roundRect">
            <a:avLst>
              <a:gd name="adj" fmla="val 15517"/>
            </a:avLst>
          </a:prstGeom>
          <a:solidFill>
            <a:srgbClr val="2C4A7C"/>
          </a:solidFill>
          <a:ln w="12700">
            <a:solidFill>
              <a:srgbClr val="8EB4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45152" y="5943600"/>
            <a:ext cx="42428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NYC coordinates with lat/lng  ·  Store routing live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Cooking Intelligence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78992"/>
            <a:ext cx="4206240" cy="2487168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 w="25400">
            <a:solidFill>
              <a:srgbClr val="2C4A7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78992"/>
            <a:ext cx="4206240" cy="658368"/>
          </a:xfrm>
          <a:prstGeom prst="roundRect">
            <a:avLst>
              <a:gd name="adj" fmla="val 12500"/>
            </a:avLst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426464"/>
            <a:ext cx="4206240" cy="310896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33856"/>
            <a:ext cx="3950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KitchenAlchemist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" y="1463040"/>
            <a:ext cx="3950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 — Invent + Healthify Lab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0624" y="1847088"/>
            <a:ext cx="3877056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Invent Mode (RecipeAlchemist): generate recipe from any ingredients on hand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Healthify Lab: take an indulgent dish — rebuild it healthier without losing flavor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nutritionScienceEngine + remixEngine running underneath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73168" y="1078992"/>
            <a:ext cx="4206240" cy="2487168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73168" y="1078992"/>
            <a:ext cx="4206240" cy="658368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73168" y="1426464"/>
            <a:ext cx="4206240" cy="31089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133856"/>
            <a:ext cx="3950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Remix Engine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01184" y="1463040"/>
            <a:ext cx="3950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bases × 9 fillings = 81 real combinations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0" y="1847088"/>
            <a:ext cx="3877056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9 bases: dough, toast, rice, potato, eggs, oats, tortilla, pasta, pancake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9 fillings: cinnamon-sugar, garlic-herb, buffalo chicken, everything bagel…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"The base barely matters. The filling does all the flavor work."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3749040"/>
            <a:ext cx="4206240" cy="2487168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 w="25400">
            <a:solidFill>
              <a:srgbClr val="E865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3749040"/>
            <a:ext cx="4206240" cy="658368"/>
          </a:xfrm>
          <a:prstGeom prst="roundRect">
            <a:avLst>
              <a:gd name="adj" fmla="val 12500"/>
            </a:avLst>
          </a:prstGeom>
          <a:solidFill>
            <a:srgbClr val="E8654A"/>
          </a:solidFill>
          <a:ln w="12700">
            <a:solidFill>
              <a:srgbClr val="E865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4096512"/>
            <a:ext cx="4206240" cy="310896"/>
          </a:xfrm>
          <a:prstGeom prst="rect">
            <a:avLst/>
          </a:prstGeom>
          <a:solidFill>
            <a:srgbClr val="E8654A"/>
          </a:solidFill>
          <a:ln w="12700">
            <a:solidFill>
              <a:srgbClr val="E865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803904"/>
            <a:ext cx="3950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ZeroProof + CopycatLab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4048" y="4133088"/>
            <a:ext cx="3950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 without compromise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0624" y="4517136"/>
            <a:ext cx="3877056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ZeroProof: taste activation without alcohol — real flavor science, not just juice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CopycatLab: reverse-engineer restaurant dishes at home at a fraction of cost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CopycatDrinks: Starbucks drinks decoded and rebuilt with grocery store ingredients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73168" y="3749040"/>
            <a:ext cx="4206240" cy="2487168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 w="254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73168" y="3749040"/>
            <a:ext cx="4206240" cy="658368"/>
          </a:xfrm>
          <a:prstGeom prst="roundRect">
            <a:avLst>
              <a:gd name="adj" fmla="val 12500"/>
            </a:avLst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73168" y="4096512"/>
            <a:ext cx="4206240" cy="31089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3803904"/>
            <a:ext cx="3950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 Library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01184" y="4133088"/>
            <a:ext cx="3950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26,000+ recipes · 249 countries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37760" y="4517136"/>
            <a:ext cx="3877056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Breakfast, lunch, dinner expansions + copycats + cocktails / mocktails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Regional flavor profiles coded per geography — not just translated dish names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Continuously expandable via recipe_remixer.py + behavioral craving data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Tap Generates Signal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E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behavioral data platform wearing a consumer food app as its skin.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92608" y="1335024"/>
            <a:ext cx="1517904" cy="1170432"/>
          </a:xfrm>
          <a:prstGeom prst="roundRect">
            <a:avLst>
              <a:gd name="adj" fmla="val 7031"/>
            </a:avLst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1335024"/>
            <a:ext cx="151790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19656" y="1664208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29968" y="1335024"/>
            <a:ext cx="1517904" cy="1170432"/>
          </a:xfrm>
          <a:prstGeom prst="roundRect">
            <a:avLst>
              <a:gd name="adj" fmla="val 7031"/>
            </a:avLst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29968" y="1335024"/>
            <a:ext cx="151790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57016" y="1664208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67328" y="1335024"/>
            <a:ext cx="1517904" cy="1170432"/>
          </a:xfrm>
          <a:prstGeom prst="roundRect">
            <a:avLst>
              <a:gd name="adj" fmla="val 7031"/>
            </a:avLst>
          </a:prstGeom>
          <a:solidFill>
            <a:srgbClr val="243A5E"/>
          </a:solidFill>
          <a:ln w="12700">
            <a:solidFill>
              <a:srgbClr val="243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1335024"/>
            <a:ext cx="151790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Anonymize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94376" y="1664208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04688" y="1335024"/>
            <a:ext cx="1517904" cy="1170432"/>
          </a:xfrm>
          <a:prstGeom prst="roundRect">
            <a:avLst>
              <a:gd name="adj" fmla="val 7031"/>
            </a:avLst>
          </a:prstGeom>
          <a:solidFill>
            <a:srgbClr val="E8654A"/>
          </a:solidFill>
          <a:ln w="12700">
            <a:solidFill>
              <a:srgbClr val="E865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04688" y="1335024"/>
            <a:ext cx="151790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31736" y="1664208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242048" y="1335024"/>
            <a:ext cx="1517904" cy="1170432"/>
          </a:xfrm>
          <a:prstGeom prst="roundRect">
            <a:avLst>
              <a:gd name="adj" fmla="val 7031"/>
            </a:avLst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42048" y="1335024"/>
            <a:ext cx="151790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2608" y="2798064"/>
            <a:ext cx="2834640" cy="2743200"/>
          </a:xfrm>
          <a:prstGeom prst="roundRect">
            <a:avLst>
              <a:gd name="adj" fmla="val 3000"/>
            </a:avLst>
          </a:prstGeom>
          <a:solidFill>
            <a:srgbClr val="243A5E"/>
          </a:solidFill>
          <a:ln w="12700">
            <a:solidFill>
              <a:srgbClr val="8EB4E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8912" y="2907792"/>
            <a:ext cx="2542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Insight API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8912" y="3401568"/>
            <a:ext cx="2542032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brands pay for anonymized behavioral data — craving patterns, seasonal flavor trends, ingredient-to-cart conversions.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73552" y="2798064"/>
            <a:ext cx="2834640" cy="2743200"/>
          </a:xfrm>
          <a:prstGeom prst="roundRect">
            <a:avLst>
              <a:gd name="adj" fmla="val 3000"/>
            </a:avLst>
          </a:prstGeom>
          <a:solidFill>
            <a:srgbClr val="2C4A7C"/>
          </a:solidFill>
          <a:ln w="12700">
            <a:solidFill>
              <a:srgbClr val="8EB4E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19856" y="2907792"/>
            <a:ext cx="2542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Grocery Partnerships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19856" y="3401568"/>
            <a:ext cx="2542032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CravingCompass already routes users to specific stores. Partnership model: featured placement in craving matches.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54496" y="2798064"/>
            <a:ext cx="2834640" cy="2743200"/>
          </a:xfrm>
          <a:prstGeom prst="roundRect">
            <a:avLst>
              <a:gd name="adj" fmla="val 3000"/>
            </a:avLst>
          </a:prstGeom>
          <a:solidFill>
            <a:srgbClr val="2C5F2D"/>
          </a:solidFill>
          <a:ln w="12700">
            <a:solidFill>
              <a:srgbClr val="8EB4E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2907792"/>
            <a:ext cx="2542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 Pro Tier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3401568"/>
            <a:ext cx="2542032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Nest emotional companion as a premium subscription — Shadow-to-Light, advanced tone settings, priority crisis routing.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92608" y="6492240"/>
            <a:ext cx="8558784" cy="237744"/>
          </a:xfrm>
          <a:prstGeom prst="roundRect">
            <a:avLst>
              <a:gd name="adj" fmla="val 34615"/>
            </a:avLst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6492240"/>
            <a:ext cx="8558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MarketMetrics + UserMetrics dashboards already live in the app  ·  Prometheus wired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We've Built That's Worth Protecting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8631936" cy="969264"/>
          </a:xfrm>
          <a:prstGeom prst="roundRect">
            <a:avLst>
              <a:gd name="adj" fmla="val 8491"/>
            </a:avLst>
          </a:prstGeom>
          <a:solidFill>
            <a:srgbClr val="F0F4F8"/>
          </a:solidFill>
          <a:ln w="25400">
            <a:solidFill>
              <a:srgbClr val="7C5D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" y="1280160"/>
            <a:ext cx="475488" cy="475488"/>
          </a:xfrm>
          <a:prstGeom prst="ellipse">
            <a:avLst/>
          </a:prstGeom>
          <a:solidFill>
            <a:srgbClr val="7C5DAF"/>
          </a:solidFill>
          <a:ln w="12700">
            <a:solidFill>
              <a:srgbClr val="7C5D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280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1078992"/>
            <a:ext cx="7717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Shadow-to-Light Emotional Recovery Protocol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26464"/>
            <a:ext cx="77175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7-phase structured companion: DETECT → VALIDATE → MIRROR → REFRAME → RESET → PIVOT → ANCHOR. Tone-matched across 5 personalities. Crisis routing to human resources baked in.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2121408"/>
            <a:ext cx="8631936" cy="969264"/>
          </a:xfrm>
          <a:prstGeom prst="roundRect">
            <a:avLst>
              <a:gd name="adj" fmla="val 8491"/>
            </a:avLst>
          </a:prstGeom>
          <a:solidFill>
            <a:srgbClr val="F0F4F8"/>
          </a:solidFill>
          <a:ln w="25400">
            <a:solidFill>
              <a:srgbClr val="E865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2377440"/>
            <a:ext cx="475488" cy="475488"/>
          </a:xfrm>
          <a:prstGeom prst="ellipse">
            <a:avLst/>
          </a:prstGeom>
          <a:solidFill>
            <a:srgbClr val="E8654A"/>
          </a:solidFill>
          <a:ln w="12700">
            <a:solidFill>
              <a:srgbClr val="E865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377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2176272"/>
            <a:ext cx="7717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Chemical Knowledge Graph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523744"/>
            <a:ext cx="77175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flavor compound mapping sourced from Hervé This “Molecular Gastronomy.” Maillard byproducts, pH acceleration, pairing affinities — coded as a queryable graph. Trade secret candidate.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3218688"/>
            <a:ext cx="8631936" cy="969264"/>
          </a:xfrm>
          <a:prstGeom prst="roundRect">
            <a:avLst>
              <a:gd name="adj" fmla="val 8491"/>
            </a:avLst>
          </a:prstGeom>
          <a:solidFill>
            <a:srgbClr val="F0F4F8"/>
          </a:solidFill>
          <a:ln w="25400">
            <a:solidFill>
              <a:srgbClr val="7DAE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" y="3474720"/>
            <a:ext cx="475488" cy="475488"/>
          </a:xfrm>
          <a:prstGeom prst="ellipse">
            <a:avLst/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3474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3273552"/>
            <a:ext cx="7717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Girl Dinner Satiety 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621024"/>
            <a:ext cx="77175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8-mood system grounded in Encyclopedia of Food Science &amp; Nutrition. 3-lever satiety model: sensory variety + protein/fiber + visual presentation. dupeSavings() budget intelligence.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4315968"/>
            <a:ext cx="8631936" cy="969264"/>
          </a:xfrm>
          <a:prstGeom prst="roundRect">
            <a:avLst>
              <a:gd name="adj" fmla="val 8491"/>
            </a:avLst>
          </a:prstGeom>
          <a:solidFill>
            <a:srgbClr val="F0F4F8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" y="4572000"/>
            <a:ext cx="475488" cy="47548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45720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4370832"/>
            <a:ext cx="7717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CravingCompass Natural Language Router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718304"/>
            <a:ext cx="77175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craving input → 8-flavor decode → seasoning layer matching → real-world store routing (lat/lng). Life-stage tagging for pregnancy and postpartum. Multi-city queryable store network.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5413248"/>
            <a:ext cx="8631936" cy="969264"/>
          </a:xfrm>
          <a:prstGeom prst="roundRect">
            <a:avLst>
              <a:gd name="adj" fmla="val 8491"/>
            </a:avLst>
          </a:prstGeom>
          <a:solidFill>
            <a:srgbClr val="F0F4F8"/>
          </a:solidFill>
          <a:ln w="25400">
            <a:solidFill>
              <a:srgbClr val="8EB4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" y="5669280"/>
            <a:ext cx="475488" cy="475488"/>
          </a:xfrm>
          <a:prstGeom prst="ellipse">
            <a:avLst/>
          </a:prstGeom>
          <a:solidFill>
            <a:srgbClr val="8EB4E3"/>
          </a:solidFill>
          <a:ln w="12700">
            <a:solidFill>
              <a:srgbClr val="8EB4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5669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" y="5468112"/>
            <a:ext cx="7717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Thermodynamic Cooking Timeline Generator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5815584"/>
            <a:ext cx="77175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duration = f(ingredient.thickness, temp_target). High-heat vs. slow-braise adjustment. Chemistry principle tagged on each step. Sourced from Cook's Science experimental data.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6032" y="6565392"/>
            <a:ext cx="8631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3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secret candidates  ·  Provisional patent applications  ·  Copyright registration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Weeks. 70+ Pages. One Unified Platform.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1371600"/>
            <a:ext cx="8449056" cy="54864"/>
          </a:xfrm>
          <a:prstGeom prst="rect">
            <a:avLst/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188720"/>
            <a:ext cx="402336" cy="402336"/>
          </a:xfrm>
          <a:prstGeom prst="ellipse">
            <a:avLst/>
          </a:prstGeom>
          <a:solidFill>
            <a:srgbClr val="7DAE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" y="786384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DA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28016" y="1737360"/>
            <a:ext cx="8412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Backend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Prometheus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55648" y="1188720"/>
            <a:ext cx="402336" cy="402336"/>
          </a:xfrm>
          <a:prstGeom prst="ellipse">
            <a:avLst/>
          </a:prstGeom>
          <a:solidFill>
            <a:srgbClr val="8EB4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786384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536192" y="1737360"/>
            <a:ext cx="8412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Art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Launch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63824" y="1188720"/>
            <a:ext cx="402336" cy="402336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62656" y="786384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44368" y="1737360"/>
            <a:ext cx="8412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Day: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Commits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402336" cy="402336"/>
          </a:xfrm>
          <a:prstGeom prst="ellipse">
            <a:avLst/>
          </a:prstGeom>
          <a:solidFill>
            <a:srgbClr val="E865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786384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17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52544" y="1737360"/>
            <a:ext cx="8412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80176" y="1188720"/>
            <a:ext cx="402336" cy="402336"/>
          </a:xfrm>
          <a:prstGeom prst="ellipse">
            <a:avLst/>
          </a:prstGeom>
          <a:solidFill>
            <a:srgbClr val="7C5D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79008" y="786384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5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18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760720" y="1737360"/>
            <a:ext cx="8412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Layer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88352" y="1188720"/>
            <a:ext cx="402336" cy="402336"/>
          </a:xfrm>
          <a:prstGeom prst="ellipse">
            <a:avLst/>
          </a:prstGeom>
          <a:solidFill>
            <a:srgbClr val="2C4A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87184" y="786384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168896" y="1737360"/>
            <a:ext cx="8412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 Countries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+ IL Expansion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2450592"/>
            <a:ext cx="2798064" cy="1554480"/>
          </a:xfrm>
          <a:prstGeom prst="roundRect">
            <a:avLst>
              <a:gd name="adj" fmla="val 5294"/>
            </a:avLst>
          </a:prstGeom>
          <a:solidFill>
            <a:srgbClr val="1B2A4A"/>
          </a:solidFill>
          <a:ln w="19050">
            <a:solidFill>
              <a:srgbClr val="7C5DA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2450592"/>
            <a:ext cx="457200" cy="1554480"/>
          </a:xfrm>
          <a:prstGeom prst="roundRect">
            <a:avLst>
              <a:gd name="adj" fmla="val 18000"/>
            </a:avLst>
          </a:prstGeom>
          <a:solidFill>
            <a:srgbClr val="7C5DAF"/>
          </a:solidFill>
          <a:ln w="12700">
            <a:solidFill>
              <a:srgbClr val="7C5DA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" y="2450592"/>
            <a:ext cx="228600" cy="1554480"/>
          </a:xfrm>
          <a:prstGeom prst="rect">
            <a:avLst/>
          </a:prstGeom>
          <a:solidFill>
            <a:srgbClr val="7C5DAF"/>
          </a:solidFill>
          <a:ln w="12700">
            <a:solidFill>
              <a:srgbClr val="7C5D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5603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 "The Nest"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2944368"/>
            <a:ext cx="2103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Shadow-to-Light · 5 Tones · Happiness Engine · Kindness Protocol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18688" y="2450592"/>
            <a:ext cx="2798064" cy="1554480"/>
          </a:xfrm>
          <a:prstGeom prst="roundRect">
            <a:avLst>
              <a:gd name="adj" fmla="val 5294"/>
            </a:avLst>
          </a:prstGeom>
          <a:solidFill>
            <a:srgbClr val="1B2A4A"/>
          </a:solidFill>
          <a:ln w="19050">
            <a:solidFill>
              <a:srgbClr val="7DAE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18688" y="2450592"/>
            <a:ext cx="457200" cy="1554480"/>
          </a:xfrm>
          <a:prstGeom prst="roundRect">
            <a:avLst>
              <a:gd name="adj" fmla="val 18000"/>
            </a:avLst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47288" y="2450592"/>
            <a:ext cx="228600" cy="1554480"/>
          </a:xfrm>
          <a:prstGeom prst="rect">
            <a:avLst/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85616" y="25603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Girl Dinner + ZeroProof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85616" y="2944368"/>
            <a:ext cx="2103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Satiety science · 8-mood system · Taste activation without alcohol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81344" y="2450592"/>
            <a:ext cx="2798064" cy="1554480"/>
          </a:xfrm>
          <a:prstGeom prst="roundRect">
            <a:avLst>
              <a:gd name="adj" fmla="val 5294"/>
            </a:avLst>
          </a:prstGeom>
          <a:solidFill>
            <a:srgbClr val="1B2A4A"/>
          </a:solidFill>
          <a:ln w="19050">
            <a:solidFill>
              <a:srgbClr val="E865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81344" y="2450592"/>
            <a:ext cx="457200" cy="1554480"/>
          </a:xfrm>
          <a:prstGeom prst="roundRect">
            <a:avLst>
              <a:gd name="adj" fmla="val 18000"/>
            </a:avLst>
          </a:prstGeom>
          <a:solidFill>
            <a:srgbClr val="E8654A"/>
          </a:solidFill>
          <a:ln w="12700">
            <a:solidFill>
              <a:srgbClr val="E865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9944" y="2450592"/>
            <a:ext cx="228600" cy="1554480"/>
          </a:xfrm>
          <a:prstGeom prst="rect">
            <a:avLst/>
          </a:prstGeom>
          <a:solidFill>
            <a:srgbClr val="E8654A"/>
          </a:solidFill>
          <a:ln w="12700">
            <a:solidFill>
              <a:srgbClr val="E865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48272" y="25603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KitchenAlchemist + Remix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48272" y="2944368"/>
            <a:ext cx="2103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Healthify Lab · RecipeAlchemist · 81 recipe combos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737360" y="4169664"/>
            <a:ext cx="2798064" cy="1554480"/>
          </a:xfrm>
          <a:prstGeom prst="roundRect">
            <a:avLst>
              <a:gd name="adj" fmla="val 5294"/>
            </a:avLst>
          </a:prstGeom>
          <a:solidFill>
            <a:srgbClr val="1B2A4A"/>
          </a:solidFill>
          <a:ln w="1905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737360" y="4169664"/>
            <a:ext cx="457200" cy="155448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65960" y="4169664"/>
            <a:ext cx="228600" cy="1554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04288" y="427939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CravingCompass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304288" y="4663440"/>
            <a:ext cx="2103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craving decode · Real NYC store routing · Life-stage tagging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0016" y="4169664"/>
            <a:ext cx="2798064" cy="1554480"/>
          </a:xfrm>
          <a:prstGeom prst="roundRect">
            <a:avLst>
              <a:gd name="adj" fmla="val 5294"/>
            </a:avLst>
          </a:prstGeom>
          <a:solidFill>
            <a:srgbClr val="1B2A4A"/>
          </a:solidFill>
          <a:ln w="19050">
            <a:solidFill>
              <a:srgbClr val="8EB4E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0016" y="4169664"/>
            <a:ext cx="457200" cy="1554480"/>
          </a:xfrm>
          <a:prstGeom prst="roundRect">
            <a:avLst>
              <a:gd name="adj" fmla="val 18000"/>
            </a:avLst>
          </a:prstGeom>
          <a:solidFill>
            <a:srgbClr val="8EB4E3"/>
          </a:solidFill>
          <a:ln w="12700">
            <a:solidFill>
              <a:srgbClr val="8EB4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28616" y="4169664"/>
            <a:ext cx="228600" cy="1554480"/>
          </a:xfrm>
          <a:prstGeom prst="rect">
            <a:avLst/>
          </a:prstGeom>
          <a:solidFill>
            <a:srgbClr val="8EB4E3"/>
          </a:solidFill>
          <a:ln w="12700">
            <a:solidFill>
              <a:srgbClr val="8EB4E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66944" y="427939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66944" y="4663440"/>
            <a:ext cx="2103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MarketMetrics + UserMetrics · Prometheus wired · Supabase auth live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199632"/>
            <a:ext cx="9144000" cy="6583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619963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JULY 24, 2026  ·  TODAY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 Is Ready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6032" y="1078992"/>
            <a:ext cx="2048256" cy="1572768"/>
          </a:xfrm>
          <a:prstGeom prst="roundRect">
            <a:avLst>
              <a:gd name="adj" fmla="val 523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1115568"/>
            <a:ext cx="204825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$1.1T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47472" y="1993392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Grocery Market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32304" y="1078992"/>
            <a:ext cx="2048256" cy="1572768"/>
          </a:xfrm>
          <a:prstGeom prst="roundRect">
            <a:avLst>
              <a:gd name="adj" fmla="val 5233"/>
            </a:avLst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32304" y="1115568"/>
            <a:ext cx="204825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$30B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523744" y="1993392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Tech VC (2024)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08576" y="1078992"/>
            <a:ext cx="2048256" cy="1572768"/>
          </a:xfrm>
          <a:prstGeom prst="roundRect">
            <a:avLst>
              <a:gd name="adj" fmla="val 5233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08576" y="1115568"/>
            <a:ext cx="204825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700016" y="1993392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cook with phone open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84848" y="1078992"/>
            <a:ext cx="2048256" cy="1572768"/>
          </a:xfrm>
          <a:prstGeom prst="roundRect">
            <a:avLst>
              <a:gd name="adj" fmla="val 5233"/>
            </a:avLst>
          </a:prstGeom>
          <a:solidFill>
            <a:srgbClr val="E8654A"/>
          </a:solidFill>
          <a:ln w="12700">
            <a:solidFill>
              <a:srgbClr val="E865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84848" y="1115568"/>
            <a:ext cx="204825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876288" y="1993392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— B2B revenue model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" y="2834640"/>
            <a:ext cx="8631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Dig In Has an Unfair Advantage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56032" y="3438144"/>
            <a:ext cx="2816352" cy="3163824"/>
          </a:xfrm>
          <a:prstGeom prst="roundRect">
            <a:avLst>
              <a:gd name="adj" fmla="val 2922"/>
            </a:avLst>
          </a:prstGeom>
          <a:solidFill>
            <a:srgbClr val="F0F4F8"/>
          </a:solidFill>
          <a:ln w="25400">
            <a:solidFill>
              <a:srgbClr val="7DAE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435608" y="3566160"/>
            <a:ext cx="457200" cy="457200"/>
          </a:xfrm>
          <a:prstGeom prst="ellipse">
            <a:avLst/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15137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Competitor Combination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" y="4681728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food app merges emotional AI (Shadow-to-Light), molecular food science (Maillard graph), satiety science (Girl Dinner), and real-world craving routing — all in one platform.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18688" y="3438144"/>
            <a:ext cx="2816352" cy="3163824"/>
          </a:xfrm>
          <a:prstGeom prst="roundRect">
            <a:avLst>
              <a:gd name="adj" fmla="val 2922"/>
            </a:avLst>
          </a:prstGeom>
          <a:solidFill>
            <a:srgbClr val="F0F4F8"/>
          </a:solidFill>
          <a:ln w="254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98264" y="3566160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46704" y="415137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Chemical Engineering Foundation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46704" y="4681728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thermodynamic_engine.py and chemical_knowledge_graph.py are not metaphors — they are real engineering. Protein denaturation temps, Maillard kinetics, molecular flavor compound networks.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81344" y="3438144"/>
            <a:ext cx="2816352" cy="3163824"/>
          </a:xfrm>
          <a:prstGeom prst="roundRect">
            <a:avLst>
              <a:gd name="adj" fmla="val 2922"/>
            </a:avLst>
          </a:prstGeom>
          <a:solidFill>
            <a:srgbClr val="F0F4F8"/>
          </a:solidFill>
          <a:ln w="25400">
            <a:solidFill>
              <a:srgbClr val="8EB4E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60920" y="3566160"/>
            <a:ext cx="457200" cy="457200"/>
          </a:xfrm>
          <a:prstGeom prst="ellipse">
            <a:avLst/>
          </a:prstGeom>
          <a:solidFill>
            <a:srgbClr val="8EB4E3"/>
          </a:solidFill>
          <a:ln w="12700">
            <a:solidFill>
              <a:srgbClr val="8EB4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15137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Multi-State Infrastructure Today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4681728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NYC, Texas, Illinois already coded. Supabase auth live. OSM store data imported. National rollout is a data + GTM problem, not a build problem.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0"/>
            <a:ext cx="3657600" cy="3657600"/>
          </a:xfrm>
          <a:prstGeom prst="ellipse">
            <a:avLst/>
          </a:prstGeom>
          <a:solidFill>
            <a:srgbClr val="7DAE5C">
              <a:alpha val="8000"/>
            </a:srgbClr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5303520"/>
            <a:ext cx="3200400" cy="3200400"/>
          </a:xfrm>
          <a:prstGeom prst="ellipse">
            <a:avLst/>
          </a:prstGeom>
          <a:solidFill>
            <a:srgbClr val="8EB4E3">
              <a:alpha val="6000"/>
            </a:srgbClr>
          </a:solidFill>
          <a:ln w="12700">
            <a:solidFill>
              <a:srgbClr val="8EB4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Dig In. Why Now.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96926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emotional + scientific layer beneath every meal is unbuilt. We built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481328"/>
            <a:ext cx="4023360" cy="4974336"/>
          </a:xfrm>
          <a:prstGeom prst="roundRect">
            <a:avLst>
              <a:gd name="adj" fmla="val 2045"/>
            </a:avLst>
          </a:prstGeom>
          <a:solidFill>
            <a:srgbClr val="243A5E"/>
          </a:solidFill>
          <a:ln w="19050">
            <a:solidFill>
              <a:srgbClr val="7DAE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60934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A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Investment Unlocks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0352" y="2231136"/>
            <a:ext cx="256032" cy="256032"/>
          </a:xfrm>
          <a:prstGeom prst="ellipse">
            <a:avLst/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176272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 Pro Tier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2450592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Nest as a paid emotional companion subscription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" y="3017520"/>
            <a:ext cx="256032" cy="256032"/>
          </a:xfrm>
          <a:prstGeom prst="ellipse">
            <a:avLst/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962656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API Launch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3236976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insight partnerships — craving + behavioral data feed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3803904"/>
            <a:ext cx="256032" cy="256032"/>
          </a:xfrm>
          <a:prstGeom prst="ellipse">
            <a:avLst/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749040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Rollout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4023360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+ IL live, 10 cities in 12 months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" y="4590288"/>
            <a:ext cx="256032" cy="256032"/>
          </a:xfrm>
          <a:prstGeom prst="ellipse">
            <a:avLst/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535424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Filing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4809744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patents on top 3 systems + trade secret docs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0352" y="5376672"/>
            <a:ext cx="256032" cy="256032"/>
          </a:xfrm>
          <a:prstGeom prst="ellipse">
            <a:avLst/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5321808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6112" y="5596128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ML engineer + B2B sales lead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1481328"/>
            <a:ext cx="4133088" cy="2304288"/>
          </a:xfrm>
          <a:prstGeom prst="roundRect">
            <a:avLst>
              <a:gd name="adj" fmla="val 3571"/>
            </a:avLst>
          </a:prstGeom>
          <a:solidFill>
            <a:srgbClr val="243A5E"/>
          </a:solidFill>
          <a:ln w="1905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1609344"/>
            <a:ext cx="3767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46320" y="2084832"/>
            <a:ext cx="376732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 Z cooking confidence is at a generational low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Emotional AI is a white space in food tech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B2B food behavioral data has no current player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Platform is built — we need distribution, not dev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931920"/>
            <a:ext cx="4133088" cy="2450592"/>
          </a:xfrm>
          <a:prstGeom prst="roundRect">
            <a:avLst>
              <a:gd name="adj" fmla="val 3358"/>
            </a:avLst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4078224"/>
            <a:ext cx="3767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Talk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846320" y="4608576"/>
            <a:ext cx="3767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In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daniellephllps5@gmail.com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York, NY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5577840"/>
            <a:ext cx="3767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founder who codes the chemistry.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455664"/>
            <a:ext cx="9144000" cy="402336"/>
          </a:xfrm>
          <a:prstGeom prst="rect">
            <a:avLst/>
          </a:prstGeom>
          <a:solidFill>
            <a:srgbClr val="7DAE5C"/>
          </a:solidFill>
          <a:ln w="12700">
            <a:solidFill>
              <a:srgbClr val="7DAE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6455664"/>
            <a:ext cx="9144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In  ·  July 2026  ·  IP &amp; Investor Overview  ·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 In — VC &amp; IP Pitch · July 2026</dc:title>
  <dc:subject>PptxGenJS Presentation</dc:subject>
  <dc:creator>Dig In</dc:creator>
  <cp:lastModifiedBy>Dig In</cp:lastModifiedBy>
  <cp:revision>1</cp:revision>
  <dcterms:created xsi:type="dcterms:W3CDTF">2026-07-24T15:23:41Z</dcterms:created>
  <dcterms:modified xsi:type="dcterms:W3CDTF">2026-07-24T15:23:41Z</dcterms:modified>
</cp:coreProperties>
</file>